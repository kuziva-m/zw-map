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1" r:id="rId3"/>
    <p:sldId id="276" r:id="rId4"/>
    <p:sldId id="257" r:id="rId5"/>
    <p:sldId id="282" r:id="rId6"/>
    <p:sldId id="260" r:id="rId7"/>
    <p:sldId id="264" r:id="rId8"/>
    <p:sldId id="269" r:id="rId9"/>
    <p:sldId id="270" r:id="rId10"/>
    <p:sldId id="273" r:id="rId11"/>
    <p:sldId id="274" r:id="rId12"/>
    <p:sldId id="275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434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170D5-EBD1-49ED-B205-C0E98E949EA5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5A698-864B-4178-B330-B3A5275E5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9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6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2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1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1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6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6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3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01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053138"/>
            <a:ext cx="3000375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4838" y="6043613"/>
            <a:ext cx="904716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0EE5BA-C90D-4340-8188-3663E78ACD0C}" type="datetimeFigureOut"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8"/>
            <a:ext cx="7823200" cy="365125"/>
          </a:xfrm>
        </p:spPr>
        <p:txBody>
          <a:bodyPr/>
          <a:lstStyle>
            <a:lvl1pPr algn="r">
              <a:defRPr>
                <a:solidFill>
                  <a:srgbClr val="EBDDC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rgbClr val="EBDDC3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C56552-0839-4ADA-9B06-427B1F9B395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EBDDC3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EBDDC3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78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E21C8-7015-43F9-88F5-1DBC72860FB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7B72A-84B7-4215-A120-2D8CB0231F15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536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AA2512-EC3E-4BED-9B42-97DB9E6A60B1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19F766-BF13-4F49-ABC8-124FAB43A1E8}" type="slidenum"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58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C3F6F-C8C5-416E-9FBB-EAEC878CE6A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D5BB3F-26F3-4C09-B5FC-1C1E39ED2D6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088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2E409C-C3AF-4D25-89A0-E0D670513F6B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71A787-2EED-4992-B57A-563871ED697A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433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E26FE-EB42-4A42-9F1B-813BED01E5D9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0A7022-1903-4DDD-A8C9-41783F1400A7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05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DA1716-F3D0-4319-B058-6CE90ABDE3D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rgbClr val="775F5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334B2-6533-472D-BC74-F46EC349FE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254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F0FD0-D95C-434A-AAA7-EEB9669C0B4D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2C6FD-EC91-4B67-95A1-B42CAA2A428D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761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0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700" y="4664075"/>
            <a:ext cx="1951038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60575" y="4654550"/>
            <a:ext cx="10131425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0" y="0"/>
            <a:ext cx="133350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A04B-D31F-4946-802B-C9805EC9E3DE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9304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C6E22D-3CD4-47C6-B073-BBE486F7261D}" type="slidenum"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0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25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64EAD8-9551-47AA-BFB6-F91F966A7787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5B8767-00EC-4833-9447-FFE1DD59F4FC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85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0" y="0"/>
            <a:ext cx="427038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913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913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0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E60F2D-8FF4-4745-AF9D-FEE7841C43CA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400"/>
            <a:ext cx="7431088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4819" y="103981"/>
            <a:ext cx="533400" cy="325438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0EAA5B-10EF-4A81-81CE-38FA9CD3ABCE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34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47B1-F038-4BE5-912D-7C6599F8670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A78FB-09FD-41FF-8B72-A16791823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563" y="1600200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80A542-7C36-4F5B-9756-3853AA99379C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3/19/2025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0" y="6248400"/>
            <a:ext cx="7227888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775F55"/>
                </a:solidFill>
                <a:latin typeface="Tw Cen M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7112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Tw Cen M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C781F-3057-427A-AB01-F1C53E7D2678}" type="slidenum"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75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600" y="2109788"/>
            <a:ext cx="6477000" cy="18288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/>
              <a:t>FNSC WORK PLAN 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JANUARY- DECEmber 2025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3149600" y="6049963"/>
            <a:ext cx="8940800" cy="685800"/>
          </a:xfrm>
        </p:spPr>
        <p:txBody>
          <a:bodyPr/>
          <a:lstStyle/>
          <a:p>
            <a:r>
              <a:rPr lang="en-US" altLang="en-US" dirty="0"/>
              <a:t>Mashonaland West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-68263" y="5840413"/>
            <a:ext cx="3663951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white"/>
              </a:solidFill>
              <a:latin typeface="Tw Cen M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Arial" panose="020B0604020202020204" pitchFamily="34" charset="0"/>
              </a:rPr>
              <a:t>PROVINCE</a:t>
            </a:r>
          </a:p>
        </p:txBody>
      </p:sp>
    </p:spTree>
    <p:extLst>
      <p:ext uri="{BB962C8B-B14F-4D97-AF65-F5344CB8AC3E}">
        <p14:creationId xmlns:p14="http://schemas.microsoft.com/office/powerpoint/2010/main" val="341813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2741" y="280160"/>
          <a:ext cx="11728174" cy="4202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98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KRA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Strengthen Provincial Food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and Nutrition Security committee coordination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Provincial food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and nutrition security committee quarterly meetings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Number of PFNSC meetings conducted.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Lunches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and refreshments, projector, Stationery, printer and laptop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MOHCC -Nutrition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 joint monitoring </a:t>
                      </a:r>
                      <a:r>
                        <a:rPr lang="en-US" sz="1600" b="0" kern="1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vists</a:t>
                      </a: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food security and livelihoods projects</a:t>
                      </a:r>
                      <a:r>
                        <a:rPr lang="en-US" sz="1600" b="0" kern="100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b="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</a:rPr>
                        <a:t>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 Joint monitoring visits conducted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baseline="0" dirty="0">
                          <a:latin typeface="+mn-lt"/>
                        </a:rPr>
                        <a:t>Vehicle</a:t>
                      </a:r>
                    </a:p>
                    <a:p>
                      <a:r>
                        <a:rPr lang="en-US" sz="1600" b="0" baseline="0" dirty="0">
                          <a:latin typeface="+mn-lt"/>
                        </a:rPr>
                        <a:t>Fuel </a:t>
                      </a:r>
                    </a:p>
                    <a:p>
                      <a:r>
                        <a:rPr lang="en-US" sz="1600" b="0" baseline="0" dirty="0">
                          <a:latin typeface="+mn-lt"/>
                        </a:rPr>
                        <a:t>DSAs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</a:rPr>
                        <a:t>January-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</a:rPr>
                        <a:t>Min of Local Government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01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1" y="-4"/>
          <a:ext cx="12192000" cy="7287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362">
                  <a:extLst>
                    <a:ext uri="{9D8B030D-6E8A-4147-A177-3AD203B41FA5}">
                      <a16:colId xmlns:a16="http://schemas.microsoft.com/office/drawing/2014/main" val="227848630"/>
                    </a:ext>
                  </a:extLst>
                </a:gridCol>
                <a:gridCol w="1925965">
                  <a:extLst>
                    <a:ext uri="{9D8B030D-6E8A-4147-A177-3AD203B41FA5}">
                      <a16:colId xmlns:a16="http://schemas.microsoft.com/office/drawing/2014/main" val="654200806"/>
                    </a:ext>
                  </a:extLst>
                </a:gridCol>
                <a:gridCol w="1200008">
                  <a:extLst>
                    <a:ext uri="{9D8B030D-6E8A-4147-A177-3AD203B41FA5}">
                      <a16:colId xmlns:a16="http://schemas.microsoft.com/office/drawing/2014/main" val="3082838773"/>
                    </a:ext>
                  </a:extLst>
                </a:gridCol>
                <a:gridCol w="2000392">
                  <a:extLst>
                    <a:ext uri="{9D8B030D-6E8A-4147-A177-3AD203B41FA5}">
                      <a16:colId xmlns:a16="http://schemas.microsoft.com/office/drawing/2014/main" val="2441872224"/>
                    </a:ext>
                  </a:extLst>
                </a:gridCol>
                <a:gridCol w="2847703">
                  <a:extLst>
                    <a:ext uri="{9D8B030D-6E8A-4147-A177-3AD203B41FA5}">
                      <a16:colId xmlns:a16="http://schemas.microsoft.com/office/drawing/2014/main" val="729815323"/>
                    </a:ext>
                  </a:extLst>
                </a:gridCol>
                <a:gridCol w="2076994">
                  <a:extLst>
                    <a:ext uri="{9D8B030D-6E8A-4147-A177-3AD203B41FA5}">
                      <a16:colId xmlns:a16="http://schemas.microsoft.com/office/drawing/2014/main" val="1143636420"/>
                    </a:ext>
                  </a:extLst>
                </a:gridCol>
                <a:gridCol w="1297576">
                  <a:extLst>
                    <a:ext uri="{9D8B030D-6E8A-4147-A177-3AD203B41FA5}">
                      <a16:colId xmlns:a16="http://schemas.microsoft.com/office/drawing/2014/main" val="568342664"/>
                    </a:ext>
                  </a:extLst>
                </a:gridCol>
              </a:tblGrid>
              <a:tr h="132266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0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741570"/>
                  </a:ext>
                </a:extLst>
              </a:tr>
              <a:tr h="1525040">
                <a:tc rowSpan="4">
                  <a:txBody>
                    <a:bodyPr/>
                    <a:lstStyle/>
                    <a:p>
                      <a:r>
                        <a:rPr lang="en-ZW" dirty="0"/>
                        <a:t>KRA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Farmers Trained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531 800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Number of farmers trained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Power </a:t>
                      </a:r>
                      <a:r>
                        <a:rPr lang="en-US" sz="1800" u="none" strike="noStrike">
                          <a:effectLst/>
                        </a:rPr>
                        <a:t>Point Projectors</a:t>
                      </a:r>
                      <a:r>
                        <a:rPr lang="en-US" sz="1800" u="none" strike="noStrike" baseline="0">
                          <a:effectLst/>
                        </a:rPr>
                        <a:t> </a:t>
                      </a:r>
                      <a:r>
                        <a:rPr lang="en-US" sz="1800" u="none" strike="noStrike">
                          <a:effectLst/>
                        </a:rPr>
                        <a:t>Gazebos</a:t>
                      </a:r>
                      <a:r>
                        <a:rPr lang="en-US" sz="1800" u="none" strike="noStrike" dirty="0">
                          <a:effectLst/>
                        </a:rPr>
                        <a:t>, Banners, Excellence/ Demonstration kits, Exhibits,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1 Jan 25 to 31 Dec 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277925"/>
                  </a:ext>
                </a:extLst>
              </a:tr>
              <a:tr h="136473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Maize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540 000 MT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Maize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Promotional materials, airtime,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828210"/>
                  </a:ext>
                </a:extLst>
              </a:tr>
              <a:tr h="13950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Wheat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000 MT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Wheat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Promotional materials,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700995"/>
                  </a:ext>
                </a:extLst>
              </a:tr>
              <a:tr h="168009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Crop, Livestock and Fisheries Assessment conducted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Number of crop and livestock assessments conducted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76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14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1" y="-7"/>
          <a:ext cx="12192000" cy="724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362">
                  <a:extLst>
                    <a:ext uri="{9D8B030D-6E8A-4147-A177-3AD203B41FA5}">
                      <a16:colId xmlns:a16="http://schemas.microsoft.com/office/drawing/2014/main" val="227848630"/>
                    </a:ext>
                  </a:extLst>
                </a:gridCol>
                <a:gridCol w="2052269">
                  <a:extLst>
                    <a:ext uri="{9D8B030D-6E8A-4147-A177-3AD203B41FA5}">
                      <a16:colId xmlns:a16="http://schemas.microsoft.com/office/drawing/2014/main" val="654200806"/>
                    </a:ext>
                  </a:extLst>
                </a:gridCol>
                <a:gridCol w="1073704">
                  <a:extLst>
                    <a:ext uri="{9D8B030D-6E8A-4147-A177-3AD203B41FA5}">
                      <a16:colId xmlns:a16="http://schemas.microsoft.com/office/drawing/2014/main" val="3082838773"/>
                    </a:ext>
                  </a:extLst>
                </a:gridCol>
                <a:gridCol w="2000392">
                  <a:extLst>
                    <a:ext uri="{9D8B030D-6E8A-4147-A177-3AD203B41FA5}">
                      <a16:colId xmlns:a16="http://schemas.microsoft.com/office/drawing/2014/main" val="2441872224"/>
                    </a:ext>
                  </a:extLst>
                </a:gridCol>
                <a:gridCol w="2847703">
                  <a:extLst>
                    <a:ext uri="{9D8B030D-6E8A-4147-A177-3AD203B41FA5}">
                      <a16:colId xmlns:a16="http://schemas.microsoft.com/office/drawing/2014/main" val="729815323"/>
                    </a:ext>
                  </a:extLst>
                </a:gridCol>
                <a:gridCol w="2076994">
                  <a:extLst>
                    <a:ext uri="{9D8B030D-6E8A-4147-A177-3AD203B41FA5}">
                      <a16:colId xmlns:a16="http://schemas.microsoft.com/office/drawing/2014/main" val="1143636420"/>
                    </a:ext>
                  </a:extLst>
                </a:gridCol>
                <a:gridCol w="1297576">
                  <a:extLst>
                    <a:ext uri="{9D8B030D-6E8A-4147-A177-3AD203B41FA5}">
                      <a16:colId xmlns:a16="http://schemas.microsoft.com/office/drawing/2014/main" val="568342664"/>
                    </a:ext>
                  </a:extLst>
                </a:gridCol>
              </a:tblGrid>
              <a:tr h="117678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0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741570"/>
                  </a:ext>
                </a:extLst>
              </a:tr>
              <a:tr h="1518276">
                <a:tc rowSpan="4">
                  <a:txBody>
                    <a:bodyPr/>
                    <a:lstStyle/>
                    <a:p>
                      <a:r>
                        <a:rPr lang="en-ZW" dirty="0"/>
                        <a:t>KRA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Beef Production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Beef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Promotional materials, airtime,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816412"/>
                  </a:ext>
                </a:extLst>
              </a:tr>
              <a:tr h="151827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Milk Production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6M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Litres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Milk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Promotional materials, airtime,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828210"/>
                  </a:ext>
                </a:extLst>
              </a:tr>
              <a:tr h="151827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Fish Ponds Stocking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56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Number of fish ponds stocked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Fingerlings, Promotional materials, airtime,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700995"/>
                  </a:ext>
                </a:extLst>
              </a:tr>
              <a:tr h="151827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Dam Stocking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20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Number of dams stocked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Fingerlings, Promotional materials, airtime,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703" marR="8703" marT="870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36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5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-1" y="-6"/>
          <a:ext cx="12192000" cy="6858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362">
                  <a:extLst>
                    <a:ext uri="{9D8B030D-6E8A-4147-A177-3AD203B41FA5}">
                      <a16:colId xmlns:a16="http://schemas.microsoft.com/office/drawing/2014/main" val="227848630"/>
                    </a:ext>
                  </a:extLst>
                </a:gridCol>
                <a:gridCol w="2052269">
                  <a:extLst>
                    <a:ext uri="{9D8B030D-6E8A-4147-A177-3AD203B41FA5}">
                      <a16:colId xmlns:a16="http://schemas.microsoft.com/office/drawing/2014/main" val="654200806"/>
                    </a:ext>
                  </a:extLst>
                </a:gridCol>
                <a:gridCol w="1073704">
                  <a:extLst>
                    <a:ext uri="{9D8B030D-6E8A-4147-A177-3AD203B41FA5}">
                      <a16:colId xmlns:a16="http://schemas.microsoft.com/office/drawing/2014/main" val="3082838773"/>
                    </a:ext>
                  </a:extLst>
                </a:gridCol>
                <a:gridCol w="2000392">
                  <a:extLst>
                    <a:ext uri="{9D8B030D-6E8A-4147-A177-3AD203B41FA5}">
                      <a16:colId xmlns:a16="http://schemas.microsoft.com/office/drawing/2014/main" val="2441872224"/>
                    </a:ext>
                  </a:extLst>
                </a:gridCol>
                <a:gridCol w="2847703">
                  <a:extLst>
                    <a:ext uri="{9D8B030D-6E8A-4147-A177-3AD203B41FA5}">
                      <a16:colId xmlns:a16="http://schemas.microsoft.com/office/drawing/2014/main" val="729815323"/>
                    </a:ext>
                  </a:extLst>
                </a:gridCol>
                <a:gridCol w="2076994">
                  <a:extLst>
                    <a:ext uri="{9D8B030D-6E8A-4147-A177-3AD203B41FA5}">
                      <a16:colId xmlns:a16="http://schemas.microsoft.com/office/drawing/2014/main" val="1143636420"/>
                    </a:ext>
                  </a:extLst>
                </a:gridCol>
                <a:gridCol w="1297576">
                  <a:extLst>
                    <a:ext uri="{9D8B030D-6E8A-4147-A177-3AD203B41FA5}">
                      <a16:colId xmlns:a16="http://schemas.microsoft.com/office/drawing/2014/main" val="568342664"/>
                    </a:ext>
                  </a:extLst>
                </a:gridCol>
              </a:tblGrid>
              <a:tr h="120730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20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741570"/>
                  </a:ext>
                </a:extLst>
              </a:tr>
              <a:tr h="1364632">
                <a:tc rowSpan="4">
                  <a:txBody>
                    <a:bodyPr/>
                    <a:lstStyle/>
                    <a:p>
                      <a:r>
                        <a:rPr lang="en-ZW" dirty="0"/>
                        <a:t>KRA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Arial Narrow" panose="020B0606020202030204" pitchFamily="34" charset="0"/>
                          <a:cs typeface="Times New Roman" panose="02020603050405020304" pitchFamily="18" charset="0"/>
                        </a:rPr>
                        <a:t>Migratory Pest containment</a:t>
                      </a:r>
                      <a:endParaRPr lang="en-US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kern="100" dirty="0">
                          <a:effectLst/>
                          <a:latin typeface="+mn-lt"/>
                          <a:ea typeface="Arial Narrow" panose="020B0606020202030204" pitchFamily="34" charset="0"/>
                          <a:cs typeface="Times New Roman" panose="02020603050405020304" pitchFamily="18" charset="0"/>
                        </a:rPr>
                        <a:t>Traps 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Traps,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1 Jan 25 to 31 Dec 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277925"/>
                  </a:ext>
                </a:extLst>
              </a:tr>
              <a:tr h="143276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Arial Narrow" panose="020B0606020202030204" pitchFamily="34" charset="0"/>
                          <a:cs typeface="Times New Roman" panose="02020603050405020304" pitchFamily="18" charset="0"/>
                        </a:rPr>
                        <a:t>Hay bales production</a:t>
                      </a:r>
                      <a:endParaRPr lang="en-US" sz="18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875 000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Bales Produced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Bailing equipment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and materials, </a:t>
                      </a:r>
                      <a:r>
                        <a:rPr lang="en-US" sz="1800" u="none" strike="noStrike">
                          <a:effectLst/>
                          <a:latin typeface="+mn-lt"/>
                        </a:rPr>
                        <a:t>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816412"/>
                  </a:ext>
                </a:extLst>
              </a:tr>
              <a:tr h="11789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Carcass grading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Carcases graded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Protective Clothing, grading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materials,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828210"/>
                  </a:ext>
                </a:extLst>
              </a:tr>
              <a:tr h="1674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Sweet potato vines distribution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Vines</a:t>
                      </a:r>
                      <a:r>
                        <a:rPr lang="en-ZW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Distributed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Promotional materials, stationary, airtime/ Bundles and Traveling and Subsistence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 Jan 25 to 31 Dec 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AGRITEX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593" marR="6593" marT="6593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362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28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89036"/>
              </p:ext>
            </p:extLst>
          </p:nvPr>
        </p:nvGraphicFramePr>
        <p:xfrm>
          <a:off x="296214" y="408949"/>
          <a:ext cx="11346287" cy="661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2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2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046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Activity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Target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6155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Strengthening food deficit mitigation interventions to address food and nutrition security to vulnerable households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 of vulnerable households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vulnerable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receiving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Food hampers</a:t>
                      </a:r>
                    </a:p>
                    <a:p>
                      <a:r>
                        <a:rPr lang="en-US" sz="1600" dirty="0"/>
                        <a:t>Fuel</a:t>
                      </a:r>
                    </a:p>
                    <a:p>
                      <a:r>
                        <a:rPr lang="en-US" sz="1600" dirty="0"/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Department of Social Development, OPC and  Local Government, MOHCC.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831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Vulnerable people accessing health services at health facilities and integrated outreach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100% of vulnerable households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women, children, adolescents and senior citizens receiving health services.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Finances for provision of care and medicines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January 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MOHCC, DSD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11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Provision of nutritious meals to learners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 of learners in 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Proprtion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learners receiving meals at 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Food provisions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January - December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MoPSE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398" y="3670479"/>
            <a:ext cx="82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KRA 3</a:t>
            </a:r>
          </a:p>
        </p:txBody>
      </p:sp>
    </p:spTree>
    <p:extLst>
      <p:ext uri="{BB962C8B-B14F-4D97-AF65-F5344CB8AC3E}">
        <p14:creationId xmlns:p14="http://schemas.microsoft.com/office/powerpoint/2010/main" val="371444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13027"/>
              </p:ext>
            </p:extLst>
          </p:nvPr>
        </p:nvGraphicFramePr>
        <p:xfrm>
          <a:off x="0" y="231819"/>
          <a:ext cx="12191998" cy="8149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855">
                <a:tc rowSpan="4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Capacitation of health cadres on food inspection and monitoring of the code of marketing of breastmilk substitutes.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All public health officers in 7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% coverage of health staff capacitated by district.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Food </a:t>
                      </a:r>
                    </a:p>
                    <a:p>
                      <a:r>
                        <a:rPr lang="en-US" sz="1600" dirty="0"/>
                        <a:t>DSAs</a:t>
                      </a:r>
                    </a:p>
                    <a:p>
                      <a:r>
                        <a:rPr lang="en-US" sz="1600" dirty="0"/>
                        <a:t>Fuel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MOHCC-Environmental health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0666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Engagement and coordination of sector ministries on food safety through the One health approach.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Law enforcement agents, policy markers, AREX, Vert. officers, and Public health officers (Collaboration or integration)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ministries reached.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Refreshments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  <a:r>
                        <a:rPr lang="en-US" sz="1600" baseline="0" dirty="0"/>
                        <a:t> March </a:t>
                      </a:r>
                      <a:r>
                        <a:rPr lang="en-US" sz="1600" dirty="0"/>
                        <a:t> 2025.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MOHCC-Environmental</a:t>
                      </a:r>
                      <a:r>
                        <a:rPr lang="en-US" sz="1600" baseline="0" dirty="0"/>
                        <a:t> health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859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Coordinate and monitor the training of food handlers in 7 districts.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</a:t>
                      </a: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food handlers trained with approved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Stationery, allowances and teaching aids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31 December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MOHCC-Environmental</a:t>
                      </a:r>
                      <a:r>
                        <a:rPr lang="en-US" sz="1600" baseline="0" dirty="0"/>
                        <a:t> health</a:t>
                      </a:r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8597">
                <a:tc vMerge="1"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Facilitate and monitor food inspection on trading and non trading premises to control food contamination and poisoning.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 food processing and </a:t>
                      </a:r>
                      <a:r>
                        <a:rPr lang="en-US" sz="1600" dirty="0" err="1"/>
                        <a:t>and</a:t>
                      </a:r>
                      <a:r>
                        <a:rPr lang="en-US" sz="1600" dirty="0"/>
                        <a:t> food outlets for public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food outlets inspected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Stationery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January to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MOHCC-Environmental</a:t>
                      </a:r>
                      <a:r>
                        <a:rPr lang="en-US" sz="1600" baseline="0" dirty="0"/>
                        <a:t> health</a:t>
                      </a:r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9854" y="288486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KRA 4</a:t>
            </a:r>
          </a:p>
        </p:txBody>
      </p:sp>
    </p:spTree>
    <p:extLst>
      <p:ext uri="{BB962C8B-B14F-4D97-AF65-F5344CB8AC3E}">
        <p14:creationId xmlns:p14="http://schemas.microsoft.com/office/powerpoint/2010/main" val="228897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104877"/>
              </p:ext>
            </p:extLst>
          </p:nvPr>
        </p:nvGraphicFramePr>
        <p:xfrm>
          <a:off x="193183" y="267283"/>
          <a:ext cx="11809928" cy="721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5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96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Area`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Activity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Target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713">
                <a:tc rowSpan="4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 and support  investigation of rumors and any public health incident.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100% of public health incident reports investigated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reported public health incidents investigated with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Fuel and allowance for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January-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MOHCC-Environmental</a:t>
                      </a:r>
                      <a:r>
                        <a:rPr lang="en-US" sz="1600" baseline="0" dirty="0"/>
                        <a:t> health</a:t>
                      </a:r>
                      <a:endParaRPr lang="en-US" sz="1600" dirty="0"/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9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 and ensure compliance to Public health act and SI 194 of 2024 (screening at ports of entry) to prevent food related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surveillance reports from POE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Prosecution and detention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January 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Ministry</a:t>
                      </a:r>
                      <a:r>
                        <a:rPr lang="en-US" sz="1600" baseline="0" dirty="0"/>
                        <a:t> of health-environmental health and ZIMRA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37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Joint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water quality monitoring visits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 visits done to assess water quality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1400" b="0" strike="noStrike" dirty="0">
                          <a:effectLst/>
                        </a:rPr>
                        <a:t>fuel</a:t>
                      </a:r>
                    </a:p>
                    <a:p>
                      <a:pPr lvl="1" algn="l"/>
                      <a:r>
                        <a:rPr lang="en-US" sz="1400" b="0" strike="noStrike" dirty="0">
                          <a:effectLst/>
                        </a:rPr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January - December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RIDA,</a:t>
                      </a:r>
                    </a:p>
                    <a:p>
                      <a:r>
                        <a:rPr lang="en-US" sz="1400" dirty="0" err="1"/>
                        <a:t>MoHCC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01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 and support the training of households to build tippy taps (hand washing facilities)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5000 households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Proportion of households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with hygiene enabling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+mj-lt"/>
                        </a:rPr>
                        <a:t>Chigubhu</a:t>
                      </a:r>
                      <a:r>
                        <a:rPr lang="en-US" sz="1400" b="0" dirty="0">
                          <a:latin typeface="+mj-lt"/>
                        </a:rPr>
                        <a:t> gear</a:t>
                      </a:r>
                    </a:p>
                    <a:p>
                      <a:r>
                        <a:rPr lang="en-US" sz="1400" b="0" dirty="0">
                          <a:latin typeface="+mj-lt"/>
                        </a:rPr>
                        <a:t>Cement, builders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January</a:t>
                      </a:r>
                      <a:r>
                        <a:rPr lang="en-US" sz="1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December 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Health and Child Care,</a:t>
                      </a:r>
                      <a:r>
                        <a:rPr lang="en-US" sz="1400" b="0" baseline="0" dirty="0">
                          <a:latin typeface="+mj-lt"/>
                        </a:rPr>
                        <a:t> RIDA, Women Affairs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3944" y="288486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KRA 4</a:t>
            </a:r>
          </a:p>
        </p:txBody>
      </p:sp>
    </p:spTree>
    <p:extLst>
      <p:ext uri="{BB962C8B-B14F-4D97-AF65-F5344CB8AC3E}">
        <p14:creationId xmlns:p14="http://schemas.microsoft.com/office/powerpoint/2010/main" val="43020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359059"/>
              </p:ext>
            </p:extLst>
          </p:nvPr>
        </p:nvGraphicFramePr>
        <p:xfrm>
          <a:off x="-1" y="-194310"/>
          <a:ext cx="12191998" cy="705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67034640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59658253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87609195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60979045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26592902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93770915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80740070"/>
                    </a:ext>
                  </a:extLst>
                </a:gridCol>
              </a:tblGrid>
              <a:tr h="3963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6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167577"/>
                  </a:ext>
                </a:extLst>
              </a:tr>
              <a:tr h="207213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KRA</a:t>
                      </a:r>
                      <a:r>
                        <a:rPr lang="en-US" sz="1400" b="1" baseline="0" dirty="0"/>
                        <a:t> 5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Capacitate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district health teams on Integrated Management of Acute Malnutrition (IMAM)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4 districts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district health teams capacitated on IMAM</a:t>
                      </a:r>
                      <a:endParaRPr lang="en-US" sz="1400" kern="1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Cure rate for acute malnutrition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IMAM</a:t>
                      </a:r>
                      <a:r>
                        <a:rPr lang="en-US" sz="1400" baseline="0" dirty="0"/>
                        <a:t> guidelines, training material, DSA for trainers, vehicle and fuel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June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Ministry of Health,</a:t>
                      </a:r>
                      <a:r>
                        <a:rPr lang="en-US" sz="1400" baseline="0" dirty="0"/>
                        <a:t> ACF/NAZ/IMC consortium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878847"/>
                  </a:ext>
                </a:extLst>
              </a:tr>
              <a:tr h="1852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Improve quality of care in stabilization </a:t>
                      </a:r>
                      <a:r>
                        <a:rPr lang="en-US" sz="14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(SC) for IMAM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Refurbishment of 2 hospitals in Kariba and Mhondoro-</a:t>
                      </a:r>
                      <a:r>
                        <a:rPr lang="en-US" sz="1400" baseline="0" dirty="0" err="1"/>
                        <a:t>Ngezi</a:t>
                      </a:r>
                      <a:endParaRPr 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IMAM stabilization </a:t>
                      </a:r>
                      <a:r>
                        <a:rPr lang="en-US" sz="1400" kern="1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refurbished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kern="1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Refurbishment materials and requirements( equipment, medicines and supplies, utensils </a:t>
                      </a:r>
                      <a:r>
                        <a:rPr lang="en-US" sz="1400" dirty="0" err="1"/>
                        <a:t>etc</a:t>
                      </a:r>
                      <a:r>
                        <a:rPr lang="en-US" sz="1400" dirty="0"/>
                        <a:t>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 October 2025</a:t>
                      </a:r>
                    </a:p>
                    <a:p>
                      <a:endParaRPr lang="en-US" sz="1400" baseline="0" dirty="0"/>
                    </a:p>
                    <a:p>
                      <a:endParaRPr lang="en-US" sz="1400" baseline="0" dirty="0"/>
                    </a:p>
                    <a:p>
                      <a:endParaRPr lang="en-US" sz="1400" baseline="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Ministry of Health</a:t>
                      </a:r>
                    </a:p>
                    <a:p>
                      <a:r>
                        <a:rPr lang="en-US" sz="1400" dirty="0"/>
                        <a:t>ACF/NAZ/IMC</a:t>
                      </a:r>
                      <a:r>
                        <a:rPr lang="en-US" sz="1400" baseline="0" dirty="0"/>
                        <a:t> consortium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1445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Strengthen</a:t>
                      </a: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capacity of community health workers to identify and refer malnutrition cases in the community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4 districts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capacitated on IMAM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children screened for malnutrition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Fuel</a:t>
                      </a:r>
                    </a:p>
                    <a:p>
                      <a:r>
                        <a:rPr lang="en-US" sz="1400" dirty="0"/>
                        <a:t>Refreshments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March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Ministry of Health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46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704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884719"/>
              </p:ext>
            </p:extLst>
          </p:nvPr>
        </p:nvGraphicFramePr>
        <p:xfrm>
          <a:off x="116983" y="190008"/>
          <a:ext cx="11809928" cy="5130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5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95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590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Monitor and support  care groups and Infant and Young Child Feeding support groups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districts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Community mentorship reports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Fuel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MOHCC-Nutrition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5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districts on nutrition supply chain management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 districts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Nutrition commodities order fill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Fuel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MOHCC-Nutrition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59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Support and monitor the  implementation</a:t>
                      </a:r>
                      <a:r>
                        <a:rPr lang="en-US" sz="1600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of school nutrition program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1 district (Makonde)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adolescent children receiving meals at schools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Fuel</a:t>
                      </a:r>
                    </a:p>
                    <a:p>
                      <a:r>
                        <a:rPr lang="en-US" sz="1600" dirty="0"/>
                        <a:t>DSAs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MOHCC-Nutrition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3208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608" y="2949262"/>
            <a:ext cx="86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KRA 5</a:t>
            </a:r>
          </a:p>
        </p:txBody>
      </p:sp>
    </p:spTree>
    <p:extLst>
      <p:ext uri="{BB962C8B-B14F-4D97-AF65-F5344CB8AC3E}">
        <p14:creationId xmlns:p14="http://schemas.microsoft.com/office/powerpoint/2010/main" val="850851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545584"/>
              </p:ext>
            </p:extLst>
          </p:nvPr>
        </p:nvGraphicFramePr>
        <p:xfrm>
          <a:off x="0" y="151372"/>
          <a:ext cx="11809928" cy="553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5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04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291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Key Result Area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Target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Process Indicator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Resources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Timeline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Lead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397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593" marR="6593" marT="6593" marB="0" anchor="b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Strengthen integrated outreach activities including nutrition activities (Screening for malnutrition, Vitamin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A supplementation </a:t>
                      </a:r>
                      <a:r>
                        <a:rPr lang="en-US" sz="1400" b="0" baseline="0" dirty="0" err="1">
                          <a:solidFill>
                            <a:schemeClr val="tx1"/>
                          </a:solidFill>
                        </a:rPr>
                        <a:t>etc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hard to reach areas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 districts providing integrated health care services to vulnerable households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Number of women, children, adolescents 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receiving health and nutrition services during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integrated outreach activities.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Number of integrated outreaches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conducted.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Vehicles, DSAs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</a:rPr>
                        <a:t> for outreach teams, fuel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MOHCC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99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KRA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Participate and support the collection, dissemination and utilization of food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nutrition security data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7 districts 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PFNSC joint monitoring visits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Fuel</a:t>
                      </a:r>
                    </a:p>
                    <a:p>
                      <a:r>
                        <a:rPr lang="en-US" sz="1400" dirty="0"/>
                        <a:t>DSAs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Local government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6214" y="1571223"/>
            <a:ext cx="78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KRA 5</a:t>
            </a:r>
          </a:p>
        </p:txBody>
      </p:sp>
    </p:spTree>
    <p:extLst>
      <p:ext uri="{BB962C8B-B14F-4D97-AF65-F5344CB8AC3E}">
        <p14:creationId xmlns:p14="http://schemas.microsoft.com/office/powerpoint/2010/main" val="67654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098371"/>
              </p:ext>
            </p:extLst>
          </p:nvPr>
        </p:nvGraphicFramePr>
        <p:xfrm>
          <a:off x="256309" y="0"/>
          <a:ext cx="11728174" cy="2956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3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9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US" sz="1100" b="1" kern="1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Result Area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 Indicator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 Agency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KRA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Promote production, preservation and consumption of locally available nutritious foods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Conduct 7 cook out competitions and food fairs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Number of cook out competitions and food  fairs conducted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Food</a:t>
                      </a:r>
                      <a:r>
                        <a:rPr lang="en-US" sz="1800" baseline="0" dirty="0"/>
                        <a:t> items, utensils, prices, fuel for cooking, venues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January-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Min 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</a:rPr>
                        <a:t>of Tourism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06810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1344</Words>
  <Application>Microsoft Office PowerPoint</Application>
  <PresentationFormat>Widescreen</PresentationFormat>
  <Paragraphs>327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Tw Cen MT</vt:lpstr>
      <vt:lpstr>Wingdings</vt:lpstr>
      <vt:lpstr>Wingdings 2</vt:lpstr>
      <vt:lpstr>Office Theme</vt:lpstr>
      <vt:lpstr>Median</vt:lpstr>
      <vt:lpstr>FNSC WORK PLAN     JANUARY- DECEmber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Beatrice Musaka</cp:lastModifiedBy>
  <cp:revision>77</cp:revision>
  <dcterms:created xsi:type="dcterms:W3CDTF">2025-01-22T07:48:32Z</dcterms:created>
  <dcterms:modified xsi:type="dcterms:W3CDTF">2025-03-19T07:36:25Z</dcterms:modified>
</cp:coreProperties>
</file>