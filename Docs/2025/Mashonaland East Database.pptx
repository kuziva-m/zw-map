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1" r:id="rId3"/>
    <p:sldId id="268" r:id="rId4"/>
    <p:sldId id="264" r:id="rId5"/>
    <p:sldId id="265" r:id="rId6"/>
    <p:sldId id="266" r:id="rId7"/>
    <p:sldId id="257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9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8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6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2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1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1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6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6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3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01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2700" y="6053138"/>
            <a:ext cx="3000375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4838" y="6043613"/>
            <a:ext cx="904716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0EE5BA-C90D-4340-8188-3663E78ACD0C}" type="datetimeFigureOut"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1300" y="236538"/>
            <a:ext cx="7823200" cy="365125"/>
          </a:xfrm>
        </p:spPr>
        <p:txBody>
          <a:bodyPr/>
          <a:lstStyle>
            <a:lvl1pPr algn="r">
              <a:defRPr>
                <a:solidFill>
                  <a:srgbClr val="EBDDC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BDDC3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 smtClean="0">
                <a:solidFill>
                  <a:srgbClr val="EBDDC3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C56552-0839-4ADA-9B06-427B1F9B3955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BDDC3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BDDC3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78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E21C8-7015-43F9-88F5-1DBC72860FB9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7B72A-84B7-4215-A120-2D8CB0231F15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536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AA2512-EC3E-4BED-9B42-97DB9E6A60B1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19F766-BF13-4F49-ABC8-124FAB43A1E8}" type="slidenum"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589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7C3F6F-C8C5-416E-9FBB-EAEC878CE6A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D5BB3F-26F3-4C09-B5FC-1C1E39ED2D6D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088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E409C-C3AF-4D25-89A0-E0D670513F6B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71A787-2EED-4992-B57A-563871ED697A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433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E26FE-EB42-4A42-9F1B-813BED01E5D9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0A7022-1903-4DDD-A8C9-41783F1400A7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05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DA1716-F3D0-4319-B058-6CE90ABDE3DD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 smtClean="0">
                <a:solidFill>
                  <a:srgbClr val="775F5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334B2-6533-472D-BC74-F46EC349FEFC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254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1F0FD0-D95C-434A-AAA7-EEB9669C0B4D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2C6FD-EC91-4B67-95A1-B42CAA2A428D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761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0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700" y="4664075"/>
            <a:ext cx="1951038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60575" y="4654550"/>
            <a:ext cx="10131425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0" y="0"/>
            <a:ext cx="133350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A04B-D31F-4946-802B-C9805EC9E3DE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9304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C6E22D-3CD4-47C6-B073-BBE486F7261D}" type="slidenum"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0"/>
            <a:ext cx="6096000" cy="365125"/>
          </a:xfrm>
        </p:spPr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425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64EAD8-9551-47AA-BFB6-F91F966A7787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5B8767-00EC-4833-9447-FFE1DD59F4FC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85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0" y="0"/>
            <a:ext cx="427038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913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913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0"/>
            <a:ext cx="29464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60F2D-8FF4-4745-AF9D-FEE7841C43CA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7431088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4819" y="103981"/>
            <a:ext cx="533400" cy="325438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0EAA5B-10EF-4A81-81CE-38FA9CD3ABCE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341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47B1-F038-4BE5-912D-7C6599F8670A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9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817563" y="1600200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rgbClr val="775F55"/>
                </a:solidFill>
                <a:latin typeface="Tw Cen M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80A542-7C36-4F5B-9756-3853AA99379C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2/22/2025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0" y="6248400"/>
            <a:ext cx="7227888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775F55"/>
                </a:solidFill>
                <a:latin typeface="Tw Cen MT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7112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Tw Cen M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C781F-3057-427A-AB01-F1C53E7D2678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75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600" y="2109788"/>
            <a:ext cx="6477000" cy="18288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/>
              <a:t>FNSC WORK PLAN 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JANUARY- DECEmber 2025</a:t>
            </a:r>
          </a:p>
        </p:txBody>
      </p:sp>
      <p:sp>
        <p:nvSpPr>
          <p:cNvPr id="12291" name="Subtitle 2"/>
          <p:cNvSpPr>
            <a:spLocks noGrp="1"/>
          </p:cNvSpPr>
          <p:nvPr>
            <p:ph type="subTitle" idx="1"/>
          </p:nvPr>
        </p:nvSpPr>
        <p:spPr>
          <a:xfrm>
            <a:off x="3149600" y="6049963"/>
            <a:ext cx="8940800" cy="685800"/>
          </a:xfrm>
        </p:spPr>
        <p:txBody>
          <a:bodyPr/>
          <a:lstStyle/>
          <a:p>
            <a:r>
              <a:rPr lang="en-US" altLang="en-US"/>
              <a:t>MASH EAST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-68263" y="5840413"/>
            <a:ext cx="3663951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Arial" panose="020B0604020202020204" pitchFamily="34" charset="0"/>
              </a:rPr>
              <a:t>NAME OF DISTRICT/ PROVINCE</a:t>
            </a:r>
          </a:p>
        </p:txBody>
      </p:sp>
    </p:spTree>
    <p:extLst>
      <p:ext uri="{BB962C8B-B14F-4D97-AF65-F5344CB8AC3E}">
        <p14:creationId xmlns:p14="http://schemas.microsoft.com/office/powerpoint/2010/main" val="341813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664014"/>
              </p:ext>
            </p:extLst>
          </p:nvPr>
        </p:nvGraphicFramePr>
        <p:xfrm>
          <a:off x="161729" y="294968"/>
          <a:ext cx="11868542" cy="6294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52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2762864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943897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2285497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1446348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25733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88195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</a:t>
                      </a:r>
                      <a:r>
                        <a:rPr lang="en-US" sz="12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Rhizobium inoculant production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rhizobium inoculants availed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Inoculant production raw materials and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 to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878847"/>
                  </a:ext>
                </a:extLst>
              </a:tr>
              <a:tr h="66522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</a:t>
                      </a:r>
                      <a:r>
                        <a:rPr lang="en-US" sz="12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</a:t>
                      </a:r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Maintenance of microbial Strains (Rhizobium, Phosphate Solubilizing Bacteria and Mycorrhiza.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rhizobia strains sub cultured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raw materials and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 to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080263"/>
                  </a:ext>
                </a:extLst>
              </a:tr>
              <a:tr h="66522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KRA 2</a:t>
                      </a:r>
                    </a:p>
                    <a:p>
                      <a:pPr algn="ct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Agriculture</a:t>
                      </a:r>
                      <a:r>
                        <a:rPr lang="en-US" sz="120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Machinery Availability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Percentage</a:t>
                      </a:r>
                      <a:r>
                        <a:rPr lang="en-US" sz="120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of functional tractors over the total population of tractors 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Spare</a:t>
                      </a:r>
                      <a:r>
                        <a:rPr lang="en-US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parts and components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DAEMFID</a:t>
                      </a:r>
                    </a:p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</a:t>
                      </a:r>
                      <a:r>
                        <a:rPr lang="en-US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sector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812222"/>
                  </a:ext>
                </a:extLst>
              </a:tr>
              <a:tr h="665227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Farmers / operators</a:t>
                      </a:r>
                      <a:r>
                        <a:rPr lang="en-US" sz="120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trained on Farm Machinery, Post Harvest Technologies, and Soil Conservation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Farmers/ operators trained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materials and</a:t>
                      </a:r>
                      <a:r>
                        <a:rPr lang="en-US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manuals </a:t>
                      </a:r>
                    </a:p>
                    <a:p>
                      <a:r>
                        <a:rPr lang="en-US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Partnerships and Collaborations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DAEMFID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943802"/>
                  </a:ext>
                </a:extLst>
              </a:tr>
              <a:tr h="665227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Mechanized Tillage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hectares</a:t>
                      </a:r>
                      <a:r>
                        <a:rPr lang="en-US" sz="120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tilled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Fuels and Lubricants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DAEMFID</a:t>
                      </a:r>
                    </a:p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  <a:r>
                        <a:rPr lang="en-US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government departments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210202"/>
                  </a:ext>
                </a:extLst>
              </a:tr>
              <a:tr h="6652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KRA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Soil testing And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soil samples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analysed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Soil testing equipment and </a:t>
                      </a:r>
                      <a:r>
                        <a:rPr lang="en-US" sz="1400" dirty="0" err="1"/>
                        <a:t>reagants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January to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72754"/>
                  </a:ext>
                </a:extLst>
              </a:tr>
              <a:tr h="6652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KRA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Evaluation of new or alternative microbial inoculants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research trials established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As per experiment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January to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332056"/>
                  </a:ext>
                </a:extLst>
              </a:tr>
              <a:tr h="665227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Training of clients/Stakeholders on soil fertility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students and stakeholders 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Training personnel and training aids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January to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016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85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491609"/>
              </p:ext>
            </p:extLst>
          </p:nvPr>
        </p:nvGraphicFramePr>
        <p:xfrm>
          <a:off x="19652" y="65314"/>
          <a:ext cx="12100816" cy="63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864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2241755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2163097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1946787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1383642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3493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200" b="1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Result Area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Activity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Process Indicator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Resources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Timeline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Lead Agency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237686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</a:t>
                      </a:r>
                      <a:r>
                        <a:rPr lang="en-US" sz="12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Facilitate development of Ward response strategies  to food and nutrition security priorities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Business units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Promotion of small grains</a:t>
                      </a: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 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Nutritional gardens.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Business units.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Pearl millet 10 000 ha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Finger millet 5 400 ha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all 9 Districts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Wards with response strategies to food and nutrition security issues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All 9 Districts</a:t>
                      </a: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Gvt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partners inputs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materials 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Jan-Dec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878847"/>
                  </a:ext>
                </a:extLst>
              </a:tr>
              <a:tr h="637795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Conduct Monitoring Visits to Food and Nutrition projects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Districts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Proportion of  Joint monitoring of FNS projects at ward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Z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Fuels and vehicles.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Jan-Dec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</a:t>
                      </a: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Gvt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departments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NGO,S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46392"/>
                  </a:ext>
                </a:extLst>
              </a:tr>
              <a:tr h="282451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</a:t>
                      </a:r>
                      <a:r>
                        <a:rPr lang="en-US" sz="12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</a:t>
                      </a:r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Train Farmers on 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Sugarbean</a:t>
                      </a: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Maize 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Sorghum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Wheat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Soyabeans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Sunflower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irish</a:t>
                      </a: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potato 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sweet potato.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Districts</a:t>
                      </a:r>
                    </a:p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650 000 farmers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Sugar Beans 10 960 ha.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Maize 240 000 ha.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Sorghum 27 500 ha.     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wheat 21 000 ha.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Sunflower 20 000 ha.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Soyabeans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11 000 ha.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Irish potato 1 200 ha.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Sweet potato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4 160 ha.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farmers trained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650 000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Fuels and vehicles.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aids and human resource.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Gadgets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Jan-Dec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relevant stakeholders </a:t>
                      </a: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suppliers, seed houses and </a:t>
                      </a: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agro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-chemical companies.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080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23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8D752-0A01-9DFF-78F7-08173134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108CC8-D597-F24F-05B6-329D9CCC5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680879"/>
              </p:ext>
            </p:extLst>
          </p:nvPr>
        </p:nvGraphicFramePr>
        <p:xfrm>
          <a:off x="74646" y="109101"/>
          <a:ext cx="12017831" cy="7583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648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1586204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1455575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2593911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1250305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1716833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3234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124693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</a:t>
                      </a:r>
                      <a:r>
                        <a:rPr lang="en-US" sz="12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</a:t>
                      </a:r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Ward Extension staff capacity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673 extension officers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 extension supervisors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737 extension staff 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Fuels and vehicles.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 aids and human resource.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Gadgets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Research articles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courses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Recent Agric practices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 Dec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relevant stakeholders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080263"/>
                  </a:ext>
                </a:extLst>
              </a:tr>
              <a:tr h="959551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Diversified Crop &amp; livestock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Inputs distribution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200" b="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ll</a:t>
                      </a: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9 Districts receive Presidential inputs for crops and livestock.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Districts</a:t>
                      </a:r>
                    </a:p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650 000 farmers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Quantity of inputs distributed by type</a:t>
                      </a: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Compound D 5938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Top dressing 4643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Maize seed 2311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Sorghum seed 165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 beans seed 143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Sunflower seed 90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Soya bean seed 77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Ground nuts seed 48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households receiving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ZW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Compound D 177 808 </a:t>
                      </a:r>
                      <a:r>
                        <a:rPr kumimoji="0" lang="en-ZW" sz="12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kumimoji="0" lang="en-ZW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ZW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Top dressing 140 024 </a:t>
                      </a:r>
                      <a:r>
                        <a:rPr kumimoji="0" lang="en-ZW" sz="12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kumimoji="0" lang="en-ZW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Maize seed 361 434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Sorghum seed 78 059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 beans seed 67 940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Sunflower seed 36 813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Soya bean seed 15 360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lang="en-ZW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Ground nuts seed 17 054 </a:t>
                      </a: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hh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input packs/livestock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Ha planted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Gvt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inputs support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Inventory management tools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track system.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 facilities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Partnership with 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April -Jan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local leaders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880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17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2130-60BC-8137-925D-8CAABBCE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4DE06B-5E10-B5FE-2CAC-4A0B584B2B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497740"/>
              </p:ext>
            </p:extLst>
          </p:nvPr>
        </p:nvGraphicFramePr>
        <p:xfrm>
          <a:off x="74646" y="109101"/>
          <a:ext cx="12017831" cy="5161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648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2052735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1744824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2369976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1250305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1716833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32347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200" b="1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Result Area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Activity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Process Indicator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Resources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Timeline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Lead Agency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956816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Pest &amp; Disease control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(Scouting, surveillance,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vaccinations, dipping)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animals vaccinated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Quantity of dip chemicals supplied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417345"/>
                  </a:ext>
                </a:extLst>
              </a:tr>
              <a:tr h="1961655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Promote Climate SMART Agricultural Practices 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Pfumvudza/CA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rip irrigation/ water harvesting technics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iversified farming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Agro</a:t>
                      </a: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-ecological matching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650 000 farmers across the Province.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CSA techs adopted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Four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Proportion of HH adopting climate smart tech </a:t>
                      </a:r>
                    </a:p>
                    <a:p>
                      <a:pPr marL="171450" marR="0" indent="-17145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W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00 000 </a:t>
                      </a:r>
                      <a:r>
                        <a:rPr lang="en-US" sz="1200" b="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fhh</a:t>
                      </a: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Gvt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 trials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Jan-Dec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other </a:t>
                      </a:r>
                      <a:r>
                        <a:rPr lang="en-ZW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Gvt</a:t>
                      </a:r>
                      <a:r>
                        <a:rPr lang="en-ZW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departments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31328"/>
                  </a:ext>
                </a:extLst>
              </a:tr>
              <a:tr h="712073">
                <a:tc>
                  <a:txBody>
                    <a:bodyPr/>
                    <a:lstStyle/>
                    <a:p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Promote Climate SMART Agricultural Practices </a:t>
                      </a:r>
                      <a:r>
                        <a:rPr lang="en-US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eg</a:t>
                      </a: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Pfumudza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schools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</a:t>
                      </a:r>
                      <a:r>
                        <a:rPr lang="en-US" sz="120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Schools</a:t>
                      </a: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adopting climate smart Agriculture-</a:t>
                      </a:r>
                      <a:r>
                        <a:rPr lang="en-US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Pfumvudza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Inputs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Annually 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MoPSE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partnership with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842117"/>
                  </a:ext>
                </a:extLst>
              </a:tr>
              <a:tr h="712073">
                <a:tc>
                  <a:txBody>
                    <a:bodyPr/>
                    <a:lstStyle/>
                    <a:p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Strengthen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health and nutrition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programmes</a:t>
                      </a: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in </a:t>
                      </a:r>
                      <a:r>
                        <a:rPr lang="en-US" sz="120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schools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 schools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schools with</a:t>
                      </a:r>
                      <a:r>
                        <a:rPr lang="en-US" sz="120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feeding places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Cement, bricks, locally available materials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Quarterly 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MoPSE</a:t>
                      </a:r>
                      <a:endParaRPr lang="en-ZW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25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02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051003"/>
              </p:ext>
            </p:extLst>
          </p:nvPr>
        </p:nvGraphicFramePr>
        <p:xfrm>
          <a:off x="127819" y="341313"/>
          <a:ext cx="11814950" cy="6329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910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2213910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2188132">
                  <a:extLst>
                    <a:ext uri="{9D8B030D-6E8A-4147-A177-3AD203B41FA5}">
                      <a16:colId xmlns:a16="http://schemas.microsoft.com/office/drawing/2014/main" val="1682167874"/>
                    </a:ext>
                  </a:extLst>
                </a:gridCol>
                <a:gridCol w="1248203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2207378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1103690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886725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1141002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KRA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Promote Schools  to implementing Home Grown School Feeding Programme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Facilitate</a:t>
                      </a:r>
                      <a:r>
                        <a:rPr lang="en-US" sz="12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Schools implement Home Grown School Feeding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400 Schools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</a:t>
                      </a:r>
                      <a:r>
                        <a:rPr lang="en-US" sz="12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with Home Grown School Feeding </a:t>
                      </a:r>
                      <a:r>
                        <a:rPr lang="en-US" sz="1200" kern="1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Programme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Inputs</a:t>
                      </a:r>
                    </a:p>
                    <a:p>
                      <a:r>
                        <a:rPr lang="en-US" sz="1200" dirty="0"/>
                        <a:t>Hectrage for farming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MoPSE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8788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Monitoring Visits to </a:t>
                      </a:r>
                      <a:r>
                        <a:rPr lang="en-US" sz="12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Schools to monitor school feeding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60 Schools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Schools</a:t>
                      </a:r>
                      <a:r>
                        <a:rPr lang="en-US" sz="12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monitored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Motor Vehicle</a:t>
                      </a:r>
                    </a:p>
                    <a:p>
                      <a:pPr algn="l"/>
                      <a:r>
                        <a:rPr lang="en-US" sz="1200" dirty="0"/>
                        <a:t>T &amp;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Termly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/>
                        <a:t>MoPSE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1478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Rolling out food mitigation program to food insecure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highlight>
                          <a:srgbClr val="FF00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960256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households receiving SP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Grain</a:t>
                      </a:r>
                    </a:p>
                    <a:p>
                      <a:r>
                        <a:rPr lang="en-US" sz="1100" dirty="0"/>
                        <a:t>Transport funds</a:t>
                      </a:r>
                    </a:p>
                    <a:p>
                      <a:r>
                        <a:rPr lang="en-US" sz="1100" dirty="0"/>
                        <a:t>T and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964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livelihood projects that use labour saving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highlight>
                          <a:srgbClr val="FF00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farmer women accessing labour saving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Funds</a:t>
                      </a:r>
                    </a:p>
                    <a:p>
                      <a:r>
                        <a:rPr lang="en-US" sz="1100" dirty="0"/>
                        <a:t>Project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DSD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549906"/>
                  </a:ext>
                </a:extLst>
              </a:tr>
              <a:tr h="139485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KRA 4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Enforce compliance and certification of all locally produced and imported foods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food samples analysis with field kits (food fortification, iodine tests etc.)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food samples analyzed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Test kits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1850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Collection of food samples &amp; sending to Govt Analyst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1500</a:t>
                      </a:r>
                    </a:p>
                    <a:p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samples collected and sent to govt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Food samples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851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Conduct food premises inspections.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  <a:latin typeface="+mn-lt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prosecutions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Annually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Local authority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ZRP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4460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Increase awareness on household hygiene, sanitation, and waste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management among communities through use of participatory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approaches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households to build tippy taps (hand washing facilities)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15% 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(from 5% ZIMLAC report)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households with hygiene enabling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DSAs 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Refreshments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</a:t>
                      </a:r>
                      <a:r>
                        <a:rPr lang="en-US" sz="1200" baseline="30000" dirty="0">
                          <a:latin typeface="+mn-lt"/>
                        </a:rPr>
                        <a:t>nd</a:t>
                      </a:r>
                      <a:r>
                        <a:rPr lang="en-US" sz="1200" dirty="0">
                          <a:latin typeface="+mn-lt"/>
                        </a:rPr>
                        <a:t>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P/DWSC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08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+mn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Conduct WASH behavior change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awareness campaigns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Number of people reached with WASH behavior change awareness campaigns</a:t>
                      </a:r>
                      <a:endParaRPr kumimoji="0" 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Fuel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Refreshments</a:t>
                      </a:r>
                    </a:p>
                    <a:p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Monthly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948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28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6118427"/>
              </p:ext>
            </p:extLst>
          </p:nvPr>
        </p:nvGraphicFramePr>
        <p:xfrm>
          <a:off x="369888" y="341313"/>
          <a:ext cx="11572880" cy="6482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49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2584580">
                  <a:extLst>
                    <a:ext uri="{9D8B030D-6E8A-4147-A177-3AD203B41FA5}">
                      <a16:colId xmlns:a16="http://schemas.microsoft.com/office/drawing/2014/main" val="2193629175"/>
                    </a:ext>
                  </a:extLst>
                </a:gridCol>
                <a:gridCol w="1792782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1594230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1129004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1138335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923315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+mn-lt"/>
                        </a:rPr>
                        <a:t>KRA</a:t>
                      </a:r>
                      <a:r>
                        <a:rPr lang="en-US" sz="1200" b="1" baseline="0" dirty="0">
                          <a:latin typeface="+mn-lt"/>
                        </a:rPr>
                        <a:t> 5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Capacity strengthening of stakeholders in IYCF (health workers, caregivers, community leaders, </a:t>
                      </a:r>
                      <a:r>
                        <a:rPr lang="en-US" sz="1200" kern="1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Capacity building of health workers on Combined IYCF and Growth Standard Training for Health Workers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6 districts (Chikomba, Goromonzi, Marondera, Hwedza, Mudzi, &amp; 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wards/PHC facilities  providing IYCF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DSAs 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Refreshments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3</a:t>
                      </a:r>
                      <a:r>
                        <a:rPr lang="en-US" sz="1200" baseline="30000" dirty="0">
                          <a:latin typeface="+mn-lt"/>
                        </a:rPr>
                        <a:t>rd</a:t>
                      </a:r>
                      <a:r>
                        <a:rPr lang="en-US" sz="1200" dirty="0">
                          <a:latin typeface="+mn-lt"/>
                        </a:rPr>
                        <a:t> quarter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8788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Scale up Care Group training in all wards in Mudzi and Mutoko districts and expand to other districts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wards in Mudzi and Mutoko &amp;                          5 wards per district (Seke, Marondera and Goromonzi)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wards implementing (care groups, support groups, PHCs, </a:t>
                      </a:r>
                      <a:r>
                        <a:rPr lang="en-US" sz="1200" kern="1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DSAs 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Refreshments </a:t>
                      </a:r>
                    </a:p>
                    <a:p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</a:t>
                      </a:r>
                      <a:r>
                        <a:rPr lang="en-US" sz="1200" baseline="30000" dirty="0">
                          <a:latin typeface="+mn-lt"/>
                        </a:rPr>
                        <a:t>nd</a:t>
                      </a:r>
                      <a:r>
                        <a:rPr lang="en-US" sz="1200" dirty="0">
                          <a:latin typeface="+mn-lt"/>
                        </a:rPr>
                        <a:t>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6693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monthly cooking demonstrations with communities</a:t>
                      </a:r>
                      <a:endParaRPr kumimoji="0" lang="en-Z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All wards in Mudzi and Mutoko districts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cooking demonstrations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Food stuffs, 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Monthly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561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Strengthen health and nutrition programmes in institutions of care (schools, correctional services, waiting mothers shelters, old peoples’ homes,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Capacity building of Health Care Workers and School Health Masters on the School Nutrition program 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 schools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 capacitated on the School Nutrition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 DSAs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Refreshments</a:t>
                      </a:r>
                    </a:p>
                    <a:p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</a:t>
                      </a:r>
                      <a:r>
                        <a:rPr lang="en-US" sz="1200" baseline="30000" dirty="0">
                          <a:latin typeface="+mn-lt"/>
                        </a:rPr>
                        <a:t>nd</a:t>
                      </a:r>
                      <a:r>
                        <a:rPr lang="en-US" sz="1200" dirty="0">
                          <a:latin typeface="+mn-lt"/>
                        </a:rPr>
                        <a:t>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MOPSE &amp; 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9193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Train teachers on school nutrition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180 teachers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teachers 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Refreshments</a:t>
                      </a:r>
                    </a:p>
                    <a:p>
                      <a:r>
                        <a:rPr lang="en-US" sz="1200" dirty="0"/>
                        <a:t>T</a:t>
                      </a:r>
                      <a:r>
                        <a:rPr lang="en-US" sz="1200" baseline="0" dirty="0"/>
                        <a:t> &amp; S</a:t>
                      </a:r>
                    </a:p>
                    <a:p>
                      <a:r>
                        <a:rPr lang="en-US" sz="1200" baseline="0" dirty="0"/>
                        <a:t>vehicle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Termly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MoPSE</a:t>
                      </a:r>
                      <a:r>
                        <a:rPr lang="en-US" sz="1200" dirty="0"/>
                        <a:t> &amp; 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874784"/>
                  </a:ext>
                </a:extLst>
              </a:tr>
              <a:tr h="142491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Monitoring implementation of school nutrition program (Home Grown School Feeding Programme (HGSFP))</a:t>
                      </a:r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60 schools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schools serving nutritious meals through the HGSFP, at tuck shops</a:t>
                      </a:r>
                      <a:endParaRPr lang="en-US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Grain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Relish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Termly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MOPSE &amp; 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587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Establish and ensure maintenance of nutrition gardens at institutions </a:t>
                      </a:r>
                      <a:endParaRPr lang="en-ZW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All hospitals, schools, correctional services facilities, waiting mothers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shelters, old peoples’ homes,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institutions with established nutrition gardens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Agriculture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2</a:t>
                      </a:r>
                      <a:r>
                        <a:rPr lang="en-US" sz="1200" baseline="30000" dirty="0">
                          <a:latin typeface="+mn-lt"/>
                        </a:rPr>
                        <a:t>ND</a:t>
                      </a:r>
                      <a:r>
                        <a:rPr lang="en-US" sz="1200" dirty="0">
                          <a:latin typeface="+mn-lt"/>
                        </a:rPr>
                        <a:t>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AGRITEX</a:t>
                      </a:r>
                    </a:p>
                    <a:p>
                      <a:endParaRPr lang="en-US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685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support visits to institutions to ensure preparation of quality four-star meals</a:t>
                      </a:r>
                      <a:endParaRPr lang="en-ZW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All institutions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institutions serving nutritious 4 star meals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Fuel</a:t>
                      </a:r>
                    </a:p>
                    <a:p>
                      <a:r>
                        <a:rPr lang="en-US" sz="1200" dirty="0">
                          <a:latin typeface="+mn-lt"/>
                        </a:rPr>
                        <a:t>DSAs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892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47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0404-D318-7AF3-0193-5D8837C1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4AAC98-D56C-5605-5621-7228D4198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802303"/>
              </p:ext>
            </p:extLst>
          </p:nvPr>
        </p:nvGraphicFramePr>
        <p:xfrm>
          <a:off x="369888" y="341313"/>
          <a:ext cx="11572880" cy="6266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994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1380930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93629175"/>
                    </a:ext>
                  </a:extLst>
                </a:gridCol>
                <a:gridCol w="1931437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1554299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1179570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923731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1137919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200" b="0" kern="1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Result Area</a:t>
                      </a: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Sub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Process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Lead Agency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87884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 6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Participate in  food and nutrition security data collection, timely information dissemination, utilization and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Participate in ZIMLAC urban and rural assessments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sectors (Health, Agriculture, Social Welfare, Local Govt, local authorities, Education, Information, Women Affairs, Youth, ZIMSTAT, EMA, DDF, NAC, NGOs, and other stakeholders)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sectors  participating in data collection, analysis, reporting and timely information dissemination, utilization and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Vehicle, 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collection tools, Computers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Annually 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(and as per rising need)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Govt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964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0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Conducting Provincial, and District Food and Nutrition Security committee meetings</a:t>
                      </a:r>
                      <a:endParaRPr kumimoji="0" lang="en-Z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sectors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sectors  participating FNSC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Refreshments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Quarterly  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(and as per rising need)</a:t>
                      </a:r>
                    </a:p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MOHCC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AGRITEX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Services</a:t>
                      </a:r>
                    </a:p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Govt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90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Train Ward Level FNSCS in Food Mitigation Strategy and  the Work of FNSCs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Adoption of Multisectoral Community Based Model to reduce stunting (MSCBM) in all the remaining districts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Goromonzi and Marondera 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WFNSC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established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83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Establish Youth Business Units for the Centers and Youths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Youth Business Units for the Centers and Youths established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G.O.Z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 months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Ministry of youth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22813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Establishment of Value Chains at Training Centers  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Value Chains Established  at Training Centers  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G.O.Z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 months</a:t>
                      </a:r>
                      <a:endParaRPr lang="en-ZW" sz="12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699" marR="46699" marT="23349" marB="2334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W" sz="12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Ministry of youth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41203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b="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647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38454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1631</Words>
  <Application>Microsoft Office PowerPoint</Application>
  <PresentationFormat>Widescreen</PresentationFormat>
  <Paragraphs>442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Tw Cen MT</vt:lpstr>
      <vt:lpstr>Wingdings</vt:lpstr>
      <vt:lpstr>Wingdings 2</vt:lpstr>
      <vt:lpstr>Office Theme</vt:lpstr>
      <vt:lpstr>Median</vt:lpstr>
      <vt:lpstr>FNSC WORK PLAN     JANUARY- DECEmber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User</cp:lastModifiedBy>
  <cp:revision>17</cp:revision>
  <dcterms:created xsi:type="dcterms:W3CDTF">2025-01-22T07:48:32Z</dcterms:created>
  <dcterms:modified xsi:type="dcterms:W3CDTF">2025-02-22T18:34:41Z</dcterms:modified>
</cp:coreProperties>
</file>