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5" r:id="rId2"/>
    <p:sldId id="278" r:id="rId3"/>
    <p:sldId id="283" r:id="rId4"/>
    <p:sldId id="281" r:id="rId5"/>
    <p:sldId id="284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998" autoAdjust="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856A0-C7AC-491C-9258-09691E144CD5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F4A9C-FB67-46C4-9691-B0CE184AC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3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314E-1B53-0A81-11D0-3BA5D1203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FC39D-FB61-02BF-ABA4-D9425649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8B3AE-11D1-09DD-FBFF-897CC226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0A0A-11DF-9EE5-3AD3-E41F0E55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F42DF-1851-7E6A-A59C-BD241180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9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84E8C-53EB-9405-241A-29AC581A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2FF-4199-2B8A-6BE6-9FB0E7E27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7EA40-9D0C-8726-A944-40DD9FDC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43A2-88A6-13FA-2830-0A479A34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AA34-FFE5-329A-8BA9-5653DEFD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7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E5E7-F21A-2B24-B6F2-0001605B4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CDA51-B851-D53E-373C-AAFF31EAE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81553-A4DE-64FA-23F1-C27DEA1E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88B08-498E-44FE-810E-D27C857F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636D2-45EF-B7C7-B872-B4CC5904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3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747A-81EF-231B-66F9-BE08801C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A989-93FF-B869-8226-1259FF388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C24A1-5ECA-1595-FF89-782630AA4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3A1E1-D06D-90F5-65B1-7EC84F12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B36B1-D454-5FD7-BAFA-D9A8D09B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AAFB-7DC2-2830-3FE4-F1C56A7C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0AE8-6AD9-6EC3-F6B6-35A364046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A56E8-794F-30F9-D378-93F67207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C6C5E-3D7F-11C3-2EF6-4F94DDA5E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8E4AA-A4FF-095C-8519-505321CCB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C3752-85D8-7B74-3EB1-71CF80734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9D5F5-9ED7-8096-A7C2-67D653DE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2DAC9-804A-6D88-2D50-05061E5E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43915-4932-0442-DA96-686DCA46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B601-2A7A-DE54-9645-B7877FBD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428B3-B8D1-7576-5B65-D4B0139C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CCF71-4D62-9220-E4F7-C5826749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74FDE-EF6C-81F1-2BB9-246BB3B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9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965AF-7CE3-E55D-00C0-E9F00D31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7C296-EB8C-90FA-6D3B-2E14CBA3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C4919-82C0-24A2-B459-0A79DC9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45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6344-90B2-9346-9C96-2AD51477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E863-DC33-A72D-331D-440FE8E2E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F5F5A-FCDE-1728-EF57-ABA735CCD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351CB-0ABA-4587-1F6B-34E2D779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50901-B96B-4500-16A8-852EC09E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24CC7-22FE-A709-E184-BD91A667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1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D83C-CB18-F9B0-2C07-7EDB5EC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FACAF-8964-BB5A-5100-82C1D014C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F20A5-4AD4-ED55-4C25-0EF66150C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57040-15B6-BF99-EAA9-E903B9AE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5F108-9FDD-EE9B-044F-19C94040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3899C-B6E4-1ABE-C4D7-951A84AF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5801-30AF-FD68-64F3-DD971816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5FF49-2B9D-C2BD-C57B-195A3A99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38838-622C-B6D4-BD4C-B43D0256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DFFC4-E354-3BC0-F261-07A733B5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8AFD-9339-1630-9C96-9B5D9DFC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0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C1C7A-7DD6-4F43-9A08-41ABC0829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C674D-CBC0-FADC-847D-30716DA8B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E0449-DB73-F841-0D5D-1BEFC3FD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CBB0C-A1E3-437B-5AEF-7C5FB85F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23786-43E7-5A53-F824-6426CC55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9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ECFED-214E-7068-2108-82D582FC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BE26A-EC8C-3A71-862B-00188E80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A27F0-C117-C0A3-8E08-34DB5AB73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390F7-1BB1-4FEC-A52A-D024C97CBEC0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3880E-23FB-9E89-8478-70D4EFCC7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758E-F4D0-3E51-4BE3-B9AF69057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06020-754E-429B-93C6-AB5E7C1E3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0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EB54-F2EF-2CCA-3274-2AD0D656A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Mat South PFNSC Workplan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8C90E-0580-96B4-4975-33FBF2638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4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54A640-E5DA-3A1E-3F01-9BEDCCDB4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75879"/>
              </p:ext>
            </p:extLst>
          </p:nvPr>
        </p:nvGraphicFramePr>
        <p:xfrm>
          <a:off x="595022" y="672548"/>
          <a:ext cx="10967057" cy="5260892"/>
        </p:xfrm>
        <a:graphic>
          <a:graphicData uri="http://schemas.openxmlformats.org/drawingml/2006/table">
            <a:tbl>
              <a:tblPr firstRow="1" bandRow="1"/>
              <a:tblGrid>
                <a:gridCol w="485937">
                  <a:extLst>
                    <a:ext uri="{9D8B030D-6E8A-4147-A177-3AD203B41FA5}">
                      <a16:colId xmlns:a16="http://schemas.microsoft.com/office/drawing/2014/main" val="309863417"/>
                    </a:ext>
                  </a:extLst>
                </a:gridCol>
                <a:gridCol w="2387496">
                  <a:extLst>
                    <a:ext uri="{9D8B030D-6E8A-4147-A177-3AD203B41FA5}">
                      <a16:colId xmlns:a16="http://schemas.microsoft.com/office/drawing/2014/main" val="2172016526"/>
                    </a:ext>
                  </a:extLst>
                </a:gridCol>
                <a:gridCol w="979877">
                  <a:extLst>
                    <a:ext uri="{9D8B030D-6E8A-4147-A177-3AD203B41FA5}">
                      <a16:colId xmlns:a16="http://schemas.microsoft.com/office/drawing/2014/main" val="2945479375"/>
                    </a:ext>
                  </a:extLst>
                </a:gridCol>
                <a:gridCol w="2457331">
                  <a:extLst>
                    <a:ext uri="{9D8B030D-6E8A-4147-A177-3AD203B41FA5}">
                      <a16:colId xmlns:a16="http://schemas.microsoft.com/office/drawing/2014/main" val="2429881732"/>
                    </a:ext>
                  </a:extLst>
                </a:gridCol>
                <a:gridCol w="1118820">
                  <a:extLst>
                    <a:ext uri="{9D8B030D-6E8A-4147-A177-3AD203B41FA5}">
                      <a16:colId xmlns:a16="http://schemas.microsoft.com/office/drawing/2014/main" val="4192775802"/>
                    </a:ext>
                  </a:extLst>
                </a:gridCol>
                <a:gridCol w="1419985">
                  <a:extLst>
                    <a:ext uri="{9D8B030D-6E8A-4147-A177-3AD203B41FA5}">
                      <a16:colId xmlns:a16="http://schemas.microsoft.com/office/drawing/2014/main" val="2865348805"/>
                    </a:ext>
                  </a:extLst>
                </a:gridCol>
                <a:gridCol w="2117611">
                  <a:extLst>
                    <a:ext uri="{9D8B030D-6E8A-4147-A177-3AD203B41FA5}">
                      <a16:colId xmlns:a16="http://schemas.microsoft.com/office/drawing/2014/main" val="1405107799"/>
                    </a:ext>
                  </a:extLst>
                </a:gridCol>
              </a:tblGrid>
              <a:tr h="9078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66121"/>
                  </a:ext>
                </a:extLst>
              </a:tr>
              <a:tr h="21530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Facilitate development of District response strategies  to food</a:t>
                      </a:r>
                      <a:r>
                        <a:rPr lang="en-ZW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priorities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 Districts 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Districts with response strategies to food and nutrition</a:t>
                      </a:r>
                      <a:r>
                        <a:rPr lang="en-ZW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security issues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Fuel, Lunch Allowances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ZW" sz="16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Refreshments 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March 2025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 Local Government Services,  ARDAS, MOHCC</a:t>
                      </a:r>
                      <a:r>
                        <a:rPr lang="en-ZW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Services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97706"/>
                  </a:ext>
                </a:extLst>
              </a:tr>
              <a:tr h="220001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Monitoring Visits to Food and Nutrition projects </a:t>
                      </a:r>
                      <a:endParaRPr lang="en-ZW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W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</a:t>
                      </a:r>
                      <a:endParaRPr lang="en-ZW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 Joint monitoring of FNS projects at District level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Fuel, Lunch Allowances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Checklists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Quartely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 Local Government , ARDAS, MOHCC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Services, (Local Development Partner)</a:t>
                      </a:r>
                      <a:endParaRPr lang="en-ZW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792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6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54A640-E5DA-3A1E-3F01-9BEDCCDB4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49"/>
              </p:ext>
            </p:extLst>
          </p:nvPr>
        </p:nvGraphicFramePr>
        <p:xfrm>
          <a:off x="635662" y="205188"/>
          <a:ext cx="10977217" cy="5669655"/>
        </p:xfrm>
        <a:graphic>
          <a:graphicData uri="http://schemas.openxmlformats.org/drawingml/2006/table">
            <a:tbl>
              <a:tblPr firstRow="1" bandRow="1"/>
              <a:tblGrid>
                <a:gridCol w="486387">
                  <a:extLst>
                    <a:ext uri="{9D8B030D-6E8A-4147-A177-3AD203B41FA5}">
                      <a16:colId xmlns:a16="http://schemas.microsoft.com/office/drawing/2014/main" val="309863417"/>
                    </a:ext>
                  </a:extLst>
                </a:gridCol>
                <a:gridCol w="2389708">
                  <a:extLst>
                    <a:ext uri="{9D8B030D-6E8A-4147-A177-3AD203B41FA5}">
                      <a16:colId xmlns:a16="http://schemas.microsoft.com/office/drawing/2014/main" val="2172016526"/>
                    </a:ext>
                  </a:extLst>
                </a:gridCol>
                <a:gridCol w="980785">
                  <a:extLst>
                    <a:ext uri="{9D8B030D-6E8A-4147-A177-3AD203B41FA5}">
                      <a16:colId xmlns:a16="http://schemas.microsoft.com/office/drawing/2014/main" val="2945479375"/>
                    </a:ext>
                  </a:extLst>
                </a:gridCol>
                <a:gridCol w="2731218">
                  <a:extLst>
                    <a:ext uri="{9D8B030D-6E8A-4147-A177-3AD203B41FA5}">
                      <a16:colId xmlns:a16="http://schemas.microsoft.com/office/drawing/2014/main" val="242988173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192775802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865348805"/>
                    </a:ext>
                  </a:extLst>
                </a:gridCol>
                <a:gridCol w="1290319">
                  <a:extLst>
                    <a:ext uri="{9D8B030D-6E8A-4147-A177-3AD203B41FA5}">
                      <a16:colId xmlns:a16="http://schemas.microsoft.com/office/drawing/2014/main" val="1405107799"/>
                    </a:ext>
                  </a:extLst>
                </a:gridCol>
              </a:tblGrid>
              <a:tr h="4949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566121"/>
                  </a:ext>
                </a:extLst>
              </a:tr>
              <a:tr h="11736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Diversified Crop &amp; livestock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 distribution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5 000Ha Maize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Ha planted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 Packs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ARDAS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197706"/>
                  </a:ext>
                </a:extLst>
              </a:tr>
              <a:tr h="1074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Pest &amp; Disease control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(Scouting, surveillance,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vaccinations, dipping)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Cattle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1000000 (1kg) teak grease tins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animals vaccinated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Quantity of dip chemicals supplied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Vaccines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Dip Chemicals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ARDAS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792390"/>
                  </a:ext>
                </a:extLst>
              </a:tr>
              <a:tr h="9140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Promote Climate SMART Agricultural Practices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eg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Pfumudza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500000  plots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plots targeted (90% adoption)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HH adopting climate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smart tech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ARDAS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411916"/>
                  </a:ext>
                </a:extLst>
              </a:tr>
              <a:tr h="11736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Promote Schools  to implementing Home Grown School Feeding Programme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513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schools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implementing the HGSFP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MOPSE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SSD</a:t>
                      </a:r>
                    </a:p>
                  </a:txBody>
                  <a:tcPr marL="83618" marR="83618" marT="41809" marB="418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429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96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94FC4-8E46-4562-D4C9-41ADE336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57018"/>
              </p:ext>
            </p:extLst>
          </p:nvPr>
        </p:nvGraphicFramePr>
        <p:xfrm>
          <a:off x="465150" y="379233"/>
          <a:ext cx="11279809" cy="6194288"/>
        </p:xfrm>
        <a:graphic>
          <a:graphicData uri="http://schemas.openxmlformats.org/drawingml/2006/table">
            <a:tbl>
              <a:tblPr firstRow="1" bandRow="1"/>
              <a:tblGrid>
                <a:gridCol w="422383">
                  <a:extLst>
                    <a:ext uri="{9D8B030D-6E8A-4147-A177-3AD203B41FA5}">
                      <a16:colId xmlns:a16="http://schemas.microsoft.com/office/drawing/2014/main" val="3499930318"/>
                    </a:ext>
                  </a:extLst>
                </a:gridCol>
                <a:gridCol w="2473215">
                  <a:extLst>
                    <a:ext uri="{9D8B030D-6E8A-4147-A177-3AD203B41FA5}">
                      <a16:colId xmlns:a16="http://schemas.microsoft.com/office/drawing/2014/main" val="1451847842"/>
                    </a:ext>
                  </a:extLst>
                </a:gridCol>
                <a:gridCol w="1015057">
                  <a:extLst>
                    <a:ext uri="{9D8B030D-6E8A-4147-A177-3AD203B41FA5}">
                      <a16:colId xmlns:a16="http://schemas.microsoft.com/office/drawing/2014/main" val="77440350"/>
                    </a:ext>
                  </a:extLst>
                </a:gridCol>
                <a:gridCol w="2545557">
                  <a:extLst>
                    <a:ext uri="{9D8B030D-6E8A-4147-A177-3AD203B41FA5}">
                      <a16:colId xmlns:a16="http://schemas.microsoft.com/office/drawing/2014/main" val="662576377"/>
                    </a:ext>
                  </a:extLst>
                </a:gridCol>
                <a:gridCol w="2192158">
                  <a:extLst>
                    <a:ext uri="{9D8B030D-6E8A-4147-A177-3AD203B41FA5}">
                      <a16:colId xmlns:a16="http://schemas.microsoft.com/office/drawing/2014/main" val="12075804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63475004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593591919"/>
                    </a:ext>
                  </a:extLst>
                </a:gridCol>
              </a:tblGrid>
              <a:tr h="5448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195323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Providing school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meals </a:t>
                      </a:r>
                    </a:p>
                  </a:txBody>
                  <a:tcPr marL="13866" marR="138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13866" marR="1386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learners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provided with one hot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balanced school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meal/school day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MPOSE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51948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livelihood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projects that use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farmer women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accessing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October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Women Affairs ,Social Services, ARDAS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145020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Enforce compliance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certification of all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locally produced and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imported foods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Compliance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violations  observed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840191"/>
                  </a:ext>
                </a:extLst>
              </a:tr>
              <a:tr h="9970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households to build tippy taps (hand washing facilities)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80%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hygiene enabling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6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44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94FC4-8E46-4562-D4C9-41ADE3365DD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5150" y="379233"/>
          <a:ext cx="11279809" cy="6194288"/>
        </p:xfrm>
        <a:graphic>
          <a:graphicData uri="http://schemas.openxmlformats.org/drawingml/2006/table">
            <a:tbl>
              <a:tblPr firstRow="1" bandRow="1"/>
              <a:tblGrid>
                <a:gridCol w="422383">
                  <a:extLst>
                    <a:ext uri="{9D8B030D-6E8A-4147-A177-3AD203B41FA5}">
                      <a16:colId xmlns:a16="http://schemas.microsoft.com/office/drawing/2014/main" val="3499930318"/>
                    </a:ext>
                  </a:extLst>
                </a:gridCol>
                <a:gridCol w="2473215">
                  <a:extLst>
                    <a:ext uri="{9D8B030D-6E8A-4147-A177-3AD203B41FA5}">
                      <a16:colId xmlns:a16="http://schemas.microsoft.com/office/drawing/2014/main" val="1451847842"/>
                    </a:ext>
                  </a:extLst>
                </a:gridCol>
                <a:gridCol w="1015057">
                  <a:extLst>
                    <a:ext uri="{9D8B030D-6E8A-4147-A177-3AD203B41FA5}">
                      <a16:colId xmlns:a16="http://schemas.microsoft.com/office/drawing/2014/main" val="77440350"/>
                    </a:ext>
                  </a:extLst>
                </a:gridCol>
                <a:gridCol w="2545557">
                  <a:extLst>
                    <a:ext uri="{9D8B030D-6E8A-4147-A177-3AD203B41FA5}">
                      <a16:colId xmlns:a16="http://schemas.microsoft.com/office/drawing/2014/main" val="662576377"/>
                    </a:ext>
                  </a:extLst>
                </a:gridCol>
                <a:gridCol w="2192158">
                  <a:extLst>
                    <a:ext uri="{9D8B030D-6E8A-4147-A177-3AD203B41FA5}">
                      <a16:colId xmlns:a16="http://schemas.microsoft.com/office/drawing/2014/main" val="12075804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63475004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593591919"/>
                    </a:ext>
                  </a:extLst>
                </a:gridCol>
              </a:tblGrid>
              <a:tr h="5448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195323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Rolling out food mitigation program to food insecure population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343658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beneficiries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receiving SP support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51948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livelihood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projects that use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farmer women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accessing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labour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saving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October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Women Affairs ,Social Services, ARDAS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145020"/>
                  </a:ext>
                </a:extLst>
              </a:tr>
              <a:tr h="15507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Enforce compliance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certification of all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locally produced and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imported foods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Compliance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violations  observed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840191"/>
                  </a:ext>
                </a:extLst>
              </a:tr>
              <a:tr h="9970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households to build tippy taps (hand washing facilities)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80% 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hygiene enabling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facilities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</a:txBody>
                  <a:tcPr marL="85008" marR="85008" marT="42504" marB="425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6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08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5BC651-24C6-8F4C-2252-CE2092A20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245551"/>
              </p:ext>
            </p:extLst>
          </p:nvPr>
        </p:nvGraphicFramePr>
        <p:xfrm>
          <a:off x="253485" y="231031"/>
          <a:ext cx="11684515" cy="6304084"/>
        </p:xfrm>
        <a:graphic>
          <a:graphicData uri="http://schemas.openxmlformats.org/drawingml/2006/table">
            <a:tbl>
              <a:tblPr firstRow="1" bandRow="1"/>
              <a:tblGrid>
                <a:gridCol w="517729">
                  <a:extLst>
                    <a:ext uri="{9D8B030D-6E8A-4147-A177-3AD203B41FA5}">
                      <a16:colId xmlns:a16="http://schemas.microsoft.com/office/drawing/2014/main" val="1256816392"/>
                    </a:ext>
                  </a:extLst>
                </a:gridCol>
                <a:gridCol w="2543685">
                  <a:extLst>
                    <a:ext uri="{9D8B030D-6E8A-4147-A177-3AD203B41FA5}">
                      <a16:colId xmlns:a16="http://schemas.microsoft.com/office/drawing/2014/main" val="2244890662"/>
                    </a:ext>
                  </a:extLst>
                </a:gridCol>
                <a:gridCol w="1043980">
                  <a:extLst>
                    <a:ext uri="{9D8B030D-6E8A-4147-A177-3AD203B41FA5}">
                      <a16:colId xmlns:a16="http://schemas.microsoft.com/office/drawing/2014/main" val="3949183938"/>
                    </a:ext>
                  </a:extLst>
                </a:gridCol>
                <a:gridCol w="2245121">
                  <a:extLst>
                    <a:ext uri="{9D8B030D-6E8A-4147-A177-3AD203B41FA5}">
                      <a16:colId xmlns:a16="http://schemas.microsoft.com/office/drawing/2014/main" val="1044825647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542414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17950646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538276155"/>
                    </a:ext>
                  </a:extLst>
                </a:gridCol>
              </a:tblGrid>
              <a:tr h="23277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KRA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Inputs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251064"/>
                  </a:ext>
                </a:extLst>
              </a:tr>
              <a:tr h="132410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Capacity strengthening of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stakeholders in IYCF (health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workers, caregivers,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 leaders,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145 wards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wards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implementing SBCC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(care groups,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groups,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PHCs,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Ongoing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CTDO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NAZ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Women Affairs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851719"/>
                  </a:ext>
                </a:extLst>
              </a:tr>
              <a:tr h="14288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 health and nutrition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programmes in institutions of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care (schools, correctional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services, waiting mothers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shelters, old peoples homes,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80% institution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serving nutritious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meals through the Home Grown School Feeding Programme,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 tuck shops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Promotional IEC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Quarterly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MOHCC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MPOSE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Women Affairs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944182"/>
                  </a:ext>
                </a:extLst>
              </a:tr>
              <a:tr h="14288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Participate in  food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data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collection, timely information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dissemination, utilisation and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feedback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 least 5 sectors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sectors  participating in data collection, analysis,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reporting and timely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information dissemination,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 and feedback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Oncall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 Local Government Services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ARDAS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853070"/>
                  </a:ext>
                </a:extLst>
              </a:tr>
              <a:tr h="99313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Ward Level FNSCS in Food Mitigation Strategy and  the Work of FNSCs 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145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WFNSC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established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Fuel,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Bond Paper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IEC Materials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Materials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August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Director Local Government Services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Social Services</a:t>
                      </a:r>
                    </a:p>
                  </a:txBody>
                  <a:tcPr marL="63270" marR="63270" marT="31635" marB="3163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05512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5E7F2A7-DEDC-E840-D1E6-EFFA24E0B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75" y="1471613"/>
            <a:ext cx="143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9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679</Words>
  <Application>Microsoft Office PowerPoint</Application>
  <PresentationFormat>Widescreen</PresentationFormat>
  <Paragraphs>274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Mat South PFNSC Workplan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Multi-sectoral Planning for FNSCs</dc:title>
  <dc:creator>mbanda</dc:creator>
  <cp:lastModifiedBy>innocent mazarura</cp:lastModifiedBy>
  <cp:revision>32</cp:revision>
  <dcterms:created xsi:type="dcterms:W3CDTF">2024-09-09T12:23:43Z</dcterms:created>
  <dcterms:modified xsi:type="dcterms:W3CDTF">2025-03-18T13:14:48Z</dcterms:modified>
</cp:coreProperties>
</file>