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4"/>
  </p:notesMasterIdLst>
  <p:sldIdLst>
    <p:sldId id="261" r:id="rId3"/>
    <p:sldId id="282" r:id="rId4"/>
    <p:sldId id="283" r:id="rId5"/>
    <p:sldId id="262" r:id="rId6"/>
    <p:sldId id="278" r:id="rId7"/>
    <p:sldId id="263" r:id="rId8"/>
    <p:sldId id="277" r:id="rId9"/>
    <p:sldId id="280" r:id="rId10"/>
    <p:sldId id="281" r:id="rId11"/>
    <p:sldId id="264" r:id="rId12"/>
    <p:sldId id="265" r:id="rId13"/>
    <p:sldId id="266" r:id="rId14"/>
    <p:sldId id="267" r:id="rId15"/>
    <p:sldId id="268" r:id="rId16"/>
    <p:sldId id="269" r:id="rId17"/>
    <p:sldId id="270" r:id="rId18"/>
    <p:sldId id="273" r:id="rId19"/>
    <p:sldId id="274" r:id="rId20"/>
    <p:sldId id="275" r:id="rId21"/>
    <p:sldId id="276" r:id="rId22"/>
    <p:sldId id="27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1242" autoAdjust="0"/>
  </p:normalViewPr>
  <p:slideViewPr>
    <p:cSldViewPr snapToGrid="0">
      <p:cViewPr>
        <p:scale>
          <a:sx n="63" d="100"/>
          <a:sy n="63" d="100"/>
        </p:scale>
        <p:origin x="620"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9170D5-EBD1-49ED-B205-C0E98E949EA5}" type="datetimeFigureOut">
              <a:rPr lang="en-US" smtClean="0"/>
              <a:t>2/13/2025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D5A698-864B-4178-B330-B3A5275E534C}" type="slidenum">
              <a:rPr lang="en-US" smtClean="0"/>
              <a:t>‹#›</a:t>
            </a:fld>
            <a:endParaRPr lang="en-US"/>
          </a:p>
        </p:txBody>
      </p:sp>
    </p:spTree>
    <p:extLst>
      <p:ext uri="{BB962C8B-B14F-4D97-AF65-F5344CB8AC3E}">
        <p14:creationId xmlns:p14="http://schemas.microsoft.com/office/powerpoint/2010/main" val="2397318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5A698-864B-4178-B330-B3A5275E534C}" type="slidenum">
              <a:rPr lang="en-US" smtClean="0"/>
              <a:t>1</a:t>
            </a:fld>
            <a:endParaRPr lang="en-US"/>
          </a:p>
        </p:txBody>
      </p:sp>
    </p:spTree>
    <p:extLst>
      <p:ext uri="{BB962C8B-B14F-4D97-AF65-F5344CB8AC3E}">
        <p14:creationId xmlns:p14="http://schemas.microsoft.com/office/powerpoint/2010/main" val="1740673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5A698-864B-4178-B330-B3A5275E534C}" type="slidenum">
              <a:rPr lang="en-US" smtClean="0"/>
              <a:t>6</a:t>
            </a:fld>
            <a:endParaRPr lang="en-US"/>
          </a:p>
        </p:txBody>
      </p:sp>
    </p:spTree>
    <p:extLst>
      <p:ext uri="{BB962C8B-B14F-4D97-AF65-F5344CB8AC3E}">
        <p14:creationId xmlns:p14="http://schemas.microsoft.com/office/powerpoint/2010/main" val="1910681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A7E47B1-F038-4BE5-912D-7C6599F8670A}"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1144197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7E47B1-F038-4BE5-912D-7C6599F8670A}"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2043485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A7E47B1-F038-4BE5-912D-7C6599F8670A}"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3575864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A7E47B1-F038-4BE5-912D-7C6599F8670A}"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3199526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A7E47B1-F038-4BE5-912D-7C6599F8670A}" type="datetimeFigureOut">
              <a:rPr lang="en-US" smtClean="0"/>
              <a:t>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372447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A7E47B1-F038-4BE5-912D-7C6599F8670A}" type="datetimeFigureOut">
              <a:rPr lang="en-US" smtClean="0"/>
              <a:t>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12834131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7E47B1-F038-4BE5-912D-7C6599F8670A}" type="datetimeFigureOut">
              <a:rPr lang="en-US" smtClean="0"/>
              <a:t>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3474016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7E47B1-F038-4BE5-912D-7C6599F8670A}"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2996366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A7E47B1-F038-4BE5-912D-7C6599F8670A}"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3208166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7E47B1-F038-4BE5-912D-7C6599F8670A}"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2482130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7E47B1-F038-4BE5-912D-7C6599F8670A}"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F2A78FB-09FD-41FF-8B72-A16791823E31}" type="slidenum">
              <a:rPr lang="en-US" smtClean="0"/>
              <a:t>‹#›</a:t>
            </a:fld>
            <a:endParaRPr lang="en-US"/>
          </a:p>
        </p:txBody>
      </p:sp>
    </p:spTree>
    <p:extLst>
      <p:ext uri="{BB962C8B-B14F-4D97-AF65-F5344CB8AC3E}">
        <p14:creationId xmlns:p14="http://schemas.microsoft.com/office/powerpoint/2010/main" val="3620801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12192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5" name="Rectangle 4"/>
          <p:cNvSpPr/>
          <p:nvPr/>
        </p:nvSpPr>
        <p:spPr>
          <a:xfrm>
            <a:off x="-12700" y="6053138"/>
            <a:ext cx="3000375"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6" name="Rectangle 5"/>
          <p:cNvSpPr/>
          <p:nvPr/>
        </p:nvSpPr>
        <p:spPr>
          <a:xfrm>
            <a:off x="3144838" y="6043613"/>
            <a:ext cx="9047162"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8" name="Title 7"/>
          <p:cNvSpPr>
            <a:spLocks noGrp="1"/>
          </p:cNvSpPr>
          <p:nvPr>
            <p:ph type="ctrTitle"/>
          </p:nvPr>
        </p:nvSpPr>
        <p:spPr>
          <a:xfrm>
            <a:off x="3149600" y="4038600"/>
            <a:ext cx="8636000" cy="1828800"/>
          </a:xfrm>
        </p:spPr>
        <p:txBody>
          <a:bodyPr anchor="b"/>
          <a:lstStyle>
            <a:lvl1pPr>
              <a:defRPr cap="all" baseline="0"/>
            </a:lvl1pPr>
          </a:lstStyle>
          <a:p>
            <a:r>
              <a:rPr lang="en-US"/>
              <a:t>Click to edit Master title style</a:t>
            </a:r>
          </a:p>
        </p:txBody>
      </p:sp>
      <p:sp>
        <p:nvSpPr>
          <p:cNvPr id="9" name="Subtitle 8"/>
          <p:cNvSpPr>
            <a:spLocks noGrp="1"/>
          </p:cNvSpPr>
          <p:nvPr>
            <p:ph type="subTitle" idx="1"/>
          </p:nvPr>
        </p:nvSpPr>
        <p:spPr>
          <a:xfrm>
            <a:off x="3149600" y="6050037"/>
            <a:ext cx="89408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101600" y="6069013"/>
            <a:ext cx="2743200" cy="685800"/>
          </a:xfrm>
        </p:spPr>
        <p:txBody>
          <a:bodyPr>
            <a:noAutofit/>
          </a:bodyPr>
          <a:lstStyle>
            <a:lvl1pPr algn="ctr">
              <a:defRPr sz="2000" smtClean="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C0EE5BA-C90D-4340-8188-3663E78ACD0C}" type="datetimeFigureOut">
              <a:rPr kumimoji="0" lang="en-US" sz="2000" b="0"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2/13/2025</a:t>
            </a:fld>
            <a:endParaRPr kumimoji="0" lang="en-US" sz="2000" b="0" i="0" u="none" strike="noStrike" kern="1200" cap="none" spc="0" normalizeH="0" baseline="0" noProof="0">
              <a:ln>
                <a:noFill/>
              </a:ln>
              <a:solidFill>
                <a:srgbClr val="FFFFFF"/>
              </a:solidFill>
              <a:effectLst/>
              <a:uLnTx/>
              <a:uFillTx/>
              <a:latin typeface="Tw Cen MT"/>
              <a:ea typeface="+mn-ea"/>
              <a:cs typeface="+mn-cs"/>
            </a:endParaRPr>
          </a:p>
        </p:txBody>
      </p:sp>
      <p:sp>
        <p:nvSpPr>
          <p:cNvPr id="10" name="Footer Placeholder 16"/>
          <p:cNvSpPr>
            <a:spLocks noGrp="1"/>
          </p:cNvSpPr>
          <p:nvPr>
            <p:ph type="ftr" sz="quarter" idx="11"/>
          </p:nvPr>
        </p:nvSpPr>
        <p:spPr>
          <a:xfrm>
            <a:off x="2781300" y="236538"/>
            <a:ext cx="7823200" cy="365125"/>
          </a:xfrm>
        </p:spPr>
        <p:txBody>
          <a:bodyPr/>
          <a:lstStyle>
            <a:lvl1pPr algn="r">
              <a:defRPr>
                <a:solidFill>
                  <a:srgbClr val="EBDDC3"/>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EBDDC3"/>
              </a:solidFill>
              <a:effectLst/>
              <a:uLnTx/>
              <a:uFillTx/>
              <a:latin typeface="Tw Cen MT"/>
              <a:ea typeface="+mn-ea"/>
              <a:cs typeface="+mn-cs"/>
            </a:endParaRPr>
          </a:p>
        </p:txBody>
      </p:sp>
      <p:sp>
        <p:nvSpPr>
          <p:cNvPr id="11" name="Slide Number Placeholder 28"/>
          <p:cNvSpPr>
            <a:spLocks noGrp="1"/>
          </p:cNvSpPr>
          <p:nvPr>
            <p:ph type="sldNum" sz="quarter" idx="12"/>
          </p:nvPr>
        </p:nvSpPr>
        <p:spPr>
          <a:xfrm>
            <a:off x="10668000" y="228600"/>
            <a:ext cx="1117600" cy="381000"/>
          </a:xfrm>
        </p:spPr>
        <p:txBody>
          <a:bodyPr/>
          <a:lstStyle>
            <a:lvl1pPr>
              <a:defRPr smtClean="0">
                <a:solidFill>
                  <a:srgbClr val="EBDDC3"/>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0AC56552-0839-4ADA-9B06-427B1F9B3955}" type="slidenum">
              <a:rPr kumimoji="0" lang="en-US" sz="1400" b="1" i="0" u="none" strike="noStrike" kern="1200" cap="none" spc="0" normalizeH="0" baseline="0" noProof="0">
                <a:ln>
                  <a:noFill/>
                </a:ln>
                <a:solidFill>
                  <a:srgbClr val="EBDDC3"/>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a:ln>
                <a:noFill/>
              </a:ln>
              <a:solidFill>
                <a:srgbClr val="EBDDC3"/>
              </a:solidFill>
              <a:effectLst/>
              <a:uLnTx/>
              <a:uFillTx/>
              <a:latin typeface="Tw Cen MT"/>
              <a:ea typeface="+mn-ea"/>
              <a:cs typeface="+mn-cs"/>
            </a:endParaRPr>
          </a:p>
        </p:txBody>
      </p:sp>
    </p:spTree>
    <p:extLst>
      <p:ext uri="{BB962C8B-B14F-4D97-AF65-F5344CB8AC3E}">
        <p14:creationId xmlns:p14="http://schemas.microsoft.com/office/powerpoint/2010/main" val="255078986"/>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6864" y="228600"/>
            <a:ext cx="10871200" cy="990600"/>
          </a:xfrm>
        </p:spPr>
        <p:txBody>
          <a:bodyPr/>
          <a:lstStyle/>
          <a:p>
            <a:r>
              <a:rPr lang="en-US"/>
              <a:t>Click to edit Master title style</a:t>
            </a:r>
          </a:p>
        </p:txBody>
      </p:sp>
      <p:sp>
        <p:nvSpPr>
          <p:cNvPr id="8" name="Content Placeholder 7"/>
          <p:cNvSpPr>
            <a:spLocks noGrp="1"/>
          </p:cNvSpPr>
          <p:nvPr>
            <p:ph sz="quarter" idx="1"/>
          </p:nvPr>
        </p:nvSpPr>
        <p:spPr>
          <a:xfrm>
            <a:off x="816864" y="1600200"/>
            <a:ext cx="108712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C41E21C8-7015-43F9-88F5-1DBC72860FB9}"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5" name="Footer Placeholder 2"/>
          <p:cNvSpPr>
            <a:spLocks noGrp="1"/>
          </p:cNvSpPr>
          <p:nvPr>
            <p:ph type="ftr" sz="quarter" idx="11"/>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6"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9807B72A-84B7-4215-A120-2D8CB0231F15}" type="slidenum">
              <a:rPr kumimoji="0" lang="en-US" sz="1400" b="1"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a:ln>
                <a:noFill/>
              </a:ln>
              <a:solidFill>
                <a:srgbClr val="FFFFFF"/>
              </a:solidFill>
              <a:effectLst/>
              <a:uLnTx/>
              <a:uFillTx/>
              <a:latin typeface="Tw Cen MT"/>
              <a:ea typeface="+mn-ea"/>
              <a:cs typeface="+mn-cs"/>
            </a:endParaRPr>
          </a:p>
        </p:txBody>
      </p:sp>
    </p:spTree>
    <p:extLst>
      <p:ext uri="{BB962C8B-B14F-4D97-AF65-F5344CB8AC3E}">
        <p14:creationId xmlns:p14="http://schemas.microsoft.com/office/powerpoint/2010/main" val="2485536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12192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5" name="Rectangle 4"/>
          <p:cNvSpPr/>
          <p:nvPr/>
        </p:nvSpPr>
        <p:spPr>
          <a:xfrm>
            <a:off x="0" y="1600200"/>
            <a:ext cx="17272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6" name="Rectangle 5"/>
          <p:cNvSpPr/>
          <p:nvPr/>
        </p:nvSpPr>
        <p:spPr>
          <a:xfrm>
            <a:off x="1828800" y="1600200"/>
            <a:ext cx="103632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3" name="Text Placeholder 2"/>
          <p:cNvSpPr>
            <a:spLocks noGrp="1"/>
          </p:cNvSpPr>
          <p:nvPr>
            <p:ph type="body" idx="1"/>
          </p:nvPr>
        </p:nvSpPr>
        <p:spPr>
          <a:xfrm>
            <a:off x="1828801" y="2743200"/>
            <a:ext cx="9497484"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AAA2512-EC3E-4BED-9B42-97DB9E6A60B1}"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8" name="Slide Number Placeholder 12"/>
          <p:cNvSpPr>
            <a:spLocks noGrp="1"/>
          </p:cNvSpPr>
          <p:nvPr>
            <p:ph type="sldNum" sz="quarter" idx="11"/>
          </p:nvPr>
        </p:nvSpPr>
        <p:spPr>
          <a:xfrm>
            <a:off x="0" y="1752600"/>
            <a:ext cx="1727200" cy="701675"/>
          </a:xfrm>
        </p:spPr>
        <p:txBody>
          <a:bodyPr>
            <a:noAutofit/>
          </a:bodyPr>
          <a:lstStyle>
            <a:lvl1pPr>
              <a:defRPr sz="2400" smtClean="0">
                <a:solidFill>
                  <a:srgbClr val="FFFFFF"/>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6619F766-BF13-4F49-ABC8-124FAB43A1E8}" type="slidenum">
              <a:rPr kumimoji="0" lang="en-US" sz="2400" b="1"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2400" b="1" i="0" u="none" strike="noStrike" kern="1200" cap="none" spc="0" normalizeH="0" baseline="0" noProof="0">
              <a:ln>
                <a:noFill/>
              </a:ln>
              <a:solidFill>
                <a:srgbClr val="FFFFFF"/>
              </a:solidFill>
              <a:effectLst/>
              <a:uLnTx/>
              <a:uFillTx/>
              <a:latin typeface="Tw Cen MT"/>
              <a:ea typeface="+mn-ea"/>
              <a:cs typeface="+mn-cs"/>
            </a:endParaRPr>
          </a:p>
        </p:txBody>
      </p:sp>
      <p:sp>
        <p:nvSpPr>
          <p:cNvPr id="9" name="Footer Placeholder 13"/>
          <p:cNvSpPr>
            <a:spLocks noGrp="1"/>
          </p:cNvSpPr>
          <p:nvPr>
            <p:ph type="ftr" sz="quarter" idx="12"/>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Tree>
    <p:extLst>
      <p:ext uri="{BB962C8B-B14F-4D97-AF65-F5344CB8AC3E}">
        <p14:creationId xmlns:p14="http://schemas.microsoft.com/office/powerpoint/2010/main" val="2386589057"/>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812800" y="1589567"/>
            <a:ext cx="5181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6459868" y="1589567"/>
            <a:ext cx="51816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B77C3F6F-C8C5-416E-9FBB-EAEC878CE6AF}"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6" name="Slide Number Placeholder 9"/>
          <p:cNvSpPr>
            <a:spLocks noGrp="1"/>
          </p:cNvSpPr>
          <p:nvPr>
            <p:ph type="sldNum" sz="quarter" idx="11"/>
          </p:nvPr>
        </p:nvSpPr>
        <p:spPr/>
        <p:txBody>
          <a:bodyPr rtlCol="0"/>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3FD5BB3F-26F3-4C09-B5FC-1C1E39ED2D6D}" type="slidenum">
              <a:rPr kumimoji="0" lang="en-US" sz="1400" b="1"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a:ln>
                <a:noFill/>
              </a:ln>
              <a:solidFill>
                <a:srgbClr val="FFFFFF"/>
              </a:solidFill>
              <a:effectLst/>
              <a:uLnTx/>
              <a:uFillTx/>
              <a:latin typeface="Tw Cen MT"/>
              <a:ea typeface="+mn-ea"/>
              <a:cs typeface="+mn-cs"/>
            </a:endParaRPr>
          </a:p>
        </p:txBody>
      </p:sp>
      <p:sp>
        <p:nvSpPr>
          <p:cNvPr id="7" name="Footer Placeholder 11"/>
          <p:cNvSpPr>
            <a:spLocks noGrp="1"/>
          </p:cNvSpPr>
          <p:nvPr>
            <p:ph type="ftr" sz="quarter" idx="12"/>
          </p:nvPr>
        </p:nvSpPr>
        <p:spPr/>
        <p:txBody>
          <a:bodyPr rtlCol="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Tree>
    <p:extLst>
      <p:ext uri="{BB962C8B-B14F-4D97-AF65-F5344CB8AC3E}">
        <p14:creationId xmlns:p14="http://schemas.microsoft.com/office/powerpoint/2010/main" val="21060887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11200" y="273050"/>
            <a:ext cx="108712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812800" y="2438400"/>
            <a:ext cx="51816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6400800" y="2438400"/>
            <a:ext cx="51816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92E409C-C3AF-4D25-89A0-E0D670513F6B}"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8" name="Slide Number Placeholder 11"/>
          <p:cNvSpPr>
            <a:spLocks noGrp="1"/>
          </p:cNvSpPr>
          <p:nvPr>
            <p:ph type="sldNum" sz="quarter" idx="11"/>
          </p:nvPr>
        </p:nvSpPr>
        <p:spPr/>
        <p:txBody>
          <a:bodyPr rtlCol="0"/>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4871A787-2EED-4992-B57A-563871ED697A}" type="slidenum">
              <a:rPr kumimoji="0" lang="en-US" sz="1400" b="1"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a:ln>
                <a:noFill/>
              </a:ln>
              <a:solidFill>
                <a:srgbClr val="FFFFFF"/>
              </a:solidFill>
              <a:effectLst/>
              <a:uLnTx/>
              <a:uFillTx/>
              <a:latin typeface="Tw Cen MT"/>
              <a:ea typeface="+mn-ea"/>
              <a:cs typeface="+mn-cs"/>
            </a:endParaRPr>
          </a:p>
        </p:txBody>
      </p:sp>
      <p:sp>
        <p:nvSpPr>
          <p:cNvPr id="9" name="Footer Placeholder 13"/>
          <p:cNvSpPr>
            <a:spLocks noGrp="1"/>
          </p:cNvSpPr>
          <p:nvPr>
            <p:ph type="ftr" sz="quarter" idx="12"/>
          </p:nvPr>
        </p:nvSpPr>
        <p:spPr/>
        <p:txBody>
          <a:bodyPr rtlCol="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Tree>
    <p:extLst>
      <p:ext uri="{BB962C8B-B14F-4D97-AF65-F5344CB8AC3E}">
        <p14:creationId xmlns:p14="http://schemas.microsoft.com/office/powerpoint/2010/main" val="10174339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208E26FE-EB42-4A42-9F1B-813BED01E5D9}"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4" name="Footer Placeholder 2"/>
          <p:cNvSpPr>
            <a:spLocks noGrp="1"/>
          </p:cNvSpPr>
          <p:nvPr>
            <p:ph type="ftr" sz="quarter" idx="11"/>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5"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8B0A7022-1903-4DDD-A8C9-41783F1400A7}" type="slidenum">
              <a:rPr kumimoji="0" lang="en-US" sz="1400" b="1"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a:ln>
                <a:noFill/>
              </a:ln>
              <a:solidFill>
                <a:srgbClr val="FFFFFF"/>
              </a:solidFill>
              <a:effectLst/>
              <a:uLnTx/>
              <a:uFillTx/>
              <a:latin typeface="Tw Cen MT"/>
              <a:ea typeface="+mn-ea"/>
              <a:cs typeface="+mn-cs"/>
            </a:endParaRPr>
          </a:p>
        </p:txBody>
      </p:sp>
    </p:spTree>
    <p:extLst>
      <p:ext uri="{BB962C8B-B14F-4D97-AF65-F5344CB8AC3E}">
        <p14:creationId xmlns:p14="http://schemas.microsoft.com/office/powerpoint/2010/main" val="21787050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EDA1716-F3D0-4319-B058-6CE90ABDE3DD}"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3" name="Footer Placeholder 2"/>
          <p:cNvSpPr>
            <a:spLocks noGrp="1"/>
          </p:cNvSpPr>
          <p:nvPr>
            <p:ph type="ftr" sz="quarter" idx="11"/>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4" name="Slide Number Placeholder 3"/>
          <p:cNvSpPr>
            <a:spLocks noGrp="1"/>
          </p:cNvSpPr>
          <p:nvPr>
            <p:ph type="sldNum" sz="quarter" idx="12"/>
          </p:nvPr>
        </p:nvSpPr>
        <p:spPr>
          <a:xfrm>
            <a:off x="0" y="6248400"/>
            <a:ext cx="711200" cy="381000"/>
          </a:xfrm>
        </p:spPr>
        <p:txBody>
          <a:bodyPr/>
          <a:lstStyle>
            <a:lvl1pPr>
              <a:defRPr smtClean="0">
                <a:solidFill>
                  <a:srgbClr val="775F55"/>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AF6334B2-6533-472D-BC74-F46EC349FEFC}" type="slidenum">
              <a:rPr kumimoji="0" lang="en-US" sz="1400" b="1" i="0" u="none" strike="noStrike" kern="1200" cap="none" spc="0" normalizeH="0" baseline="0" noProof="0">
                <a:ln>
                  <a:noFill/>
                </a:ln>
                <a:solidFill>
                  <a:srgbClr val="775F55"/>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a:ln>
                <a:noFill/>
              </a:ln>
              <a:solidFill>
                <a:srgbClr val="775F55"/>
              </a:solidFill>
              <a:effectLst/>
              <a:uLnTx/>
              <a:uFillTx/>
              <a:latin typeface="Tw Cen MT"/>
              <a:ea typeface="+mn-ea"/>
              <a:cs typeface="+mn-cs"/>
            </a:endParaRPr>
          </a:p>
        </p:txBody>
      </p:sp>
    </p:spTree>
    <p:extLst>
      <p:ext uri="{BB962C8B-B14F-4D97-AF65-F5344CB8AC3E}">
        <p14:creationId xmlns:p14="http://schemas.microsoft.com/office/powerpoint/2010/main" val="129025403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800" y="273050"/>
            <a:ext cx="107696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812800" y="1752600"/>
            <a:ext cx="21336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3149600" y="1752600"/>
            <a:ext cx="85344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C1F0FD0-D95C-434A-AAA7-EEB9669C0B4D}"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6" name="Footer Placeholder 2"/>
          <p:cNvSpPr>
            <a:spLocks noGrp="1"/>
          </p:cNvSpPr>
          <p:nvPr>
            <p:ph type="ftr" sz="quarter" idx="11"/>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7"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1312C6FD-EC91-4B67-95A1-B42CAA2A428D}" type="slidenum">
              <a:rPr kumimoji="0" lang="en-US" sz="1400" b="1"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a:ln>
                <a:noFill/>
              </a:ln>
              <a:solidFill>
                <a:srgbClr val="FFFFFF"/>
              </a:solidFill>
              <a:effectLst/>
              <a:uLnTx/>
              <a:uFillTx/>
              <a:latin typeface="Tw Cen MT"/>
              <a:ea typeface="+mn-ea"/>
              <a:cs typeface="+mn-cs"/>
            </a:endParaRPr>
          </a:p>
        </p:txBody>
      </p:sp>
    </p:spTree>
    <p:extLst>
      <p:ext uri="{BB962C8B-B14F-4D97-AF65-F5344CB8AC3E}">
        <p14:creationId xmlns:p14="http://schemas.microsoft.com/office/powerpoint/2010/main" val="23797612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12700" y="4572000"/>
            <a:ext cx="12192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6" name="Rectangle 5"/>
          <p:cNvSpPr/>
          <p:nvPr/>
        </p:nvSpPr>
        <p:spPr>
          <a:xfrm>
            <a:off x="-12700" y="4664075"/>
            <a:ext cx="1951038"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7" name="Rectangle 6"/>
          <p:cNvSpPr/>
          <p:nvPr/>
        </p:nvSpPr>
        <p:spPr>
          <a:xfrm>
            <a:off x="2060575" y="4654550"/>
            <a:ext cx="10131425"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8" name="Rectangle 7"/>
          <p:cNvSpPr/>
          <p:nvPr/>
        </p:nvSpPr>
        <p:spPr bwMode="white">
          <a:xfrm>
            <a:off x="1930400" y="0"/>
            <a:ext cx="133350"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4" name="Text Placeholder 3"/>
          <p:cNvSpPr>
            <a:spLocks noGrp="1"/>
          </p:cNvSpPr>
          <p:nvPr>
            <p:ph type="body" sz="half" idx="2"/>
          </p:nvPr>
        </p:nvSpPr>
        <p:spPr>
          <a:xfrm>
            <a:off x="2133600" y="5486400"/>
            <a:ext cx="97536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2133600" y="4648200"/>
            <a:ext cx="97536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2080768" y="0"/>
            <a:ext cx="10111232"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8331200" y="6248400"/>
            <a:ext cx="3556000" cy="365125"/>
          </a:xfrm>
        </p:spPr>
        <p:txBody>
          <a:bodyPr rtlCol="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07BA04B-D31F-4946-802B-C9805EC9E3DE}"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10" name="Slide Number Placeholder 12"/>
          <p:cNvSpPr>
            <a:spLocks noGrp="1"/>
          </p:cNvSpPr>
          <p:nvPr>
            <p:ph type="sldNum" sz="quarter" idx="11"/>
          </p:nvPr>
        </p:nvSpPr>
        <p:spPr>
          <a:xfrm>
            <a:off x="0" y="4667250"/>
            <a:ext cx="1930400" cy="663575"/>
          </a:xfrm>
        </p:spPr>
        <p:txBody>
          <a:bodyPr rtlCol="0"/>
          <a:lstStyle>
            <a:lvl1pPr>
              <a:defRPr sz="2800" smtClean="0"/>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06C6E22D-3CD4-47C6-B073-BBE486F7261D}" type="slidenum">
              <a:rPr kumimoji="0" lang="en-US" sz="2800" b="1"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2800" b="1" i="0" u="none" strike="noStrike" kern="1200" cap="none" spc="0" normalizeH="0" baseline="0" noProof="0">
              <a:ln>
                <a:noFill/>
              </a:ln>
              <a:solidFill>
                <a:srgbClr val="FFFFFF"/>
              </a:solidFill>
              <a:effectLst/>
              <a:uLnTx/>
              <a:uFillTx/>
              <a:latin typeface="Tw Cen MT"/>
              <a:ea typeface="+mn-ea"/>
              <a:cs typeface="+mn-cs"/>
            </a:endParaRPr>
          </a:p>
        </p:txBody>
      </p:sp>
      <p:sp>
        <p:nvSpPr>
          <p:cNvPr id="11" name="Footer Placeholder 13"/>
          <p:cNvSpPr>
            <a:spLocks noGrp="1"/>
          </p:cNvSpPr>
          <p:nvPr>
            <p:ph type="ftr" sz="quarter" idx="12"/>
          </p:nvPr>
        </p:nvSpPr>
        <p:spPr>
          <a:xfrm>
            <a:off x="2133600" y="6248400"/>
            <a:ext cx="6096000" cy="365125"/>
          </a:xfrm>
        </p:spPr>
        <p:txBody>
          <a:bodyPr rtlCol="0"/>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Tree>
    <p:extLst>
      <p:ext uri="{BB962C8B-B14F-4D97-AF65-F5344CB8AC3E}">
        <p14:creationId xmlns:p14="http://schemas.microsoft.com/office/powerpoint/2010/main" val="2806425546"/>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864EAD8-9551-47AA-BFB6-F91F966A7787}"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5" name="Footer Placeholder 2"/>
          <p:cNvSpPr>
            <a:spLocks noGrp="1"/>
          </p:cNvSpPr>
          <p:nvPr>
            <p:ph type="ftr" sz="quarter" idx="11"/>
          </p:nvPr>
        </p:nvSpPr>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6" name="Slide Number Placeholder 22"/>
          <p:cNvSpPr>
            <a:spLocks noGrp="1"/>
          </p:cNvSpPr>
          <p:nvPr>
            <p:ph type="sldNum" sz="quarter" idx="12"/>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E5B8767-00EC-4833-9447-FFE1DD59F4FC}" type="slidenum">
              <a:rPr kumimoji="0" lang="en-US" sz="1400" b="1"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a:ln>
                <a:noFill/>
              </a:ln>
              <a:solidFill>
                <a:srgbClr val="FFFFFF"/>
              </a:solidFill>
              <a:effectLst/>
              <a:uLnTx/>
              <a:uFillTx/>
              <a:latin typeface="Tw Cen MT"/>
              <a:ea typeface="+mn-ea"/>
              <a:cs typeface="+mn-cs"/>
            </a:endParaRPr>
          </a:p>
        </p:txBody>
      </p:sp>
    </p:spTree>
    <p:extLst>
      <p:ext uri="{BB962C8B-B14F-4D97-AF65-F5344CB8AC3E}">
        <p14:creationId xmlns:p14="http://schemas.microsoft.com/office/powerpoint/2010/main" val="9168537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8128000" y="0"/>
            <a:ext cx="427038"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5" name="Rectangle 4"/>
          <p:cNvSpPr/>
          <p:nvPr/>
        </p:nvSpPr>
        <p:spPr>
          <a:xfrm>
            <a:off x="8189913" y="609600"/>
            <a:ext cx="3048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6" name="Rectangle 5"/>
          <p:cNvSpPr/>
          <p:nvPr/>
        </p:nvSpPr>
        <p:spPr>
          <a:xfrm>
            <a:off x="8189913" y="0"/>
            <a:ext cx="3048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2" name="Vertical Title 1"/>
          <p:cNvSpPr>
            <a:spLocks noGrp="1"/>
          </p:cNvSpPr>
          <p:nvPr>
            <p:ph type="title" orient="vert"/>
          </p:nvPr>
        </p:nvSpPr>
        <p:spPr>
          <a:xfrm>
            <a:off x="8737600" y="609601"/>
            <a:ext cx="27432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609600"/>
            <a:ext cx="74168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8737600" y="6248400"/>
            <a:ext cx="2946400" cy="365125"/>
          </a:xfr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3E60F2D-8FF4-4745-AF9D-FEE7841C43CA}"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8" name="Footer Placeholder 4"/>
          <p:cNvSpPr>
            <a:spLocks noGrp="1"/>
          </p:cNvSpPr>
          <p:nvPr>
            <p:ph type="ftr" sz="quarter" idx="11"/>
          </p:nvPr>
        </p:nvSpPr>
        <p:spPr>
          <a:xfrm>
            <a:off x="609600" y="6248400"/>
            <a:ext cx="7431088" cy="365125"/>
          </a:xfr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9" name="Slide Number Placeholder 5"/>
          <p:cNvSpPr>
            <a:spLocks noGrp="1"/>
          </p:cNvSpPr>
          <p:nvPr>
            <p:ph type="sldNum" sz="quarter" idx="12"/>
          </p:nvPr>
        </p:nvSpPr>
        <p:spPr>
          <a:xfrm rot="5400000">
            <a:off x="8074819" y="103981"/>
            <a:ext cx="533400" cy="325438"/>
          </a:xfr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3C0EAA5B-10EF-4A81-81CE-38FA9CD3ABCE}" type="slidenum">
              <a:rPr kumimoji="0" lang="en-US" sz="1400" b="1"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a:ln>
                <a:noFill/>
              </a:ln>
              <a:solidFill>
                <a:srgbClr val="FFFFFF"/>
              </a:solidFill>
              <a:effectLst/>
              <a:uLnTx/>
              <a:uFillTx/>
              <a:latin typeface="Tw Cen MT"/>
              <a:ea typeface="+mn-ea"/>
              <a:cs typeface="+mn-cs"/>
            </a:endParaRPr>
          </a:p>
        </p:txBody>
      </p:sp>
    </p:spTree>
    <p:extLst>
      <p:ext uri="{BB962C8B-B14F-4D97-AF65-F5344CB8AC3E}">
        <p14:creationId xmlns:p14="http://schemas.microsoft.com/office/powerpoint/2010/main" val="116634108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7E47B1-F038-4BE5-912D-7C6599F8670A}" type="datetimeFigureOut">
              <a:rPr lang="en-US" smtClean="0"/>
              <a:t>2/13/2025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2A78FB-09FD-41FF-8B72-A16791823E31}" type="slidenum">
              <a:rPr lang="en-US" smtClean="0"/>
              <a:t>‹#›</a:t>
            </a:fld>
            <a:endParaRPr lang="en-US"/>
          </a:p>
        </p:txBody>
      </p:sp>
    </p:spTree>
    <p:extLst>
      <p:ext uri="{BB962C8B-B14F-4D97-AF65-F5344CB8AC3E}">
        <p14:creationId xmlns:p14="http://schemas.microsoft.com/office/powerpoint/2010/main" val="2410093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21"/>
          <p:cNvSpPr>
            <a:spLocks noGrp="1"/>
          </p:cNvSpPr>
          <p:nvPr>
            <p:ph type="title"/>
          </p:nvPr>
        </p:nvSpPr>
        <p:spPr bwMode="auto">
          <a:xfrm>
            <a:off x="812800" y="228600"/>
            <a:ext cx="108712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12"/>
          <p:cNvSpPr>
            <a:spLocks noGrp="1"/>
          </p:cNvSpPr>
          <p:nvPr>
            <p:ph type="body" idx="1"/>
          </p:nvPr>
        </p:nvSpPr>
        <p:spPr bwMode="auto">
          <a:xfrm>
            <a:off x="817563" y="1600200"/>
            <a:ext cx="108712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8128000" y="6248400"/>
            <a:ext cx="3556000" cy="365125"/>
          </a:xfrm>
          <a:prstGeom prst="rect">
            <a:avLst/>
          </a:prstGeom>
        </p:spPr>
        <p:txBody>
          <a:bodyPr vert="horz" anchor="ctr" anchorCtr="0"/>
          <a:lstStyle>
            <a:lvl1pPr algn="l" eaLnBrk="1" fontAlgn="auto" latinLnBrk="0" hangingPunct="1">
              <a:spcBef>
                <a:spcPts val="0"/>
              </a:spcBef>
              <a:spcAft>
                <a:spcPts val="0"/>
              </a:spcAft>
              <a:defRPr kumimoji="0" sz="1400" smtClean="0">
                <a:solidFill>
                  <a:srgbClr val="775F55"/>
                </a:solidFill>
                <a:latin typeface="Tw Cen MT"/>
                <a:cs typeface="+mn-cs"/>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B80A542-7C36-4F5B-9756-3853AA99379C}" type="datetimeFigureOut">
              <a:rPr kumimoji="0" lang="en-US" sz="1400" b="0" i="0" u="none" strike="noStrike" kern="1200" cap="none" spc="0" normalizeH="0" baseline="0" noProof="0">
                <a:ln>
                  <a:noFill/>
                </a:ln>
                <a:solidFill>
                  <a:srgbClr val="775F55"/>
                </a:solidFill>
                <a:effectLst/>
                <a:uLnTx/>
                <a:uFillTx/>
                <a:latin typeface="Tw Cen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2/13/2025</a:t>
            </a:fld>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3" name="Footer Placeholder 2"/>
          <p:cNvSpPr>
            <a:spLocks noGrp="1"/>
          </p:cNvSpPr>
          <p:nvPr>
            <p:ph type="ftr" sz="quarter" idx="3"/>
          </p:nvPr>
        </p:nvSpPr>
        <p:spPr>
          <a:xfrm>
            <a:off x="812800" y="6248400"/>
            <a:ext cx="7227888" cy="365125"/>
          </a:xfrm>
          <a:prstGeom prst="rect">
            <a:avLst/>
          </a:prstGeom>
        </p:spPr>
        <p:txBody>
          <a:bodyPr vert="horz" anchor="ctr"/>
          <a:lstStyle>
            <a:lvl1pPr algn="r" eaLnBrk="1" fontAlgn="auto" latinLnBrk="0" hangingPunct="1">
              <a:spcBef>
                <a:spcPts val="0"/>
              </a:spcBef>
              <a:spcAft>
                <a:spcPts val="0"/>
              </a:spcAft>
              <a:defRPr kumimoji="0" sz="1400">
                <a:solidFill>
                  <a:srgbClr val="775F55"/>
                </a:solidFill>
                <a:latin typeface="Tw Cen MT"/>
                <a:cs typeface="+mn-cs"/>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775F55"/>
              </a:solidFill>
              <a:effectLst/>
              <a:uLnTx/>
              <a:uFillTx/>
              <a:latin typeface="Tw Cen MT"/>
              <a:ea typeface="+mn-ea"/>
              <a:cs typeface="+mn-cs"/>
            </a:endParaRPr>
          </a:p>
        </p:txBody>
      </p:sp>
      <p:sp>
        <p:nvSpPr>
          <p:cNvPr id="7" name="Rectangle 6"/>
          <p:cNvSpPr/>
          <p:nvPr/>
        </p:nvSpPr>
        <p:spPr bwMode="white">
          <a:xfrm>
            <a:off x="0" y="1235075"/>
            <a:ext cx="12192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8" name="Rectangle 7"/>
          <p:cNvSpPr/>
          <p:nvPr/>
        </p:nvSpPr>
        <p:spPr>
          <a:xfrm>
            <a:off x="0" y="1279525"/>
            <a:ext cx="7112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9" name="Rectangle 8"/>
          <p:cNvSpPr/>
          <p:nvPr/>
        </p:nvSpPr>
        <p:spPr>
          <a:xfrm>
            <a:off x="787400" y="1279525"/>
            <a:ext cx="1140460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w Cen MT"/>
              <a:ea typeface="+mn-ea"/>
              <a:cs typeface="+mn-cs"/>
            </a:endParaRPr>
          </a:p>
        </p:txBody>
      </p:sp>
      <p:sp>
        <p:nvSpPr>
          <p:cNvPr id="23" name="Slide Number Placeholder 22"/>
          <p:cNvSpPr>
            <a:spLocks noGrp="1"/>
          </p:cNvSpPr>
          <p:nvPr>
            <p:ph type="sldNum" sz="quarter" idx="4"/>
          </p:nvPr>
        </p:nvSpPr>
        <p:spPr>
          <a:xfrm>
            <a:off x="0" y="1271588"/>
            <a:ext cx="711200" cy="244475"/>
          </a:xfrm>
          <a:prstGeom prst="rect">
            <a:avLst/>
          </a:prstGeom>
        </p:spPr>
        <p:txBody>
          <a:bodyPr vert="horz" anchor="ctr" anchorCtr="0">
            <a:normAutofit/>
          </a:bodyPr>
          <a:lstStyle>
            <a:lvl1pPr algn="ctr" eaLnBrk="1" fontAlgn="auto" latinLnBrk="0" hangingPunct="1">
              <a:spcBef>
                <a:spcPts val="0"/>
              </a:spcBef>
              <a:spcAft>
                <a:spcPts val="0"/>
              </a:spcAft>
              <a:defRPr kumimoji="0" sz="1400" b="1" smtClean="0">
                <a:solidFill>
                  <a:srgbClr val="FFFFFF"/>
                </a:solidFill>
                <a:latin typeface="Tw Cen MT"/>
                <a:cs typeface="+mn-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BA8C781F-3057-427A-AB01-F1C53E7D2678}" type="slidenum">
              <a:rPr kumimoji="0" lang="en-US" sz="1400" b="1" i="0" u="none" strike="noStrike" kern="1200" cap="none" spc="0" normalizeH="0" baseline="0" noProof="0">
                <a:ln>
                  <a:noFill/>
                </a:ln>
                <a:solidFill>
                  <a:srgbClr val="FFFFFF"/>
                </a:solidFill>
                <a:effectLst/>
                <a:uLnTx/>
                <a:uFillTx/>
                <a:latin typeface="Tw Cen M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1400" b="1" i="0" u="none" strike="noStrike" kern="1200" cap="none" spc="0" normalizeH="0" baseline="0" noProof="0">
              <a:ln>
                <a:noFill/>
              </a:ln>
              <a:solidFill>
                <a:srgbClr val="FFFFFF"/>
              </a:solidFill>
              <a:effectLst/>
              <a:uLnTx/>
              <a:uFillTx/>
              <a:latin typeface="Tw Cen MT"/>
              <a:ea typeface="+mn-ea"/>
              <a:cs typeface="+mn-cs"/>
            </a:endParaRPr>
          </a:p>
        </p:txBody>
      </p:sp>
    </p:spTree>
    <p:extLst>
      <p:ext uri="{BB962C8B-B14F-4D97-AF65-F5344CB8AC3E}">
        <p14:creationId xmlns:p14="http://schemas.microsoft.com/office/powerpoint/2010/main" val="34047589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fontAlgn="base">
        <a:spcBef>
          <a:spcPct val="0"/>
        </a:spcBef>
        <a:spcAft>
          <a:spcPct val="0"/>
        </a:spcAft>
        <a:defRPr sz="4400" kern="1200">
          <a:solidFill>
            <a:schemeClr val="tx2"/>
          </a:solidFill>
          <a:latin typeface="+mj-lt"/>
          <a:ea typeface="+mj-ea"/>
          <a:cs typeface="+mj-cs"/>
        </a:defRPr>
      </a:lvl1pPr>
      <a:lvl2pPr algn="l" rtl="0" fontAlgn="base">
        <a:spcBef>
          <a:spcPct val="0"/>
        </a:spcBef>
        <a:spcAft>
          <a:spcPct val="0"/>
        </a:spcAft>
        <a:defRPr sz="4400">
          <a:solidFill>
            <a:schemeClr val="tx2"/>
          </a:solidFill>
          <a:latin typeface="Tw Cen MT" panose="020B0602020104020603" pitchFamily="34" charset="0"/>
        </a:defRPr>
      </a:lvl2pPr>
      <a:lvl3pPr algn="l" rtl="0" fontAlgn="base">
        <a:spcBef>
          <a:spcPct val="0"/>
        </a:spcBef>
        <a:spcAft>
          <a:spcPct val="0"/>
        </a:spcAft>
        <a:defRPr sz="4400">
          <a:solidFill>
            <a:schemeClr val="tx2"/>
          </a:solidFill>
          <a:latin typeface="Tw Cen MT" panose="020B0602020104020603" pitchFamily="34" charset="0"/>
        </a:defRPr>
      </a:lvl3pPr>
      <a:lvl4pPr algn="l" rtl="0" fontAlgn="base">
        <a:spcBef>
          <a:spcPct val="0"/>
        </a:spcBef>
        <a:spcAft>
          <a:spcPct val="0"/>
        </a:spcAft>
        <a:defRPr sz="4400">
          <a:solidFill>
            <a:schemeClr val="tx2"/>
          </a:solidFill>
          <a:latin typeface="Tw Cen MT" panose="020B0602020104020603" pitchFamily="34" charset="0"/>
        </a:defRPr>
      </a:lvl4pPr>
      <a:lvl5pPr algn="l" rtl="0" fontAlgn="base">
        <a:spcBef>
          <a:spcPct val="0"/>
        </a:spcBef>
        <a:spcAft>
          <a:spcPct val="0"/>
        </a:spcAft>
        <a:defRPr sz="4400">
          <a:solidFill>
            <a:schemeClr val="tx2"/>
          </a:solidFill>
          <a:latin typeface="Tw Cen MT" panose="020B0602020104020603" pitchFamily="34" charset="0"/>
        </a:defRPr>
      </a:lvl5pPr>
      <a:lvl6pPr marL="457200" algn="l" rtl="0" fontAlgn="base">
        <a:spcBef>
          <a:spcPct val="0"/>
        </a:spcBef>
        <a:spcAft>
          <a:spcPct val="0"/>
        </a:spcAft>
        <a:defRPr sz="4400">
          <a:solidFill>
            <a:schemeClr val="tx2"/>
          </a:solidFill>
          <a:latin typeface="Tw Cen MT" panose="020B0602020104020603" pitchFamily="34" charset="0"/>
        </a:defRPr>
      </a:lvl6pPr>
      <a:lvl7pPr marL="914400" algn="l" rtl="0" fontAlgn="base">
        <a:spcBef>
          <a:spcPct val="0"/>
        </a:spcBef>
        <a:spcAft>
          <a:spcPct val="0"/>
        </a:spcAft>
        <a:defRPr sz="4400">
          <a:solidFill>
            <a:schemeClr val="tx2"/>
          </a:solidFill>
          <a:latin typeface="Tw Cen MT" panose="020B0602020104020603" pitchFamily="34" charset="0"/>
        </a:defRPr>
      </a:lvl7pPr>
      <a:lvl8pPr marL="1371600" algn="l" rtl="0" fontAlgn="base">
        <a:spcBef>
          <a:spcPct val="0"/>
        </a:spcBef>
        <a:spcAft>
          <a:spcPct val="0"/>
        </a:spcAft>
        <a:defRPr sz="4400">
          <a:solidFill>
            <a:schemeClr val="tx2"/>
          </a:solidFill>
          <a:latin typeface="Tw Cen MT" panose="020B0602020104020603" pitchFamily="34" charset="0"/>
        </a:defRPr>
      </a:lvl8pPr>
      <a:lvl9pPr marL="1828800" algn="l" rtl="0" fontAlgn="base">
        <a:spcBef>
          <a:spcPct val="0"/>
        </a:spcBef>
        <a:spcAft>
          <a:spcPct val="0"/>
        </a:spcAft>
        <a:defRPr sz="4400">
          <a:solidFill>
            <a:schemeClr val="tx2"/>
          </a:solidFill>
          <a:latin typeface="Tw Cen MT" panose="020B0602020104020603" pitchFamily="34" charset="0"/>
        </a:defRPr>
      </a:lvl9pPr>
    </p:titleStyle>
    <p:bodyStyle>
      <a:lvl1pPr marL="319088" indent="-319088" algn="l" rtl="0" fontAlgn="base">
        <a:spcBef>
          <a:spcPts val="700"/>
        </a:spcBef>
        <a:spcAft>
          <a:spcPct val="0"/>
        </a:spcAft>
        <a:buClr>
          <a:schemeClr val="accent2"/>
        </a:buClr>
        <a:buSzPct val="60000"/>
        <a:buFont typeface="Wingdings" panose="05000000000000000000" pitchFamily="2" charset="2"/>
        <a:buChar char=""/>
        <a:defRPr sz="2900" kern="1200">
          <a:solidFill>
            <a:schemeClr val="tx1"/>
          </a:solidFill>
          <a:latin typeface="+mn-lt"/>
          <a:ea typeface="+mn-ea"/>
          <a:cs typeface="+mn-cs"/>
        </a:defRPr>
      </a:lvl1pPr>
      <a:lvl2pPr marL="639763" indent="-273050" algn="l" rtl="0" fontAlgn="base">
        <a:spcBef>
          <a:spcPts val="550"/>
        </a:spcBef>
        <a:spcAft>
          <a:spcPct val="0"/>
        </a:spcAft>
        <a:buClr>
          <a:schemeClr val="accent1"/>
        </a:buClr>
        <a:buSzPct val="70000"/>
        <a:buFont typeface="Wingdings 2" panose="05020102010507070707" pitchFamily="18" charset="2"/>
        <a:buChar char=""/>
        <a:defRPr sz="2600" kern="1200">
          <a:solidFill>
            <a:schemeClr val="tx1"/>
          </a:solidFill>
          <a:latin typeface="+mn-lt"/>
          <a:ea typeface="+mn-ea"/>
          <a:cs typeface="+mn-cs"/>
        </a:defRPr>
      </a:lvl2pPr>
      <a:lvl3pPr marL="914400" indent="-228600" algn="l" rtl="0" fontAlgn="base">
        <a:spcBef>
          <a:spcPts val="500"/>
        </a:spcBef>
        <a:spcAft>
          <a:spcPct val="0"/>
        </a:spcAft>
        <a:buClr>
          <a:schemeClr val="accent2"/>
        </a:buClr>
        <a:buSzPct val="75000"/>
        <a:buFont typeface="Wingdings" panose="05000000000000000000" pitchFamily="2" charset="2"/>
        <a:buChar char=""/>
        <a:defRPr sz="2300" kern="1200">
          <a:solidFill>
            <a:schemeClr val="tx1"/>
          </a:solidFill>
          <a:latin typeface="+mn-lt"/>
          <a:ea typeface="+mn-ea"/>
          <a:cs typeface="+mn-cs"/>
        </a:defRPr>
      </a:lvl3pPr>
      <a:lvl4pPr marL="1371600" indent="-228600" algn="l" rtl="0" fontAlgn="base">
        <a:spcBef>
          <a:spcPts val="400"/>
        </a:spcBef>
        <a:spcAft>
          <a:spcPct val="0"/>
        </a:spcAft>
        <a:buClr>
          <a:srgbClr val="A5AB81"/>
        </a:buClr>
        <a:buSzPct val="75000"/>
        <a:buFont typeface="Wingdings" panose="05000000000000000000" pitchFamily="2" charset="2"/>
        <a:buChar char=""/>
        <a:defRPr sz="2000" kern="1200">
          <a:solidFill>
            <a:schemeClr val="tx1"/>
          </a:solidFill>
          <a:latin typeface="+mn-lt"/>
          <a:ea typeface="+mn-ea"/>
          <a:cs typeface="+mn-cs"/>
        </a:defRPr>
      </a:lvl4pPr>
      <a:lvl5pPr marL="1828800" indent="-228600" algn="l" rtl="0" fontAlgn="base">
        <a:spcBef>
          <a:spcPts val="400"/>
        </a:spcBef>
        <a:spcAft>
          <a:spcPct val="0"/>
        </a:spcAft>
        <a:buClr>
          <a:srgbClr val="D8B25C"/>
        </a:buClr>
        <a:buSzPct val="65000"/>
        <a:buFont typeface="Wingdings" panose="05000000000000000000"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49600" y="775855"/>
            <a:ext cx="6477000" cy="3162733"/>
          </a:xfrm>
        </p:spPr>
        <p:txBody>
          <a:bodyPr>
            <a:normAutofit fontScale="90000"/>
          </a:bodyPr>
          <a:lstStyle/>
          <a:p>
            <a:pPr algn="ctr" fontAlgn="auto">
              <a:spcAft>
                <a:spcPts val="0"/>
              </a:spcAft>
              <a:defRPr/>
            </a:pPr>
            <a:r>
              <a:rPr lang="en-US" dirty="0" smtClean="0"/>
              <a:t>Mashonaland central participatory multi-sectoral food and nutrition security plan for 2025</a:t>
            </a:r>
            <a:endParaRPr lang="en-US" dirty="0"/>
          </a:p>
        </p:txBody>
      </p:sp>
      <p:sp>
        <p:nvSpPr>
          <p:cNvPr id="12291" name="Subtitle 2"/>
          <p:cNvSpPr>
            <a:spLocks noGrp="1"/>
          </p:cNvSpPr>
          <p:nvPr>
            <p:ph type="subTitle" idx="1"/>
          </p:nvPr>
        </p:nvSpPr>
        <p:spPr>
          <a:xfrm>
            <a:off x="3149600" y="6049963"/>
            <a:ext cx="8940800" cy="685800"/>
          </a:xfrm>
        </p:spPr>
        <p:txBody>
          <a:bodyPr>
            <a:normAutofit fontScale="77500" lnSpcReduction="20000"/>
          </a:bodyPr>
          <a:lstStyle/>
          <a:p>
            <a:endParaRPr lang="en-US" altLang="en-US" dirty="0" smtClean="0"/>
          </a:p>
          <a:p>
            <a:r>
              <a:rPr lang="en-US" altLang="en-US" dirty="0" smtClean="0"/>
              <a:t>Mashonaland </a:t>
            </a:r>
            <a:r>
              <a:rPr lang="en-US" altLang="en-US" dirty="0"/>
              <a:t>Central</a:t>
            </a:r>
          </a:p>
        </p:txBody>
      </p:sp>
      <p:sp>
        <p:nvSpPr>
          <p:cNvPr id="4" name="Rectangle 3"/>
          <p:cNvSpPr/>
          <p:nvPr/>
        </p:nvSpPr>
        <p:spPr>
          <a:xfrm>
            <a:off x="-68263" y="5840413"/>
            <a:ext cx="3663951" cy="954107"/>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smtClean="0">
              <a:ln>
                <a:noFill/>
              </a:ln>
              <a:solidFill>
                <a:prstClr val="white"/>
              </a:solidFill>
              <a:effectLst/>
              <a:uLnTx/>
              <a:uFillTx/>
              <a:latin typeface="Tw Cen M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smtClean="0">
              <a:ln>
                <a:noFill/>
              </a:ln>
              <a:solidFill>
                <a:prstClr val="white"/>
              </a:solidFill>
              <a:effectLst/>
              <a:uLnTx/>
              <a:uFillTx/>
              <a:latin typeface="Tw Cen MT"/>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noProof="0" dirty="0" smtClean="0">
                <a:solidFill>
                  <a:prstClr val="white"/>
                </a:solidFill>
                <a:latin typeface="Tw Cen MT"/>
                <a:cs typeface="Arial" panose="020B0604020202020204" pitchFamily="34" charset="0"/>
              </a:rPr>
              <a:t>N</a:t>
            </a:r>
            <a:r>
              <a:rPr kumimoji="0" lang="en-US" sz="2000" b="0" i="0" u="none" strike="noStrike" kern="1200" cap="none" spc="0" normalizeH="0" baseline="0" noProof="0" dirty="0" smtClean="0">
                <a:ln>
                  <a:noFill/>
                </a:ln>
                <a:solidFill>
                  <a:prstClr val="white"/>
                </a:solidFill>
                <a:effectLst/>
                <a:uLnTx/>
                <a:uFillTx/>
                <a:latin typeface="Tw Cen MT"/>
                <a:ea typeface="+mn-ea"/>
                <a:cs typeface="Arial" panose="020B0604020202020204" pitchFamily="34" charset="0"/>
              </a:rPr>
              <a:t>ame of District/Province</a:t>
            </a:r>
            <a:endParaRPr kumimoji="0" lang="en-US" sz="2000" b="0" i="0" u="none" strike="noStrike" kern="1200" cap="none" spc="0" normalizeH="0" baseline="0" noProof="0" dirty="0">
              <a:ln>
                <a:noFill/>
              </a:ln>
              <a:solidFill>
                <a:prstClr val="white"/>
              </a:solidFill>
              <a:effectLst/>
              <a:uLnTx/>
              <a:uFillTx/>
              <a:latin typeface="Tw Cen MT"/>
              <a:ea typeface="+mn-ea"/>
              <a:cs typeface="Arial" panose="020B0604020202020204" pitchFamily="34" charset="0"/>
            </a:endParaRPr>
          </a:p>
        </p:txBody>
      </p:sp>
    </p:spTree>
    <p:extLst>
      <p:ext uri="{BB962C8B-B14F-4D97-AF65-F5344CB8AC3E}">
        <p14:creationId xmlns:p14="http://schemas.microsoft.com/office/powerpoint/2010/main" val="34181327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Preamble</a:t>
            </a:r>
            <a:endParaRPr lang="en-US" dirty="0"/>
          </a:p>
        </p:txBody>
      </p:sp>
      <p:sp>
        <p:nvSpPr>
          <p:cNvPr id="3" name="Content Placeholder 2"/>
          <p:cNvSpPr>
            <a:spLocks noGrp="1"/>
          </p:cNvSpPr>
          <p:nvPr>
            <p:ph sz="quarter" idx="1"/>
          </p:nvPr>
        </p:nvSpPr>
        <p:spPr/>
        <p:txBody>
          <a:bodyPr/>
          <a:lstStyle/>
          <a:p>
            <a:pPr>
              <a:lnSpc>
                <a:spcPct val="150000"/>
              </a:lnSpc>
            </a:pPr>
            <a:r>
              <a:rPr lang="en-US" sz="1200" dirty="0">
                <a:latin typeface="Arial" panose="020B0604020202020204" pitchFamily="34" charset="0"/>
                <a:cs typeface="Arial" panose="020B0604020202020204" pitchFamily="34" charset="0"/>
              </a:rPr>
              <a:t>Food and nutrition security remains a fundamental pillar for sustainable development, requiring coordinated efforts across multiple sectors. Recognizing this, the </a:t>
            </a:r>
            <a:r>
              <a:rPr lang="en-US" sz="1200" dirty="0" smtClean="0">
                <a:latin typeface="Arial" panose="020B0604020202020204" pitchFamily="34" charset="0"/>
                <a:cs typeface="Arial" panose="020B0604020202020204" pitchFamily="34" charset="0"/>
              </a:rPr>
              <a:t>Mashonaland Central Provincial </a:t>
            </a:r>
            <a:r>
              <a:rPr lang="en-US" sz="1200" dirty="0">
                <a:latin typeface="Arial" panose="020B0604020202020204" pitchFamily="34" charset="0"/>
                <a:cs typeface="Arial" panose="020B0604020202020204" pitchFamily="34" charset="0"/>
              </a:rPr>
              <a:t>Food and Nutrition Security </a:t>
            </a:r>
            <a:r>
              <a:rPr lang="en-US" sz="1200" dirty="0" smtClean="0">
                <a:latin typeface="Arial" panose="020B0604020202020204" pitchFamily="34" charset="0"/>
                <a:cs typeface="Arial" panose="020B0604020202020204" pitchFamily="34" charset="0"/>
              </a:rPr>
              <a:t>Committee </a:t>
            </a:r>
            <a:r>
              <a:rPr lang="en-US" sz="1200" dirty="0">
                <a:latin typeface="Arial" panose="020B0604020202020204" pitchFamily="34" charset="0"/>
                <a:cs typeface="Arial" panose="020B0604020202020204" pitchFamily="34" charset="0"/>
              </a:rPr>
              <a:t>collaboratively </a:t>
            </a:r>
            <a:r>
              <a:rPr lang="en-US" sz="1200" dirty="0" smtClean="0">
                <a:latin typeface="Arial" panose="020B0604020202020204" pitchFamily="34" charset="0"/>
                <a:cs typeface="Arial" panose="020B0604020202020204" pitchFamily="34" charset="0"/>
              </a:rPr>
              <a:t>developed a comprehensive </a:t>
            </a:r>
            <a:r>
              <a:rPr lang="en-US" sz="1200" dirty="0">
                <a:latin typeface="Arial" panose="020B0604020202020204" pitchFamily="34" charset="0"/>
                <a:cs typeface="Arial" panose="020B0604020202020204" pitchFamily="34" charset="0"/>
              </a:rPr>
              <a:t>work </a:t>
            </a:r>
            <a:r>
              <a:rPr lang="en-US" sz="1200" dirty="0" smtClean="0">
                <a:latin typeface="Arial" panose="020B0604020202020204" pitchFamily="34" charset="0"/>
                <a:cs typeface="Arial" panose="020B0604020202020204" pitchFamily="34" charset="0"/>
              </a:rPr>
              <a:t>plan </a:t>
            </a:r>
            <a:r>
              <a:rPr lang="en-US" sz="1200" dirty="0">
                <a:latin typeface="Arial" panose="020B0604020202020204" pitchFamily="34" charset="0"/>
                <a:cs typeface="Arial" panose="020B0604020202020204" pitchFamily="34" charset="0"/>
              </a:rPr>
              <a:t>for the year 2025. </a:t>
            </a:r>
            <a:r>
              <a:rPr lang="en-US" sz="1200" dirty="0" smtClean="0">
                <a:latin typeface="Arial" panose="020B0604020202020204" pitchFamily="34" charset="0"/>
                <a:cs typeface="Arial" panose="020B0604020202020204" pitchFamily="34" charset="0"/>
              </a:rPr>
              <a:t>The work plan was formulated </a:t>
            </a:r>
            <a:r>
              <a:rPr lang="en-US" sz="1200" dirty="0">
                <a:latin typeface="Arial" panose="020B0604020202020204" pitchFamily="34" charset="0"/>
                <a:cs typeface="Arial" panose="020B0604020202020204" pitchFamily="34" charset="0"/>
              </a:rPr>
              <a:t>through a participatory and multisectoral approach, ensuring the inclusion of key stakeholders from </a:t>
            </a:r>
            <a:r>
              <a:rPr lang="en-US" sz="1200" dirty="0" smtClean="0">
                <a:latin typeface="Arial" panose="020B0604020202020204" pitchFamily="34" charset="0"/>
                <a:cs typeface="Arial" panose="020B0604020202020204" pitchFamily="34" charset="0"/>
              </a:rPr>
              <a:t>the Government of Zimbabwe and Development Partners. </a:t>
            </a:r>
          </a:p>
          <a:p>
            <a:pPr>
              <a:lnSpc>
                <a:spcPct val="150000"/>
              </a:lnSpc>
            </a:pPr>
            <a:r>
              <a:rPr lang="en-US" sz="1200" dirty="0" smtClean="0">
                <a:latin typeface="Arial" panose="020B0604020202020204" pitchFamily="34" charset="0"/>
                <a:cs typeface="Arial" panose="020B0604020202020204" pitchFamily="34" charset="0"/>
              </a:rPr>
              <a:t>The objective </a:t>
            </a:r>
            <a:r>
              <a:rPr lang="en-US" sz="1200" dirty="0">
                <a:latin typeface="Arial" panose="020B0604020202020204" pitchFamily="34" charset="0"/>
                <a:cs typeface="Arial" panose="020B0604020202020204" pitchFamily="34" charset="0"/>
              </a:rPr>
              <a:t>of </a:t>
            </a:r>
            <a:r>
              <a:rPr lang="en-US" sz="1200" dirty="0" smtClean="0">
                <a:latin typeface="Arial" panose="020B0604020202020204" pitchFamily="34" charset="0"/>
                <a:cs typeface="Arial" panose="020B0604020202020204" pitchFamily="34" charset="0"/>
              </a:rPr>
              <a:t>this </a:t>
            </a:r>
            <a:r>
              <a:rPr lang="en-US" sz="1200" dirty="0">
                <a:latin typeface="Arial" panose="020B0604020202020204" pitchFamily="34" charset="0"/>
                <a:cs typeface="Arial" panose="020B0604020202020204" pitchFamily="34" charset="0"/>
              </a:rPr>
              <a:t>work </a:t>
            </a:r>
            <a:r>
              <a:rPr lang="en-US" sz="1200" dirty="0" smtClean="0">
                <a:latin typeface="Arial" panose="020B0604020202020204" pitchFamily="34" charset="0"/>
                <a:cs typeface="Arial" panose="020B0604020202020204" pitchFamily="34" charset="0"/>
              </a:rPr>
              <a:t>plan </a:t>
            </a:r>
            <a:r>
              <a:rPr lang="en-US" sz="1200" dirty="0">
                <a:latin typeface="Arial" panose="020B0604020202020204" pitchFamily="34" charset="0"/>
                <a:cs typeface="Arial" panose="020B0604020202020204" pitchFamily="34" charset="0"/>
              </a:rPr>
              <a:t>is </a:t>
            </a:r>
            <a:r>
              <a:rPr lang="en-US" sz="1200" dirty="0" smtClean="0">
                <a:latin typeface="Arial" panose="020B0604020202020204" pitchFamily="34" charset="0"/>
                <a:cs typeface="Arial" panose="020B0604020202020204" pitchFamily="34" charset="0"/>
              </a:rPr>
              <a:t>to inform the food and nutrition activities planned for the year as they are aligned to the Multisectoral Food and Nutrition Security Strategy (MFNSS) key result areas. The plan also aims to address </a:t>
            </a:r>
            <a:r>
              <a:rPr lang="en-US" sz="1200" dirty="0">
                <a:latin typeface="Arial" panose="020B0604020202020204" pitchFamily="34" charset="0"/>
                <a:cs typeface="Arial" panose="020B0604020202020204" pitchFamily="34" charset="0"/>
              </a:rPr>
              <a:t>food and nutrition challenges at the provincial level by implementing targeted interventions that promote food availability, accessibility, utilization, and stability. This approach aligns with n</a:t>
            </a:r>
            <a:r>
              <a:rPr lang="en-US" sz="1200" dirty="0" smtClean="0">
                <a:latin typeface="Arial" panose="020B0604020202020204" pitchFamily="34" charset="0"/>
                <a:cs typeface="Arial" panose="020B0604020202020204" pitchFamily="34" charset="0"/>
              </a:rPr>
              <a:t>ational </a:t>
            </a:r>
            <a:r>
              <a:rPr lang="en-US" sz="1200" dirty="0">
                <a:latin typeface="Arial" panose="020B0604020202020204" pitchFamily="34" charset="0"/>
                <a:cs typeface="Arial" panose="020B0604020202020204" pitchFamily="34" charset="0"/>
              </a:rPr>
              <a:t>and g</a:t>
            </a:r>
            <a:r>
              <a:rPr lang="en-US" sz="1200" dirty="0" smtClean="0">
                <a:latin typeface="Arial" panose="020B0604020202020204" pitchFamily="34" charset="0"/>
                <a:cs typeface="Arial" panose="020B0604020202020204" pitchFamily="34" charset="0"/>
              </a:rPr>
              <a:t>lobal </a:t>
            </a:r>
            <a:r>
              <a:rPr lang="en-US" sz="1200" dirty="0">
                <a:latin typeface="Arial" panose="020B0604020202020204" pitchFamily="34" charset="0"/>
                <a:cs typeface="Arial" panose="020B0604020202020204" pitchFamily="34" charset="0"/>
              </a:rPr>
              <a:t>commitments to eradicate hunger, improve nutrition, and enhance resilience among vulnerable populations.</a:t>
            </a:r>
          </a:p>
          <a:p>
            <a:pPr>
              <a:lnSpc>
                <a:spcPct val="150000"/>
              </a:lnSpc>
            </a:pPr>
            <a:r>
              <a:rPr lang="en-US" sz="1200" dirty="0">
                <a:latin typeface="Arial" panose="020B0604020202020204" pitchFamily="34" charset="0"/>
                <a:cs typeface="Arial" panose="020B0604020202020204" pitchFamily="34" charset="0"/>
              </a:rPr>
              <a:t>Through these strategic and coordinated efforts, the P</a:t>
            </a:r>
            <a:r>
              <a:rPr lang="en-US" sz="1200" dirty="0" smtClean="0">
                <a:latin typeface="Arial" panose="020B0604020202020204" pitchFamily="34" charset="0"/>
                <a:cs typeface="Arial" panose="020B0604020202020204" pitchFamily="34" charset="0"/>
              </a:rPr>
              <a:t>rovince </a:t>
            </a:r>
            <a:r>
              <a:rPr lang="en-US" sz="1200" dirty="0">
                <a:latin typeface="Arial" panose="020B0604020202020204" pitchFamily="34" charset="0"/>
                <a:cs typeface="Arial" panose="020B0604020202020204" pitchFamily="34" charset="0"/>
              </a:rPr>
              <a:t>aim to strengthen food systems, improve dietary diversity, and enhance overall nutritional outcomes. The success of these plans depends on continued collaboration, resource mobilization, and effective implementation by all stakeholders</a:t>
            </a:r>
            <a:r>
              <a:rPr lang="en-US" sz="120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88107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Acknowledgements</a:t>
            </a:r>
            <a:endParaRPr lang="en-US" dirty="0"/>
          </a:p>
        </p:txBody>
      </p:sp>
      <p:sp>
        <p:nvSpPr>
          <p:cNvPr id="3" name="Content Placeholder 2"/>
          <p:cNvSpPr>
            <a:spLocks noGrp="1"/>
          </p:cNvSpPr>
          <p:nvPr>
            <p:ph sz="quarter" idx="1"/>
          </p:nvPr>
        </p:nvSpPr>
        <p:spPr/>
        <p:txBody>
          <a:bodyPr/>
          <a:lstStyle/>
          <a:p>
            <a:pPr marL="0" indent="0">
              <a:buNone/>
            </a:pPr>
            <a:r>
              <a:rPr lang="en-US" sz="1200" dirty="0" smtClean="0">
                <a:latin typeface="Arial" panose="020B0604020202020204" pitchFamily="34" charset="0"/>
                <a:cs typeface="Arial" panose="020B0604020202020204" pitchFamily="34" charset="0"/>
              </a:rPr>
              <a:t>The Government of Zimbabwe Ministries and Departments and Agencies</a:t>
            </a:r>
          </a:p>
          <a:p>
            <a:pPr marL="0" indent="0">
              <a:buNone/>
            </a:pPr>
            <a:r>
              <a:rPr lang="en-US" sz="1200" dirty="0" smtClean="0">
                <a:latin typeface="Arial" panose="020B0604020202020204" pitchFamily="34" charset="0"/>
                <a:cs typeface="Arial" panose="020B0604020202020204" pitchFamily="34" charset="0"/>
              </a:rPr>
              <a:t>The Development Partners: </a:t>
            </a:r>
          </a:p>
          <a:p>
            <a:pPr>
              <a:buFont typeface="Arial" panose="020B0604020202020204" pitchFamily="34" charset="0"/>
              <a:buChar char="•"/>
            </a:pPr>
            <a:r>
              <a:rPr lang="en-US" sz="1200" dirty="0" smtClean="0">
                <a:latin typeface="Arial" panose="020B0604020202020204" pitchFamily="34" charset="0"/>
                <a:cs typeface="Arial" panose="020B0604020202020204" pitchFamily="34" charset="0"/>
              </a:rPr>
              <a:t>Nutrition Action Zimbabwe (NAZ) </a:t>
            </a:r>
          </a:p>
          <a:p>
            <a:pPr>
              <a:buFont typeface="Arial" panose="020B0604020202020204" pitchFamily="34" charset="0"/>
              <a:buChar char="•"/>
            </a:pPr>
            <a:r>
              <a:rPr lang="en-US" sz="1200" dirty="0" smtClean="0">
                <a:latin typeface="Arial" panose="020B0604020202020204" pitchFamily="34" charset="0"/>
                <a:cs typeface="Arial" panose="020B0604020202020204" pitchFamily="34" charset="0"/>
              </a:rPr>
              <a:t>Action for Hunger (ACF)</a:t>
            </a:r>
          </a:p>
          <a:p>
            <a:pPr>
              <a:buFont typeface="Arial" panose="020B0604020202020204" pitchFamily="34" charset="0"/>
              <a:buChar char="•"/>
            </a:pPr>
            <a:r>
              <a:rPr lang="en-US" sz="1200" dirty="0" smtClean="0">
                <a:latin typeface="Arial" panose="020B0604020202020204" pitchFamily="34" charset="0"/>
                <a:cs typeface="Arial" panose="020B0604020202020204" pitchFamily="34" charset="0"/>
              </a:rPr>
              <a:t>International Medical Corps (IMC)</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2452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3EF36D3-E5B4-4636-02D5-76D2B2D86707}"/>
              </a:ext>
            </a:extLst>
          </p:cNvPr>
          <p:cNvGraphicFramePr>
            <a:graphicFrameLocks noGrp="1"/>
          </p:cNvGraphicFramePr>
          <p:nvPr>
            <p:ph idx="1"/>
            <p:extLst>
              <p:ext uri="{D42A27DB-BD31-4B8C-83A1-F6EECF244321}">
                <p14:modId xmlns:p14="http://schemas.microsoft.com/office/powerpoint/2010/main" val="1079067402"/>
              </p:ext>
            </p:extLst>
          </p:nvPr>
        </p:nvGraphicFramePr>
        <p:xfrm>
          <a:off x="188155" y="398057"/>
          <a:ext cx="11820965" cy="5562338"/>
        </p:xfrm>
        <a:graphic>
          <a:graphicData uri="http://schemas.openxmlformats.org/drawingml/2006/table">
            <a:tbl>
              <a:tblPr firstRow="1" bandRow="1">
                <a:tableStyleId>{5C22544A-7EE6-4342-B048-85BDC9FD1C3A}</a:tableStyleId>
              </a:tblPr>
              <a:tblGrid>
                <a:gridCol w="868485">
                  <a:extLst>
                    <a:ext uri="{9D8B030D-6E8A-4147-A177-3AD203B41FA5}">
                      <a16:colId xmlns:a16="http://schemas.microsoft.com/office/drawing/2014/main" val="3360934282"/>
                    </a:ext>
                  </a:extLst>
                </a:gridCol>
                <a:gridCol w="2306320">
                  <a:extLst>
                    <a:ext uri="{9D8B030D-6E8A-4147-A177-3AD203B41FA5}">
                      <a16:colId xmlns:a16="http://schemas.microsoft.com/office/drawing/2014/main" val="1251581781"/>
                    </a:ext>
                  </a:extLst>
                </a:gridCol>
                <a:gridCol w="1554480">
                  <a:extLst>
                    <a:ext uri="{9D8B030D-6E8A-4147-A177-3AD203B41FA5}">
                      <a16:colId xmlns:a16="http://schemas.microsoft.com/office/drawing/2014/main" val="3579880041"/>
                    </a:ext>
                  </a:extLst>
                </a:gridCol>
                <a:gridCol w="2676070">
                  <a:extLst>
                    <a:ext uri="{9D8B030D-6E8A-4147-A177-3AD203B41FA5}">
                      <a16:colId xmlns:a16="http://schemas.microsoft.com/office/drawing/2014/main" val="938181305"/>
                    </a:ext>
                  </a:extLst>
                </a:gridCol>
                <a:gridCol w="1471870">
                  <a:extLst>
                    <a:ext uri="{9D8B030D-6E8A-4147-A177-3AD203B41FA5}">
                      <a16:colId xmlns:a16="http://schemas.microsoft.com/office/drawing/2014/main" val="2501488113"/>
                    </a:ext>
                  </a:extLst>
                </a:gridCol>
                <a:gridCol w="1471870">
                  <a:extLst>
                    <a:ext uri="{9D8B030D-6E8A-4147-A177-3AD203B41FA5}">
                      <a16:colId xmlns:a16="http://schemas.microsoft.com/office/drawing/2014/main" val="1938311817"/>
                    </a:ext>
                  </a:extLst>
                </a:gridCol>
                <a:gridCol w="1471870">
                  <a:extLst>
                    <a:ext uri="{9D8B030D-6E8A-4147-A177-3AD203B41FA5}">
                      <a16:colId xmlns:a16="http://schemas.microsoft.com/office/drawing/2014/main" val="3472435495"/>
                    </a:ext>
                  </a:extLst>
                </a:gridCol>
              </a:tblGrid>
              <a:tr h="426404">
                <a:tc>
                  <a:txBody>
                    <a:bodyPr/>
                    <a:lstStyle/>
                    <a:p>
                      <a:pPr algn="l" fontAlgn="b"/>
                      <a:r>
                        <a:rPr lang="en-US" sz="1200" b="1" u="none" strike="noStrike" dirty="0">
                          <a:effectLst/>
                          <a:latin typeface="Arial" panose="020B0604020202020204" pitchFamily="34" charset="0"/>
                          <a:cs typeface="Arial" panose="020B0604020202020204" pitchFamily="34" charset="0"/>
                        </a:rPr>
                        <a:t>Key Result Area</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Activity</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Target</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Process Indicator</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Resources</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Timeline</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Lead Agency</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extLst>
                  <a:ext uri="{0D108BD9-81ED-4DB2-BD59-A6C34878D82A}">
                    <a16:rowId xmlns:a16="http://schemas.microsoft.com/office/drawing/2014/main" val="2437075653"/>
                  </a:ext>
                </a:extLst>
              </a:tr>
              <a:tr h="1349779">
                <a:tc rowSpan="2">
                  <a:txBody>
                    <a:bodyPr/>
                    <a:lstStyle/>
                    <a:p>
                      <a:pPr algn="l"/>
                      <a:r>
                        <a:rPr lang="en-US" sz="1200" b="1" dirty="0" smtClean="0">
                          <a:latin typeface="Arial" panose="020B0604020202020204" pitchFamily="34" charset="0"/>
                          <a:cs typeface="Arial" panose="020B0604020202020204" pitchFamily="34" charset="0"/>
                        </a:rPr>
                        <a:t>KRA 1:</a:t>
                      </a:r>
                    </a:p>
                    <a:p>
                      <a:pPr algn="l"/>
                      <a:r>
                        <a:rPr lang="en-US" sz="1200" b="1" dirty="0" smtClean="0">
                          <a:latin typeface="Arial" panose="020B0604020202020204" pitchFamily="34" charset="0"/>
                          <a:cs typeface="Arial" panose="020B0604020202020204" pitchFamily="34" charset="0"/>
                        </a:rPr>
                        <a:t>Policy Analysis and Advice</a:t>
                      </a:r>
                      <a:endParaRPr lang="en-US" sz="1200" b="1" dirty="0">
                        <a:latin typeface="Arial" panose="020B0604020202020204" pitchFamily="34" charset="0"/>
                        <a:cs typeface="Arial" panose="020B0604020202020204" pitchFamily="34" charset="0"/>
                      </a:endParaRPr>
                    </a:p>
                  </a:txBody>
                  <a:tcPr marL="6593" marR="6593" marT="6593" marB="0" anchor="ct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Sensitize</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District Health Executives  on Statutory Instrument 192 of 2024 on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Breast Milk Substitutes</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Infant and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Young Child Feeding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regulations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Sensitize </a:t>
                      </a:r>
                      <a:r>
                        <a:rPr lang="en-US" sz="1200" dirty="0" smtClean="0">
                          <a:latin typeface="Arial" panose="020B0604020202020204" pitchFamily="34" charset="0"/>
                          <a:cs typeface="Arial" panose="020B0604020202020204" pitchFamily="34" charset="0"/>
                        </a:rPr>
                        <a:t>8 </a:t>
                      </a:r>
                      <a:r>
                        <a:rPr lang="en-US" sz="1200" dirty="0" smtClean="0">
                          <a:latin typeface="Arial" panose="020B0604020202020204" pitchFamily="34" charset="0"/>
                          <a:cs typeface="Arial" panose="020B0604020202020204" pitchFamily="34" charset="0"/>
                        </a:rPr>
                        <a:t>DHEs </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Number of</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DHEs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implementing the new SI 192 of 2024.</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Vehicle, </a:t>
                      </a:r>
                      <a:r>
                        <a:rPr lang="en-US" sz="1200" dirty="0" smtClean="0">
                          <a:latin typeface="Arial" panose="020B0604020202020204" pitchFamily="34" charset="0"/>
                          <a:cs typeface="Arial" panose="020B0604020202020204" pitchFamily="34" charset="0"/>
                        </a:rPr>
                        <a:t>Lunch Allowances</a:t>
                      </a:r>
                      <a:r>
                        <a:rPr lang="en-US" sz="120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Airtime</a:t>
                      </a:r>
                      <a:endParaRPr lang="en-US" sz="1200" dirty="0">
                        <a:latin typeface="Arial" panose="020B060402020202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31</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Mar </a:t>
                      </a:r>
                      <a:r>
                        <a:rPr lang="en-US" sz="1200" baseline="0" dirty="0" smtClean="0">
                          <a:latin typeface="Arial" panose="020B0604020202020204" pitchFamily="34" charset="0"/>
                          <a:cs typeface="Arial" panose="020B0604020202020204" pitchFamily="34" charset="0"/>
                        </a:rPr>
                        <a:t>2025</a:t>
                      </a:r>
                      <a:endParaRPr lang="en-US" sz="1200" dirty="0">
                        <a:latin typeface="Arial" panose="020B0604020202020204" pitchFamily="34" charset="0"/>
                        <a:cs typeface="Arial" panose="020B0604020202020204" pitchFamily="34" charset="0"/>
                      </a:endParaRPr>
                    </a:p>
                  </a:txBody>
                  <a:tcPr/>
                </a:tc>
                <a:tc>
                  <a:txBody>
                    <a:bodyPr/>
                    <a:lstStyle/>
                    <a:p>
                      <a:pPr algn="l" fontAlgn="b"/>
                      <a:r>
                        <a:rPr lang="en-US" sz="1200" b="0" i="0" u="none" strike="noStrike" dirty="0" smtClean="0">
                          <a:solidFill>
                            <a:srgbClr val="000000"/>
                          </a:solidFill>
                          <a:effectLst/>
                          <a:latin typeface="Arial" panose="020B0604020202020204" pitchFamily="34" charset="0"/>
                          <a:cs typeface="Arial" panose="020B0604020202020204" pitchFamily="34" charset="0"/>
                        </a:rPr>
                        <a:t>Ministry</a:t>
                      </a:r>
                      <a:r>
                        <a:rPr lang="en-US" sz="1200" b="0" i="0" u="none" strike="noStrike" baseline="0" dirty="0" smtClean="0">
                          <a:solidFill>
                            <a:srgbClr val="000000"/>
                          </a:solidFill>
                          <a:effectLst/>
                          <a:latin typeface="Arial" panose="020B0604020202020204" pitchFamily="34" charset="0"/>
                          <a:cs typeface="Arial" panose="020B0604020202020204" pitchFamily="34" charset="0"/>
                        </a:rPr>
                        <a:t> of </a:t>
                      </a:r>
                      <a:r>
                        <a:rPr lang="en-US" sz="1200" b="0" i="0" u="none" strike="noStrike" baseline="0" dirty="0" smtClean="0">
                          <a:solidFill>
                            <a:srgbClr val="000000"/>
                          </a:solidFill>
                          <a:effectLst/>
                          <a:latin typeface="Arial" panose="020B0604020202020204" pitchFamily="34" charset="0"/>
                          <a:cs typeface="Arial" panose="020B0604020202020204" pitchFamily="34" charset="0"/>
                        </a:rPr>
                        <a:t>Health and Child Care (MoHCC) -Nutrition/Environmental </a:t>
                      </a:r>
                      <a:r>
                        <a:rPr lang="en-US" sz="1200" b="0" i="0" u="none" strike="noStrike" baseline="0" dirty="0" smtClean="0">
                          <a:solidFill>
                            <a:srgbClr val="000000"/>
                          </a:solidFill>
                          <a:effectLst/>
                          <a:latin typeface="Arial" panose="020B0604020202020204" pitchFamily="34" charset="0"/>
                          <a:cs typeface="Arial" panose="020B0604020202020204" pitchFamily="34" charset="0"/>
                        </a:rPr>
                        <a:t>health</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0001"/>
                  </a:ext>
                </a:extLst>
              </a:tr>
              <a:tr h="1195759">
                <a:tc vMerge="1">
                  <a:txBody>
                    <a:bodyPr/>
                    <a:lstStyle/>
                    <a:p>
                      <a:endParaRPr lang="en-US" dirty="0"/>
                    </a:p>
                  </a:txBody>
                  <a:tcPr marL="6593" marR="6593" marT="6593" marB="0" anchor="b"/>
                </a:tc>
                <a:tc>
                  <a:txBody>
                    <a:bodyPr/>
                    <a:lstStyle/>
                    <a:p>
                      <a:pPr algn="l"/>
                      <a:r>
                        <a:rPr lang="en-US" sz="1200" dirty="0" smtClean="0">
                          <a:latin typeface="Arial" panose="020B0604020202020204" pitchFamily="34" charset="0"/>
                          <a:cs typeface="Arial" panose="020B0604020202020204" pitchFamily="34" charset="0"/>
                        </a:rPr>
                        <a:t>Participation</a:t>
                      </a:r>
                      <a:r>
                        <a:rPr lang="en-US" sz="1200" baseline="0" dirty="0" smtClean="0">
                          <a:latin typeface="Arial" panose="020B0604020202020204" pitchFamily="34" charset="0"/>
                          <a:cs typeface="Arial" panose="020B0604020202020204" pitchFamily="34" charset="0"/>
                        </a:rPr>
                        <a:t> of </a:t>
                      </a:r>
                      <a:r>
                        <a:rPr lang="en-US" sz="1200" baseline="0" dirty="0" smtClean="0">
                          <a:latin typeface="Arial" panose="020B0604020202020204" pitchFamily="34" charset="0"/>
                          <a:cs typeface="Arial" panose="020B0604020202020204" pitchFamily="34" charset="0"/>
                        </a:rPr>
                        <a:t>Provincial Food and Nutrition Security Committee (PFNSC) </a:t>
                      </a:r>
                      <a:r>
                        <a:rPr lang="en-US" sz="1200" baseline="0" dirty="0" smtClean="0">
                          <a:latin typeface="Arial" panose="020B0604020202020204" pitchFamily="34" charset="0"/>
                          <a:cs typeface="Arial" panose="020B0604020202020204" pitchFamily="34" charset="0"/>
                        </a:rPr>
                        <a:t>in Provincial </a:t>
                      </a:r>
                      <a:r>
                        <a:rPr lang="en-US" sz="1200" baseline="0" dirty="0" smtClean="0">
                          <a:latin typeface="Arial" panose="020B0604020202020204" pitchFamily="34" charset="0"/>
                          <a:cs typeface="Arial" panose="020B0604020202020204" pitchFamily="34" charset="0"/>
                        </a:rPr>
                        <a:t>Development </a:t>
                      </a:r>
                      <a:r>
                        <a:rPr lang="en-US" sz="1200" baseline="0" dirty="0" smtClean="0">
                          <a:latin typeface="Arial" panose="020B0604020202020204" pitchFamily="34" charset="0"/>
                          <a:cs typeface="Arial" panose="020B0604020202020204" pitchFamily="34" charset="0"/>
                        </a:rPr>
                        <a:t>Activities</a:t>
                      </a:r>
                      <a:endParaRPr lang="en-US" sz="1200" dirty="0">
                        <a:latin typeface="Arial" panose="020B0604020202020204" pitchFamily="34" charset="0"/>
                        <a:cs typeface="Arial" panose="020B0604020202020204" pitchFamily="34" charset="0"/>
                      </a:endParaRPr>
                    </a:p>
                  </a:txBody>
                  <a:tcPr marL="6593" marR="6593" marT="6593" marB="0"/>
                </a:tc>
                <a:tc>
                  <a:txBody>
                    <a:bodyPr/>
                    <a:lstStyle/>
                    <a:p>
                      <a:pPr algn="l"/>
                      <a:r>
                        <a:rPr lang="en-US" sz="1200" baseline="0" dirty="0" smtClean="0">
                          <a:latin typeface="Arial" panose="020B0604020202020204" pitchFamily="34" charset="0"/>
                          <a:cs typeface="Arial" panose="020B0604020202020204" pitchFamily="34" charset="0"/>
                        </a:rPr>
                        <a:t>PFNSC to attend and present on food and nutrition security achievements at 4 </a:t>
                      </a:r>
                      <a:r>
                        <a:rPr lang="en-US" sz="1200" baseline="0" dirty="0" smtClean="0">
                          <a:latin typeface="Arial" panose="020B0604020202020204" pitchFamily="34" charset="0"/>
                          <a:cs typeface="Arial" panose="020B0604020202020204" pitchFamily="34" charset="0"/>
                        </a:rPr>
                        <a:t>Provincial Development Committee (PDC)</a:t>
                      </a:r>
                      <a:r>
                        <a:rPr lang="en-US" sz="120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meetings (1</a:t>
                      </a:r>
                      <a:r>
                        <a:rPr lang="en-US" sz="1200" baseline="0" dirty="0" smtClean="0">
                          <a:latin typeface="Arial" panose="020B0604020202020204" pitchFamily="34" charset="0"/>
                          <a:cs typeface="Arial" panose="020B0604020202020204" pitchFamily="34" charset="0"/>
                        </a:rPr>
                        <a:t> per quarter)</a:t>
                      </a:r>
                      <a:endParaRPr lang="en-US" sz="1200" dirty="0">
                        <a:latin typeface="Arial" panose="020B0604020202020204" pitchFamily="34" charset="0"/>
                        <a:cs typeface="Arial" panose="020B0604020202020204" pitchFamily="34" charset="0"/>
                      </a:endParaRPr>
                    </a:p>
                  </a:txBody>
                  <a:tcPr marL="6593" marR="6593" marT="6593" marB="0"/>
                </a:tc>
                <a:tc>
                  <a:txBody>
                    <a:bodyPr/>
                    <a:lstStyle/>
                    <a:p>
                      <a:pPr algn="l"/>
                      <a:r>
                        <a:rPr lang="en-US" sz="1200" dirty="0" smtClean="0">
                          <a:latin typeface="Arial" panose="020B0604020202020204" pitchFamily="34" charset="0"/>
                          <a:cs typeface="Arial" panose="020B0604020202020204" pitchFamily="34" charset="0"/>
                        </a:rPr>
                        <a:t>Number</a:t>
                      </a:r>
                      <a:r>
                        <a:rPr lang="en-US" sz="1200" baseline="0" dirty="0" smtClean="0">
                          <a:latin typeface="Arial" panose="020B0604020202020204" pitchFamily="34" charset="0"/>
                          <a:cs typeface="Arial" panose="020B0604020202020204" pitchFamily="34" charset="0"/>
                        </a:rPr>
                        <a:t> of PDC meetings attended by </a:t>
                      </a:r>
                      <a:r>
                        <a:rPr lang="en-US" sz="1200" baseline="0" dirty="0" smtClean="0">
                          <a:latin typeface="Arial" panose="020B0604020202020204" pitchFamily="34" charset="0"/>
                          <a:cs typeface="Arial" panose="020B0604020202020204" pitchFamily="34" charset="0"/>
                        </a:rPr>
                        <a:t>PFNSC</a:t>
                      </a:r>
                    </a:p>
                    <a:p>
                      <a:pPr algn="l"/>
                      <a:endParaRPr lang="en-US" sz="1200" baseline="0" dirty="0" smtClean="0">
                        <a:latin typeface="Arial" panose="020B0604020202020204" pitchFamily="34" charset="0"/>
                        <a:cs typeface="Arial" panose="020B0604020202020204" pitchFamily="34" charset="0"/>
                      </a:endParaRPr>
                    </a:p>
                    <a:p>
                      <a:pPr algn="l"/>
                      <a:r>
                        <a:rPr lang="en-US" sz="1200" baseline="0" dirty="0" smtClean="0">
                          <a:latin typeface="Arial" panose="020B0604020202020204" pitchFamily="34" charset="0"/>
                          <a:cs typeface="Arial" panose="020B0604020202020204" pitchFamily="34" charset="0"/>
                        </a:rPr>
                        <a:t>Number of Presentations submitted to PDC</a:t>
                      </a:r>
                      <a:endParaRPr lang="en-US" sz="1200" dirty="0">
                        <a:latin typeface="Arial" panose="020B0604020202020204" pitchFamily="34" charset="0"/>
                        <a:cs typeface="Arial" panose="020B0604020202020204" pitchFamily="34" charset="0"/>
                      </a:endParaRPr>
                    </a:p>
                  </a:txBody>
                  <a:tcPr marL="6593" marR="6593" marT="6593" marB="0"/>
                </a:tc>
                <a:tc>
                  <a:txBody>
                    <a:bodyPr/>
                    <a:lstStyle/>
                    <a:p>
                      <a:pPr algn="l"/>
                      <a:r>
                        <a:rPr lang="en-US" sz="1200" dirty="0" smtClean="0">
                          <a:latin typeface="Arial" panose="020B0604020202020204" pitchFamily="34" charset="0"/>
                          <a:cs typeface="Arial" panose="020B0604020202020204" pitchFamily="34" charset="0"/>
                        </a:rPr>
                        <a:t>Lunches</a:t>
                      </a:r>
                      <a:r>
                        <a:rPr lang="en-US" sz="1200" baseline="0" dirty="0" smtClean="0">
                          <a:latin typeface="Arial" panose="020B0604020202020204" pitchFamily="34" charset="0"/>
                          <a:cs typeface="Arial" panose="020B0604020202020204" pitchFamily="34" charset="0"/>
                        </a:rPr>
                        <a:t> and </a:t>
                      </a:r>
                      <a:r>
                        <a:rPr lang="en-US" sz="1200" baseline="0" dirty="0" smtClean="0">
                          <a:latin typeface="Arial" panose="020B0604020202020204" pitchFamily="34" charset="0"/>
                          <a:cs typeface="Arial" panose="020B0604020202020204" pitchFamily="34" charset="0"/>
                        </a:rPr>
                        <a:t>Refreshments</a:t>
                      </a:r>
                      <a:endParaRPr lang="en-US" sz="1200" dirty="0">
                        <a:latin typeface="Arial" panose="020B0604020202020204" pitchFamily="34" charset="0"/>
                        <a:cs typeface="Arial" panose="020B0604020202020204" pitchFamily="34" charset="0"/>
                      </a:endParaRPr>
                    </a:p>
                  </a:txBody>
                  <a:tcPr marL="6593" marR="6593" marT="6593" marB="0"/>
                </a:tc>
                <a:tc>
                  <a:txBody>
                    <a:bodyPr/>
                    <a:lstStyle/>
                    <a:p>
                      <a:pPr algn="l"/>
                      <a:r>
                        <a:rPr lang="en-US" sz="1200" dirty="0" smtClean="0">
                          <a:latin typeface="Arial" panose="020B0604020202020204" pitchFamily="34" charset="0"/>
                          <a:cs typeface="Arial" panose="020B0604020202020204" pitchFamily="34" charset="0"/>
                        </a:rPr>
                        <a:t>1</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Jan - 31 Dec </a:t>
                      </a:r>
                      <a:r>
                        <a:rPr lang="en-US" sz="1200" baseline="0" dirty="0" smtClean="0">
                          <a:latin typeface="Arial" panose="020B0604020202020204" pitchFamily="34" charset="0"/>
                          <a:cs typeface="Arial" panose="020B0604020202020204" pitchFamily="34" charset="0"/>
                        </a:rPr>
                        <a:t>2025</a:t>
                      </a:r>
                      <a:endParaRPr lang="en-US" sz="1200" dirty="0">
                        <a:latin typeface="Arial" panose="020B0604020202020204" pitchFamily="34" charset="0"/>
                        <a:cs typeface="Arial" panose="020B0604020202020204" pitchFamily="34" charset="0"/>
                      </a:endParaRPr>
                    </a:p>
                  </a:txBody>
                  <a:tcPr marL="6593" marR="6593" marT="6593" marB="0"/>
                </a:tc>
                <a:tc>
                  <a:txBody>
                    <a:bodyPr/>
                    <a:lstStyle/>
                    <a:p>
                      <a:pPr algn="l"/>
                      <a:r>
                        <a:rPr lang="en-US" sz="1200" dirty="0" smtClean="0">
                          <a:latin typeface="Arial" panose="020B0604020202020204" pitchFamily="34" charset="0"/>
                          <a:cs typeface="Arial" panose="020B0604020202020204" pitchFamily="34" charset="0"/>
                        </a:rPr>
                        <a:t>Office of the President and Cabinet (OPC)</a:t>
                      </a:r>
                      <a:endParaRPr lang="en-US" sz="1200" dirty="0">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446368338"/>
                  </a:ext>
                </a:extLst>
              </a:tr>
              <a:tr h="719785">
                <a:tc rowSpan="3">
                  <a:txBody>
                    <a:bodyPr/>
                    <a:lstStyle/>
                    <a:p>
                      <a:pPr algn="l"/>
                      <a:r>
                        <a:rPr lang="en-US" sz="1200" b="1" dirty="0" smtClean="0">
                          <a:latin typeface="Arial" panose="020B0604020202020204" pitchFamily="34" charset="0"/>
                          <a:cs typeface="Arial" panose="020B0604020202020204" pitchFamily="34" charset="0"/>
                        </a:rPr>
                        <a:t>KRA 2: Agriculture and Food Security</a:t>
                      </a:r>
                      <a:endParaRPr lang="en-US" sz="1200" b="1" dirty="0">
                        <a:latin typeface="Arial" panose="020B0604020202020204" pitchFamily="34" charset="0"/>
                        <a:cs typeface="Arial" panose="020B0604020202020204" pitchFamily="34" charset="0"/>
                      </a:endParaRPr>
                    </a:p>
                  </a:txBody>
                  <a:tcPr marL="6593" marR="6593" marT="6593" marB="0" anchor="ctr"/>
                </a:tc>
                <a:tc>
                  <a:txBody>
                    <a:bodyPr/>
                    <a:lstStyle/>
                    <a:p>
                      <a:pPr algn="l" fontAlgn="b"/>
                      <a:r>
                        <a:rPr lang="en-US" sz="1200" u="none" strike="noStrike" dirty="0">
                          <a:effectLst/>
                          <a:latin typeface="Arial" panose="020B0604020202020204" pitchFamily="34" charset="0"/>
                          <a:cs typeface="Arial" panose="020B0604020202020204" pitchFamily="34" charset="0"/>
                        </a:rPr>
                        <a:t>Indigenous </a:t>
                      </a:r>
                      <a:r>
                        <a:rPr lang="en-US" sz="1200" u="none" strike="noStrike" dirty="0" smtClean="0">
                          <a:effectLst/>
                          <a:latin typeface="Arial" panose="020B0604020202020204" pitchFamily="34" charset="0"/>
                          <a:cs typeface="Arial" panose="020B0604020202020204" pitchFamily="34" charset="0"/>
                        </a:rPr>
                        <a:t>Chickens Distributed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a:effectLst/>
                          <a:latin typeface="Arial" panose="020B0604020202020204" pitchFamily="34" charset="0"/>
                          <a:cs typeface="Arial" panose="020B0604020202020204" pitchFamily="34" charset="0"/>
                        </a:rPr>
                        <a:t>40 000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a:effectLst/>
                          <a:latin typeface="Arial" panose="020B0604020202020204" pitchFamily="34" charset="0"/>
                          <a:cs typeface="Arial" panose="020B0604020202020204" pitchFamily="34" charset="0"/>
                        </a:rPr>
                        <a:t>Number of indegenous chickens distributed</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Chicks, </a:t>
                      </a:r>
                      <a:r>
                        <a:rPr lang="en-US" sz="1200" u="none" strike="noStrike" dirty="0" smtClean="0">
                          <a:effectLst/>
                          <a:latin typeface="Arial" panose="020B0604020202020204" pitchFamily="34" charset="0"/>
                          <a:cs typeface="Arial" panose="020B0604020202020204" pitchFamily="34" charset="0"/>
                        </a:rPr>
                        <a:t>Stress </a:t>
                      </a:r>
                      <a:r>
                        <a:rPr lang="en-US" sz="1200" u="none" strike="noStrike" dirty="0">
                          <a:effectLst/>
                          <a:latin typeface="Arial" panose="020B0604020202020204" pitchFamily="34" charset="0"/>
                          <a:cs typeface="Arial" panose="020B0604020202020204" pitchFamily="34" charset="0"/>
                        </a:rPr>
                        <a:t>packs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1 Jan </a:t>
                      </a:r>
                      <a:r>
                        <a:rPr lang="en-US" sz="1200" u="none" strike="noStrike" dirty="0" smtClean="0">
                          <a:effectLst/>
                          <a:latin typeface="Arial" panose="020B0604020202020204" pitchFamily="34" charset="0"/>
                          <a:cs typeface="Arial" panose="020B0604020202020204" pitchFamily="34" charset="0"/>
                        </a:rPr>
                        <a:t>- </a:t>
                      </a:r>
                      <a:r>
                        <a:rPr lang="en-US" sz="1200" u="none" strike="noStrike" dirty="0">
                          <a:effectLst/>
                          <a:latin typeface="Arial" panose="020B0604020202020204" pitchFamily="34" charset="0"/>
                          <a:cs typeface="Arial" panose="020B0604020202020204" pitchFamily="34" charset="0"/>
                        </a:rPr>
                        <a:t>31 Dec </a:t>
                      </a:r>
                      <a:r>
                        <a:rPr lang="en-US" sz="1200" u="none" strike="noStrike" dirty="0" smtClean="0">
                          <a:effectLst/>
                          <a:latin typeface="Arial" panose="020B0604020202020204" pitchFamily="34" charset="0"/>
                          <a:cs typeface="Arial" panose="020B0604020202020204" pitchFamily="34" charset="0"/>
                        </a:rPr>
                        <a:t>2025</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ARDAS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extLst>
                  <a:ext uri="{0D108BD9-81ED-4DB2-BD59-A6C34878D82A}">
                    <a16:rowId xmlns:a16="http://schemas.microsoft.com/office/drawing/2014/main" val="10003"/>
                  </a:ext>
                </a:extLst>
              </a:tr>
              <a:tr h="719785">
                <a:tc vMerge="1">
                  <a:txBody>
                    <a:bodyPr/>
                    <a:lstStyle/>
                    <a:p>
                      <a:endParaRPr lang="en-US" dirty="0"/>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Fish Ponds Stocked with Fish</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16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Number of fish ponds stocked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Fingerlings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1 </a:t>
                      </a:r>
                      <a:r>
                        <a:rPr lang="en-US" sz="1200" u="none" strike="noStrike" dirty="0" smtClean="0">
                          <a:effectLst/>
                          <a:latin typeface="Arial" panose="020B0604020202020204" pitchFamily="34" charset="0"/>
                          <a:cs typeface="Arial" panose="020B0604020202020204" pitchFamily="34" charset="0"/>
                        </a:rPr>
                        <a:t>Jan</a:t>
                      </a:r>
                      <a:r>
                        <a:rPr lang="en-US" sz="1200" u="none" strike="noStrike" baseline="0" dirty="0" smtClean="0">
                          <a:effectLst/>
                          <a:latin typeface="Arial" panose="020B0604020202020204" pitchFamily="34" charset="0"/>
                          <a:cs typeface="Arial" panose="020B0604020202020204" pitchFamily="34" charset="0"/>
                        </a:rPr>
                        <a:t> -</a:t>
                      </a:r>
                      <a:r>
                        <a:rPr lang="en-US" sz="1200" u="none" strike="noStrike" dirty="0" smtClean="0">
                          <a:effectLst/>
                          <a:latin typeface="Arial" panose="020B0604020202020204" pitchFamily="34" charset="0"/>
                          <a:cs typeface="Arial" panose="020B0604020202020204" pitchFamily="34" charset="0"/>
                        </a:rPr>
                        <a:t> </a:t>
                      </a:r>
                      <a:r>
                        <a:rPr lang="en-US" sz="1200" u="none" strike="noStrike" dirty="0">
                          <a:effectLst/>
                          <a:latin typeface="Arial" panose="020B0604020202020204" pitchFamily="34" charset="0"/>
                          <a:cs typeface="Arial" panose="020B0604020202020204" pitchFamily="34" charset="0"/>
                        </a:rPr>
                        <a:t>31 Dec </a:t>
                      </a:r>
                      <a:r>
                        <a:rPr lang="en-US" sz="1200" u="none" strike="noStrike" dirty="0" smtClean="0">
                          <a:effectLst/>
                          <a:latin typeface="Arial" panose="020B0604020202020204" pitchFamily="34" charset="0"/>
                          <a:cs typeface="Arial" panose="020B0604020202020204" pitchFamily="34" charset="0"/>
                        </a:rPr>
                        <a:t>2025</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ARDAS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extLst>
                  <a:ext uri="{0D108BD9-81ED-4DB2-BD59-A6C34878D82A}">
                    <a16:rowId xmlns:a16="http://schemas.microsoft.com/office/drawing/2014/main" val="10004"/>
                  </a:ext>
                </a:extLst>
              </a:tr>
              <a:tr h="694072">
                <a:tc vMerge="1">
                  <a:txBody>
                    <a:bodyPr/>
                    <a:lstStyle/>
                    <a:p>
                      <a:endParaRPr lang="en-US" dirty="0"/>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Dams Stocked with </a:t>
                      </a:r>
                      <a:r>
                        <a:rPr lang="en-US" sz="1200" u="none" strike="noStrike" dirty="0" smtClean="0">
                          <a:effectLst/>
                          <a:latin typeface="Arial" panose="020B0604020202020204" pitchFamily="34" charset="0"/>
                          <a:cs typeface="Arial" panose="020B0604020202020204" pitchFamily="34" charset="0"/>
                        </a:rPr>
                        <a:t>Fish</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8</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Number of dams stocked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Fingerlings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1 Jan </a:t>
                      </a:r>
                      <a:r>
                        <a:rPr lang="en-US" sz="1200" u="none" strike="noStrike" dirty="0" smtClean="0">
                          <a:effectLst/>
                          <a:latin typeface="Arial" panose="020B0604020202020204" pitchFamily="34" charset="0"/>
                          <a:cs typeface="Arial" panose="020B0604020202020204" pitchFamily="34" charset="0"/>
                        </a:rPr>
                        <a:t>-</a:t>
                      </a:r>
                      <a:r>
                        <a:rPr lang="en-US" sz="1200" u="none" strike="noStrike" baseline="0" dirty="0" smtClean="0">
                          <a:effectLst/>
                          <a:latin typeface="Arial" panose="020B0604020202020204" pitchFamily="34" charset="0"/>
                          <a:cs typeface="Arial" panose="020B0604020202020204" pitchFamily="34" charset="0"/>
                        </a:rPr>
                        <a:t> </a:t>
                      </a:r>
                      <a:r>
                        <a:rPr lang="en-US" sz="1200" u="none" strike="noStrike" dirty="0" smtClean="0">
                          <a:effectLst/>
                          <a:latin typeface="Arial" panose="020B0604020202020204" pitchFamily="34" charset="0"/>
                          <a:cs typeface="Arial" panose="020B0604020202020204" pitchFamily="34" charset="0"/>
                        </a:rPr>
                        <a:t>31 </a:t>
                      </a:r>
                      <a:r>
                        <a:rPr lang="en-US" sz="1200" u="none" strike="noStrike" dirty="0">
                          <a:effectLst/>
                          <a:latin typeface="Arial" panose="020B0604020202020204" pitchFamily="34" charset="0"/>
                          <a:cs typeface="Arial" panose="020B0604020202020204" pitchFamily="34" charset="0"/>
                        </a:rPr>
                        <a:t>Dec </a:t>
                      </a:r>
                      <a:r>
                        <a:rPr lang="en-US" sz="1200" u="none" strike="noStrike" dirty="0" smtClean="0">
                          <a:effectLst/>
                          <a:latin typeface="Arial" panose="020B0604020202020204" pitchFamily="34" charset="0"/>
                          <a:cs typeface="Arial" panose="020B0604020202020204" pitchFamily="34" charset="0"/>
                        </a:rPr>
                        <a:t>2025</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ARDAS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26206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3EF36D3-E5B4-4636-02D5-76D2B2D86707}"/>
              </a:ext>
            </a:extLst>
          </p:cNvPr>
          <p:cNvGraphicFramePr>
            <a:graphicFrameLocks noGrp="1"/>
          </p:cNvGraphicFramePr>
          <p:nvPr>
            <p:ph idx="1"/>
            <p:extLst>
              <p:ext uri="{D42A27DB-BD31-4B8C-83A1-F6EECF244321}">
                <p14:modId xmlns:p14="http://schemas.microsoft.com/office/powerpoint/2010/main" val="3399476351"/>
              </p:ext>
            </p:extLst>
          </p:nvPr>
        </p:nvGraphicFramePr>
        <p:xfrm>
          <a:off x="308666" y="240580"/>
          <a:ext cx="11681139" cy="6338349"/>
        </p:xfrm>
        <a:graphic>
          <a:graphicData uri="http://schemas.openxmlformats.org/drawingml/2006/table">
            <a:tbl>
              <a:tblPr firstRow="1" bandRow="1">
                <a:tableStyleId>{5C22544A-7EE6-4342-B048-85BDC9FD1C3A}</a:tableStyleId>
              </a:tblPr>
              <a:tblGrid>
                <a:gridCol w="1116782">
                  <a:extLst>
                    <a:ext uri="{9D8B030D-6E8A-4147-A177-3AD203B41FA5}">
                      <a16:colId xmlns:a16="http://schemas.microsoft.com/office/drawing/2014/main" val="3360934282"/>
                    </a:ext>
                  </a:extLst>
                </a:gridCol>
                <a:gridCol w="1933205">
                  <a:extLst>
                    <a:ext uri="{9D8B030D-6E8A-4147-A177-3AD203B41FA5}">
                      <a16:colId xmlns:a16="http://schemas.microsoft.com/office/drawing/2014/main" val="1251581781"/>
                    </a:ext>
                  </a:extLst>
                </a:gridCol>
                <a:gridCol w="1245115">
                  <a:extLst>
                    <a:ext uri="{9D8B030D-6E8A-4147-A177-3AD203B41FA5}">
                      <a16:colId xmlns:a16="http://schemas.microsoft.com/office/drawing/2014/main" val="3579880041"/>
                    </a:ext>
                  </a:extLst>
                </a:gridCol>
                <a:gridCol w="3022657">
                  <a:extLst>
                    <a:ext uri="{9D8B030D-6E8A-4147-A177-3AD203B41FA5}">
                      <a16:colId xmlns:a16="http://schemas.microsoft.com/office/drawing/2014/main" val="938181305"/>
                    </a:ext>
                  </a:extLst>
                </a:gridCol>
                <a:gridCol w="1454460">
                  <a:extLst>
                    <a:ext uri="{9D8B030D-6E8A-4147-A177-3AD203B41FA5}">
                      <a16:colId xmlns:a16="http://schemas.microsoft.com/office/drawing/2014/main" val="2501488113"/>
                    </a:ext>
                  </a:extLst>
                </a:gridCol>
                <a:gridCol w="1454460">
                  <a:extLst>
                    <a:ext uri="{9D8B030D-6E8A-4147-A177-3AD203B41FA5}">
                      <a16:colId xmlns:a16="http://schemas.microsoft.com/office/drawing/2014/main" val="1938311817"/>
                    </a:ext>
                  </a:extLst>
                </a:gridCol>
                <a:gridCol w="1454460">
                  <a:extLst>
                    <a:ext uri="{9D8B030D-6E8A-4147-A177-3AD203B41FA5}">
                      <a16:colId xmlns:a16="http://schemas.microsoft.com/office/drawing/2014/main" val="3472435495"/>
                    </a:ext>
                  </a:extLst>
                </a:gridCol>
              </a:tblGrid>
              <a:tr h="636741">
                <a:tc>
                  <a:txBody>
                    <a:bodyPr/>
                    <a:lstStyle/>
                    <a:p>
                      <a:pPr algn="l" fontAlgn="b"/>
                      <a:r>
                        <a:rPr lang="en-US" sz="1200" u="none" strike="noStrike" dirty="0">
                          <a:effectLst/>
                          <a:latin typeface="Arial" panose="020B0604020202020204" pitchFamily="34" charset="0"/>
                          <a:cs typeface="Arial" panose="020B0604020202020204" pitchFamily="34" charset="0"/>
                        </a:rPr>
                        <a:t>Key Result Area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Activity</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Target</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Process Indicator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Resources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Timeline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Lead Agency</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extLst>
                  <a:ext uri="{0D108BD9-81ED-4DB2-BD59-A6C34878D82A}">
                    <a16:rowId xmlns:a16="http://schemas.microsoft.com/office/drawing/2014/main" val="2437075653"/>
                  </a:ext>
                </a:extLst>
              </a:tr>
              <a:tr h="950268">
                <a:tc rowSpan="6">
                  <a:txBody>
                    <a:bodyPr/>
                    <a:lstStyle/>
                    <a:p>
                      <a:pPr algn="ctr"/>
                      <a:r>
                        <a:rPr lang="en-US" sz="1200" b="1" dirty="0" smtClean="0">
                          <a:latin typeface="Arial" panose="020B0604020202020204" pitchFamily="34" charset="0"/>
                          <a:cs typeface="Arial" panose="020B0604020202020204" pitchFamily="34" charset="0"/>
                        </a:rPr>
                        <a:t>KRA 2: Agriculture and Food Security</a:t>
                      </a:r>
                      <a:endParaRPr lang="en-US" sz="1200" b="1" dirty="0">
                        <a:latin typeface="Arial" panose="020B0604020202020204" pitchFamily="34" charset="0"/>
                        <a:cs typeface="Arial" panose="020B0604020202020204" pitchFamily="34" charset="0"/>
                      </a:endParaRPr>
                    </a:p>
                  </a:txBody>
                  <a:tcPr marL="6593" marR="6593" marT="6593" marB="0" anchor="ctr"/>
                </a:tc>
                <a:tc>
                  <a:txBody>
                    <a:bodyPr/>
                    <a:lstStyle/>
                    <a:p>
                      <a:pPr algn="l" fontAlgn="b"/>
                      <a:r>
                        <a:rPr lang="en-US" sz="1200" u="none" strike="noStrike">
                          <a:effectLst/>
                          <a:latin typeface="Arial" panose="020B0604020202020204" pitchFamily="34" charset="0"/>
                          <a:cs typeface="Arial" panose="020B0604020202020204" pitchFamily="34" charset="0"/>
                        </a:rPr>
                        <a:t>Farmers Trained</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440 000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Number of farmers trained</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Training material, </a:t>
                      </a:r>
                      <a:r>
                        <a:rPr lang="en-US" sz="1200" u="none" strike="noStrike" dirty="0" smtClean="0">
                          <a:effectLst/>
                          <a:latin typeface="Arial" panose="020B0604020202020204" pitchFamily="34" charset="0"/>
                          <a:cs typeface="Arial" panose="020B0604020202020204" pitchFamily="34" charset="0"/>
                        </a:rPr>
                        <a:t>Fuel,</a:t>
                      </a:r>
                      <a:r>
                        <a:rPr lang="en-US" sz="1200" u="none" strike="noStrike" baseline="0" dirty="0" smtClean="0">
                          <a:effectLst/>
                          <a:latin typeface="Arial" panose="020B0604020202020204" pitchFamily="34" charset="0"/>
                          <a:cs typeface="Arial" panose="020B0604020202020204" pitchFamily="34" charset="0"/>
                        </a:rPr>
                        <a:t> A</a:t>
                      </a:r>
                      <a:r>
                        <a:rPr lang="en-US" sz="1200" u="none" strike="noStrike" dirty="0" smtClean="0">
                          <a:effectLst/>
                          <a:latin typeface="Arial" panose="020B0604020202020204" pitchFamily="34" charset="0"/>
                          <a:cs typeface="Arial" panose="020B0604020202020204" pitchFamily="34" charset="0"/>
                        </a:rPr>
                        <a:t>irtime </a:t>
                      </a:r>
                      <a:r>
                        <a:rPr lang="en-US" sz="1200" u="none" strike="noStrike" dirty="0">
                          <a:effectLst/>
                          <a:latin typeface="Arial" panose="020B0604020202020204" pitchFamily="34" charset="0"/>
                          <a:cs typeface="Arial" panose="020B0604020202020204" pitchFamily="34" charset="0"/>
                        </a:rPr>
                        <a:t>and </a:t>
                      </a:r>
                      <a:r>
                        <a:rPr lang="en-US" sz="1200" u="none" strike="noStrike" dirty="0" smtClean="0">
                          <a:effectLst/>
                          <a:latin typeface="Arial" panose="020B0604020202020204" pitchFamily="34" charset="0"/>
                          <a:cs typeface="Arial" panose="020B0604020202020204" pitchFamily="34" charset="0"/>
                        </a:rPr>
                        <a:t>Daily</a:t>
                      </a:r>
                      <a:r>
                        <a:rPr lang="en-US" sz="1200" u="none" strike="noStrike" baseline="0" dirty="0" smtClean="0">
                          <a:effectLst/>
                          <a:latin typeface="Arial" panose="020B0604020202020204" pitchFamily="34" charset="0"/>
                          <a:cs typeface="Arial" panose="020B0604020202020204" pitchFamily="34" charset="0"/>
                        </a:rPr>
                        <a:t> Subsistence Allowance (DSA)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ARDAS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446368338"/>
                  </a:ext>
                </a:extLst>
              </a:tr>
              <a:tr h="950268">
                <a:tc vMerge="1">
                  <a:txBody>
                    <a:bodyPr/>
                    <a:lstStyle/>
                    <a:p>
                      <a:endParaRPr lang="en-US" dirty="0"/>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 Staff Capacitated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722</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Number of staff capacitated</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Training material, </a:t>
                      </a:r>
                      <a:r>
                        <a:rPr lang="en-US" sz="1200" u="none" strike="noStrike" dirty="0" smtClean="0">
                          <a:effectLst/>
                          <a:latin typeface="Arial" panose="020B0604020202020204" pitchFamily="34" charset="0"/>
                          <a:cs typeface="Arial" panose="020B0604020202020204" pitchFamily="34" charset="0"/>
                        </a:rPr>
                        <a:t>Fuel</a:t>
                      </a:r>
                      <a:r>
                        <a:rPr lang="en-US" sz="1200" u="none" strike="noStrike" dirty="0">
                          <a:effectLst/>
                          <a:latin typeface="Arial" panose="020B0604020202020204" pitchFamily="34" charset="0"/>
                          <a:cs typeface="Arial" panose="020B0604020202020204" pitchFamily="34" charset="0"/>
                        </a:rPr>
                        <a:t>, </a:t>
                      </a:r>
                      <a:r>
                        <a:rPr lang="en-US" sz="1200" u="none" strike="noStrike" dirty="0" smtClean="0">
                          <a:effectLst/>
                          <a:latin typeface="Arial" panose="020B0604020202020204" pitchFamily="34" charset="0"/>
                          <a:cs typeface="Arial" panose="020B0604020202020204" pitchFamily="34" charset="0"/>
                        </a:rPr>
                        <a:t>Airtime </a:t>
                      </a:r>
                      <a:r>
                        <a:rPr lang="en-US" sz="1200" u="none" strike="noStrike" dirty="0">
                          <a:effectLst/>
                          <a:latin typeface="Arial" panose="020B0604020202020204" pitchFamily="34" charset="0"/>
                          <a:cs typeface="Arial" panose="020B0604020202020204" pitchFamily="34" charset="0"/>
                        </a:rPr>
                        <a:t>and </a:t>
                      </a:r>
                      <a:r>
                        <a:rPr lang="en-US" sz="1200" u="none" strike="noStrike" dirty="0" smtClean="0">
                          <a:effectLst/>
                          <a:latin typeface="Arial" panose="020B0604020202020204" pitchFamily="34" charset="0"/>
                          <a:cs typeface="Arial" panose="020B0604020202020204" pitchFamily="34" charset="0"/>
                        </a:rPr>
                        <a:t>DSA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ARDAS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873587570"/>
                  </a:ext>
                </a:extLst>
              </a:tr>
              <a:tr h="950268">
                <a:tc vMerge="1">
                  <a:txBody>
                    <a:bodyPr/>
                    <a:lstStyle/>
                    <a:p>
                      <a:endParaRPr lang="en-US" dirty="0"/>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Maize </a:t>
                      </a:r>
                      <a:r>
                        <a:rPr lang="en-US" sz="1200" u="none" strike="noStrike" dirty="0" smtClean="0">
                          <a:effectLst/>
                          <a:latin typeface="Arial" panose="020B0604020202020204" pitchFamily="34" charset="0"/>
                          <a:cs typeface="Arial" panose="020B0604020202020204" pitchFamily="34" charset="0"/>
                        </a:rPr>
                        <a:t>Planted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235 000 ha</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Area planted </a:t>
                      </a:r>
                      <a:r>
                        <a:rPr lang="en-US" sz="1200" u="none" strike="noStrike" dirty="0" smtClean="0">
                          <a:effectLst/>
                          <a:latin typeface="Arial" panose="020B0604020202020204" pitchFamily="34" charset="0"/>
                          <a:cs typeface="Arial" panose="020B0604020202020204" pitchFamily="34" charset="0"/>
                        </a:rPr>
                        <a:t>under Maize (Ha)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Training material, </a:t>
                      </a:r>
                      <a:r>
                        <a:rPr lang="en-US" sz="1200" u="none" strike="noStrike" dirty="0" smtClean="0">
                          <a:effectLst/>
                          <a:latin typeface="Arial" panose="020B0604020202020204" pitchFamily="34" charset="0"/>
                          <a:cs typeface="Arial" panose="020B0604020202020204" pitchFamily="34" charset="0"/>
                        </a:rPr>
                        <a:t>Fuel</a:t>
                      </a:r>
                      <a:r>
                        <a:rPr lang="en-US" sz="1200" u="none" strike="noStrike" dirty="0">
                          <a:effectLst/>
                          <a:latin typeface="Arial" panose="020B0604020202020204" pitchFamily="34" charset="0"/>
                          <a:cs typeface="Arial" panose="020B0604020202020204" pitchFamily="34" charset="0"/>
                        </a:rPr>
                        <a:t>, </a:t>
                      </a:r>
                      <a:r>
                        <a:rPr lang="en-US" sz="1200" u="none" strike="noStrike" dirty="0" smtClean="0">
                          <a:effectLst/>
                          <a:latin typeface="Arial" panose="020B0604020202020204" pitchFamily="34" charset="0"/>
                          <a:cs typeface="Arial" panose="020B0604020202020204" pitchFamily="34" charset="0"/>
                        </a:rPr>
                        <a:t>Airtime </a:t>
                      </a:r>
                      <a:r>
                        <a:rPr lang="en-US" sz="1200" u="none" strike="noStrike" dirty="0">
                          <a:effectLst/>
                          <a:latin typeface="Arial" panose="020B0604020202020204" pitchFamily="34" charset="0"/>
                          <a:cs typeface="Arial" panose="020B0604020202020204" pitchFamily="34" charset="0"/>
                        </a:rPr>
                        <a:t>and </a:t>
                      </a:r>
                      <a:r>
                        <a:rPr lang="en-US" sz="1200" u="none" strike="noStrike" dirty="0" smtClean="0">
                          <a:effectLst/>
                          <a:latin typeface="Arial" panose="020B0604020202020204" pitchFamily="34" charset="0"/>
                          <a:cs typeface="Arial" panose="020B0604020202020204" pitchFamily="34" charset="0"/>
                        </a:rPr>
                        <a:t>DSA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ARDAS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624644180"/>
                  </a:ext>
                </a:extLst>
              </a:tr>
              <a:tr h="950268">
                <a:tc vMerge="1">
                  <a:txBody>
                    <a:bodyPr/>
                    <a:lstStyle/>
                    <a:p>
                      <a:endParaRPr lang="en-US" dirty="0"/>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Winter </a:t>
                      </a:r>
                      <a:r>
                        <a:rPr lang="en-US" sz="1200" u="none" strike="noStrike" dirty="0" smtClean="0">
                          <a:effectLst/>
                          <a:latin typeface="Arial" panose="020B0604020202020204" pitchFamily="34" charset="0"/>
                          <a:cs typeface="Arial" panose="020B0604020202020204" pitchFamily="34" charset="0"/>
                        </a:rPr>
                        <a:t>Wheat</a:t>
                      </a:r>
                      <a:r>
                        <a:rPr lang="en-US" sz="1200" u="none" strike="noStrike" baseline="0" dirty="0" smtClean="0">
                          <a:effectLst/>
                          <a:latin typeface="Arial" panose="020B0604020202020204" pitchFamily="34" charset="0"/>
                          <a:cs typeface="Arial" panose="020B0604020202020204" pitchFamily="34" charset="0"/>
                        </a:rPr>
                        <a:t> P</a:t>
                      </a:r>
                      <a:r>
                        <a:rPr lang="en-US" sz="1200" u="none" strike="noStrike" dirty="0" smtClean="0">
                          <a:effectLst/>
                          <a:latin typeface="Arial" panose="020B0604020202020204" pitchFamily="34" charset="0"/>
                          <a:cs typeface="Arial" panose="020B0604020202020204" pitchFamily="34" charset="0"/>
                        </a:rPr>
                        <a:t>lanted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25 000ha</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Area planted </a:t>
                      </a:r>
                      <a:r>
                        <a:rPr lang="en-US" sz="1200" u="none" strike="noStrike" dirty="0" smtClean="0">
                          <a:effectLst/>
                          <a:latin typeface="Arial" panose="020B0604020202020204" pitchFamily="34" charset="0"/>
                          <a:cs typeface="Arial" panose="020B0604020202020204" pitchFamily="34" charset="0"/>
                        </a:rPr>
                        <a:t>under</a:t>
                      </a:r>
                      <a:r>
                        <a:rPr lang="en-US" sz="1200" u="none" strike="noStrike" baseline="0" dirty="0" smtClean="0">
                          <a:effectLst/>
                          <a:latin typeface="Arial" panose="020B0604020202020204" pitchFamily="34" charset="0"/>
                          <a:cs typeface="Arial" panose="020B0604020202020204" pitchFamily="34" charset="0"/>
                        </a:rPr>
                        <a:t> Wheat </a:t>
                      </a:r>
                      <a:r>
                        <a:rPr lang="en-US" sz="1200" u="none" strike="noStrike" dirty="0" smtClean="0">
                          <a:effectLst/>
                          <a:latin typeface="Arial" panose="020B0604020202020204" pitchFamily="34" charset="0"/>
                          <a:cs typeface="Arial" panose="020B0604020202020204" pitchFamily="34" charset="0"/>
                        </a:rPr>
                        <a:t>(Ha)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Training material, Fuel, Airtime and DSA</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ARDAS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957382621"/>
                  </a:ext>
                </a:extLst>
              </a:tr>
              <a:tr h="950268">
                <a:tc vMerge="1">
                  <a:txBody>
                    <a:bodyPr/>
                    <a:lstStyle/>
                    <a:p>
                      <a:endParaRPr lang="en-US" dirty="0"/>
                    </a:p>
                  </a:txBody>
                  <a:tcPr marL="6593" marR="6593" marT="6593" marB="0" anchor="b"/>
                </a:tc>
                <a:tc>
                  <a:txBody>
                    <a:bodyPr/>
                    <a:lstStyle/>
                    <a:p>
                      <a:pPr algn="l" fontAlgn="b"/>
                      <a:r>
                        <a:rPr lang="en-US" sz="1200" u="none" strike="noStrike" dirty="0" smtClean="0">
                          <a:effectLst/>
                          <a:latin typeface="Arial" panose="020B0604020202020204" pitchFamily="34" charset="0"/>
                          <a:cs typeface="Arial" panose="020B0604020202020204" pitchFamily="34" charset="0"/>
                        </a:rPr>
                        <a:t>Traditional Grains Planted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55 000ha</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Area planted </a:t>
                      </a:r>
                      <a:r>
                        <a:rPr lang="en-US" sz="1200" u="none" strike="noStrike" dirty="0" smtClean="0">
                          <a:effectLst/>
                          <a:latin typeface="Arial" panose="020B0604020202020204" pitchFamily="34" charset="0"/>
                          <a:cs typeface="Arial" panose="020B0604020202020204" pitchFamily="34" charset="0"/>
                        </a:rPr>
                        <a:t>under</a:t>
                      </a:r>
                      <a:r>
                        <a:rPr lang="en-US" sz="1200" u="none" strike="noStrike" baseline="0" dirty="0" smtClean="0">
                          <a:effectLst/>
                          <a:latin typeface="Arial" panose="020B0604020202020204" pitchFamily="34" charset="0"/>
                          <a:cs typeface="Arial" panose="020B0604020202020204" pitchFamily="34" charset="0"/>
                        </a:rPr>
                        <a:t> Traditional Grains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Training material, Fuel, Airtime and DSA</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ARDAS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809500126"/>
                  </a:ext>
                </a:extLst>
              </a:tr>
              <a:tr h="950268">
                <a:tc vMerge="1">
                  <a:txBody>
                    <a:bodyPr/>
                    <a:lstStyle/>
                    <a:p>
                      <a:endParaRPr lang="en-US" dirty="0"/>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Crop, Livestock and Fisheries Assessment conducted</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2</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Number of crop and livestock assessments conducted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Training material, Fuel, Airtime and DSA</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ARDAS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007152048"/>
                  </a:ext>
                </a:extLst>
              </a:tr>
            </a:tbl>
          </a:graphicData>
        </a:graphic>
      </p:graphicFrame>
    </p:spTree>
    <p:extLst>
      <p:ext uri="{BB962C8B-B14F-4D97-AF65-F5344CB8AC3E}">
        <p14:creationId xmlns:p14="http://schemas.microsoft.com/office/powerpoint/2010/main" val="3210737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A32B807-36CE-BDD6-18D9-A5D7980C5B0F}"/>
              </a:ext>
            </a:extLst>
          </p:cNvPr>
          <p:cNvGraphicFramePr>
            <a:graphicFrameLocks noGrp="1"/>
          </p:cNvGraphicFramePr>
          <p:nvPr>
            <p:ph idx="1"/>
            <p:extLst>
              <p:ext uri="{D42A27DB-BD31-4B8C-83A1-F6EECF244321}">
                <p14:modId xmlns:p14="http://schemas.microsoft.com/office/powerpoint/2010/main" val="4181686709"/>
              </p:ext>
            </p:extLst>
          </p:nvPr>
        </p:nvGraphicFramePr>
        <p:xfrm>
          <a:off x="334356" y="215768"/>
          <a:ext cx="11671068" cy="6642232"/>
        </p:xfrm>
        <a:graphic>
          <a:graphicData uri="http://schemas.openxmlformats.org/drawingml/2006/table">
            <a:tbl>
              <a:tblPr firstRow="1" bandRow="1">
                <a:tableStyleId>{5C22544A-7EE6-4342-B048-85BDC9FD1C3A}</a:tableStyleId>
              </a:tblPr>
              <a:tblGrid>
                <a:gridCol w="945804">
                  <a:extLst>
                    <a:ext uri="{9D8B030D-6E8A-4147-A177-3AD203B41FA5}">
                      <a16:colId xmlns:a16="http://schemas.microsoft.com/office/drawing/2014/main" val="352542513"/>
                    </a:ext>
                  </a:extLst>
                </a:gridCol>
                <a:gridCol w="2664507">
                  <a:extLst>
                    <a:ext uri="{9D8B030D-6E8A-4147-A177-3AD203B41FA5}">
                      <a16:colId xmlns:a16="http://schemas.microsoft.com/office/drawing/2014/main" val="1231917169"/>
                    </a:ext>
                  </a:extLst>
                </a:gridCol>
                <a:gridCol w="1453207">
                  <a:extLst>
                    <a:ext uri="{9D8B030D-6E8A-4147-A177-3AD203B41FA5}">
                      <a16:colId xmlns:a16="http://schemas.microsoft.com/office/drawing/2014/main" val="1048618676"/>
                    </a:ext>
                  </a:extLst>
                </a:gridCol>
                <a:gridCol w="2247929">
                  <a:extLst>
                    <a:ext uri="{9D8B030D-6E8A-4147-A177-3AD203B41FA5}">
                      <a16:colId xmlns:a16="http://schemas.microsoft.com/office/drawing/2014/main" val="4162001244"/>
                    </a:ext>
                  </a:extLst>
                </a:gridCol>
                <a:gridCol w="1453207">
                  <a:extLst>
                    <a:ext uri="{9D8B030D-6E8A-4147-A177-3AD203B41FA5}">
                      <a16:colId xmlns:a16="http://schemas.microsoft.com/office/drawing/2014/main" val="1774726205"/>
                    </a:ext>
                  </a:extLst>
                </a:gridCol>
                <a:gridCol w="1701070">
                  <a:extLst>
                    <a:ext uri="{9D8B030D-6E8A-4147-A177-3AD203B41FA5}">
                      <a16:colId xmlns:a16="http://schemas.microsoft.com/office/drawing/2014/main" val="883293203"/>
                    </a:ext>
                  </a:extLst>
                </a:gridCol>
                <a:gridCol w="1205344">
                  <a:extLst>
                    <a:ext uri="{9D8B030D-6E8A-4147-A177-3AD203B41FA5}">
                      <a16:colId xmlns:a16="http://schemas.microsoft.com/office/drawing/2014/main" val="1420154954"/>
                    </a:ext>
                  </a:extLst>
                </a:gridCol>
              </a:tblGrid>
              <a:tr h="874773">
                <a:tc>
                  <a:txBody>
                    <a:bodyPr/>
                    <a:lstStyle/>
                    <a:p>
                      <a:pPr algn="l" fontAlgn="b"/>
                      <a:r>
                        <a:rPr lang="en-US" sz="1200" b="1" u="none" strike="noStrike" dirty="0">
                          <a:effectLst/>
                          <a:latin typeface="Arial" panose="020B0604020202020204" pitchFamily="34" charset="0"/>
                          <a:cs typeface="Arial" panose="020B0604020202020204" pitchFamily="34" charset="0"/>
                        </a:rPr>
                        <a:t>Key Result Area</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b="1" u="none" strike="noStrike" dirty="0">
                          <a:effectLst/>
                          <a:latin typeface="Arial" panose="020B0604020202020204" pitchFamily="34" charset="0"/>
                          <a:cs typeface="Arial" panose="020B0604020202020204" pitchFamily="34" charset="0"/>
                        </a:rPr>
                        <a:t>Activity</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b="1" u="none" strike="noStrike" dirty="0">
                          <a:effectLst/>
                          <a:latin typeface="Arial" panose="020B0604020202020204" pitchFamily="34" charset="0"/>
                          <a:cs typeface="Arial" panose="020B0604020202020204" pitchFamily="34" charset="0"/>
                        </a:rPr>
                        <a:t>Target</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b="1" u="none" strike="noStrike" dirty="0">
                          <a:effectLst/>
                          <a:latin typeface="Arial" panose="020B0604020202020204" pitchFamily="34" charset="0"/>
                          <a:cs typeface="Arial" panose="020B0604020202020204" pitchFamily="34" charset="0"/>
                        </a:rPr>
                        <a:t>Process Indicator</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b="1" u="none" strike="noStrike" dirty="0">
                          <a:effectLst/>
                          <a:latin typeface="Arial" panose="020B0604020202020204" pitchFamily="34" charset="0"/>
                          <a:cs typeface="Arial" panose="020B0604020202020204" pitchFamily="34" charset="0"/>
                        </a:rPr>
                        <a:t>Resources</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b="1" u="none" strike="noStrike" dirty="0">
                          <a:effectLst/>
                          <a:latin typeface="Arial" panose="020B0604020202020204" pitchFamily="34" charset="0"/>
                          <a:cs typeface="Arial" panose="020B0604020202020204" pitchFamily="34" charset="0"/>
                        </a:rPr>
                        <a:t>Timeline</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b="1" u="none" strike="noStrike" dirty="0">
                          <a:effectLst/>
                          <a:latin typeface="Arial" panose="020B0604020202020204" pitchFamily="34" charset="0"/>
                          <a:cs typeface="Arial" panose="020B0604020202020204" pitchFamily="34" charset="0"/>
                        </a:rPr>
                        <a:t>Lead Agency</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extLst>
                  <a:ext uri="{0D108BD9-81ED-4DB2-BD59-A6C34878D82A}">
                    <a16:rowId xmlns:a16="http://schemas.microsoft.com/office/drawing/2014/main" val="3317888053"/>
                  </a:ext>
                </a:extLst>
              </a:tr>
              <a:tr h="874773">
                <a:tc rowSpan="5">
                  <a:txBody>
                    <a:bodyPr/>
                    <a:lstStyle/>
                    <a:p>
                      <a:pPr algn="ctr"/>
                      <a:r>
                        <a:rPr lang="en-US" sz="1200" b="1" dirty="0" smtClean="0">
                          <a:latin typeface="Arial" panose="020B0604020202020204" pitchFamily="34" charset="0"/>
                          <a:cs typeface="Arial" panose="020B0604020202020204" pitchFamily="34" charset="0"/>
                        </a:rPr>
                        <a:t>KRA 2: Agriculture and Food Security</a:t>
                      </a:r>
                      <a:endParaRPr lang="en-US" sz="1200" b="1" dirty="0">
                        <a:latin typeface="Arial" panose="020B0604020202020204" pitchFamily="34" charset="0"/>
                        <a:cs typeface="Arial" panose="020B0604020202020204" pitchFamily="34" charset="0"/>
                      </a:endParaRPr>
                    </a:p>
                  </a:txBody>
                  <a:tcPr marL="8703" marR="8703" marT="8703" marB="0" anchor="ctr"/>
                </a:tc>
                <a:tc>
                  <a:txBody>
                    <a:bodyPr/>
                    <a:lstStyle/>
                    <a:p>
                      <a:pPr algn="l" fontAlgn="b"/>
                      <a:r>
                        <a:rPr lang="en-US" sz="1200" u="none" strike="noStrike" dirty="0" smtClean="0">
                          <a:effectLst/>
                          <a:latin typeface="Arial" panose="020B0604020202020204" pitchFamily="34" charset="0"/>
                          <a:cs typeface="Arial" panose="020B0604020202020204" pitchFamily="34" charset="0"/>
                        </a:rPr>
                        <a:t>Sweet Potato Vines Distributed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200 000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Number </a:t>
                      </a:r>
                      <a:r>
                        <a:rPr lang="en-US" sz="1200" u="none" strike="noStrike" dirty="0" smtClean="0">
                          <a:effectLst/>
                          <a:latin typeface="Arial" panose="020B0604020202020204" pitchFamily="34" charset="0"/>
                          <a:cs typeface="Arial" panose="020B0604020202020204" pitchFamily="34" charset="0"/>
                        </a:rPr>
                        <a:t>of sweet potato </a:t>
                      </a:r>
                      <a:r>
                        <a:rPr lang="en-US" sz="1200" u="none" strike="noStrike" dirty="0">
                          <a:effectLst/>
                          <a:latin typeface="Arial" panose="020B0604020202020204" pitchFamily="34" charset="0"/>
                          <a:cs typeface="Arial" panose="020B0604020202020204" pitchFamily="34" charset="0"/>
                        </a:rPr>
                        <a:t>v</a:t>
                      </a:r>
                      <a:r>
                        <a:rPr lang="en-US" sz="1200" u="none" strike="noStrike" dirty="0" smtClean="0">
                          <a:effectLst/>
                          <a:latin typeface="Arial" panose="020B0604020202020204" pitchFamily="34" charset="0"/>
                          <a:cs typeface="Arial" panose="020B0604020202020204" pitchFamily="34" charset="0"/>
                        </a:rPr>
                        <a:t>ines </a:t>
                      </a:r>
                      <a:r>
                        <a:rPr lang="en-US" sz="1200" u="none" strike="noStrike" dirty="0">
                          <a:effectLst/>
                          <a:latin typeface="Arial" panose="020B0604020202020204" pitchFamily="34" charset="0"/>
                          <a:cs typeface="Arial" panose="020B0604020202020204" pitchFamily="34" charset="0"/>
                        </a:rPr>
                        <a:t>distributed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smtClean="0">
                          <a:effectLst/>
                          <a:latin typeface="Arial" panose="020B0604020202020204" pitchFamily="34" charset="0"/>
                          <a:cs typeface="Arial" panose="020B0604020202020204" pitchFamily="34" charset="0"/>
                        </a:rPr>
                        <a:t>Sweet Potato Vines</a:t>
                      </a:r>
                      <a:r>
                        <a:rPr lang="en-US" sz="1200" u="none" strike="noStrike" dirty="0">
                          <a:effectLst/>
                          <a:latin typeface="Arial" panose="020B0604020202020204" pitchFamily="34" charset="0"/>
                          <a:cs typeface="Arial" panose="020B0604020202020204" pitchFamily="34" charset="0"/>
                        </a:rPr>
                        <a:t>, Vehicle, </a:t>
                      </a:r>
                      <a:r>
                        <a:rPr lang="en-US" sz="1200" u="none" strike="noStrike" dirty="0" smtClean="0">
                          <a:effectLst/>
                          <a:latin typeface="Arial" panose="020B0604020202020204" pitchFamily="34" charset="0"/>
                          <a:cs typeface="Arial" panose="020B0604020202020204" pitchFamily="34" charset="0"/>
                        </a:rPr>
                        <a:t>Fuel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ARDAS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8703" marR="8703" marT="8703" marB="0"/>
                </a:tc>
                <a:extLst>
                  <a:ext uri="{0D108BD9-81ED-4DB2-BD59-A6C34878D82A}">
                    <a16:rowId xmlns:a16="http://schemas.microsoft.com/office/drawing/2014/main" val="1429997148"/>
                  </a:ext>
                </a:extLst>
              </a:tr>
              <a:tr h="874773">
                <a:tc vMerge="1">
                  <a:txBody>
                    <a:bodyPr/>
                    <a:lstStyle/>
                    <a:p>
                      <a:endParaRPr lang="en-US" dirty="0"/>
                    </a:p>
                  </a:txBody>
                  <a:tcPr marL="8703" marR="8703" marT="870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Business units monitored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Number of business units monitored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Vehicle, </a:t>
                      </a:r>
                      <a:r>
                        <a:rPr lang="en-US" sz="1200" u="none" strike="noStrike" dirty="0" smtClean="0">
                          <a:effectLst/>
                          <a:latin typeface="Arial" panose="020B0604020202020204" pitchFamily="34" charset="0"/>
                          <a:cs typeface="Arial" panose="020B0604020202020204" pitchFamily="34" charset="0"/>
                        </a:rPr>
                        <a:t>Fuel, DSA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ARDAS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8703" marR="8703" marT="8703" marB="0"/>
                </a:tc>
                <a:extLst>
                  <a:ext uri="{0D108BD9-81ED-4DB2-BD59-A6C34878D82A}">
                    <a16:rowId xmlns:a16="http://schemas.microsoft.com/office/drawing/2014/main" val="2367198280"/>
                  </a:ext>
                </a:extLst>
              </a:tr>
              <a:tr h="874773">
                <a:tc vMerge="1">
                  <a:txBody>
                    <a:bodyPr/>
                    <a:lstStyle/>
                    <a:p>
                      <a:endParaRPr lang="en-US" dirty="0"/>
                    </a:p>
                  </a:txBody>
                  <a:tcPr marL="8703" marR="8703" marT="8703" marB="0" anchor="b"/>
                </a:tc>
                <a:tc>
                  <a:txBody>
                    <a:bodyPr/>
                    <a:lstStyle/>
                    <a:p>
                      <a:pPr algn="l" fontAlgn="b"/>
                      <a:r>
                        <a:rPr lang="en-US" sz="1200" u="none" strike="noStrike" dirty="0" smtClean="0">
                          <a:effectLst/>
                          <a:latin typeface="Arial" panose="020B0604020202020204" pitchFamily="34" charset="0"/>
                          <a:cs typeface="Arial" panose="020B0604020202020204" pitchFamily="34" charset="0"/>
                        </a:rPr>
                        <a:t>Field days </a:t>
                      </a:r>
                      <a:r>
                        <a:rPr lang="en-US" sz="1200" u="none" strike="noStrike" dirty="0">
                          <a:effectLst/>
                          <a:latin typeface="Arial" panose="020B0604020202020204" pitchFamily="34" charset="0"/>
                          <a:cs typeface="Arial" panose="020B0604020202020204" pitchFamily="34" charset="0"/>
                        </a:rPr>
                        <a:t>Conducted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a:effectLst/>
                          <a:latin typeface="Arial" panose="020B0604020202020204" pitchFamily="34" charset="0"/>
                          <a:cs typeface="Arial" panose="020B0604020202020204" pitchFamily="34" charset="0"/>
                        </a:rPr>
                        <a:t>220</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Number of field days conducted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Vehicle, </a:t>
                      </a:r>
                      <a:r>
                        <a:rPr lang="en-US" sz="1200" u="none" strike="noStrike" dirty="0" smtClean="0">
                          <a:effectLst/>
                          <a:latin typeface="Arial" panose="020B0604020202020204" pitchFamily="34" charset="0"/>
                          <a:cs typeface="Arial" panose="020B0604020202020204" pitchFamily="34" charset="0"/>
                        </a:rPr>
                        <a:t>Fuel</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algn="l" fontAlgn="b"/>
                      <a:r>
                        <a:rPr lang="en-US" sz="1200" u="none" strike="noStrike">
                          <a:effectLst/>
                          <a:latin typeface="Arial" panose="020B0604020202020204" pitchFamily="34" charset="0"/>
                          <a:cs typeface="Arial" panose="020B0604020202020204" pitchFamily="34" charset="0"/>
                        </a:rPr>
                        <a:t>ARDAS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8703" marR="8703" marT="8703" marB="0"/>
                </a:tc>
                <a:extLst>
                  <a:ext uri="{0D108BD9-81ED-4DB2-BD59-A6C34878D82A}">
                    <a16:rowId xmlns:a16="http://schemas.microsoft.com/office/drawing/2014/main" val="2924471610"/>
                  </a:ext>
                </a:extLst>
              </a:tr>
              <a:tr h="874773">
                <a:tc vMerge="1">
                  <a:txBody>
                    <a:bodyPr/>
                    <a:lstStyle/>
                    <a:p>
                      <a:endParaRPr lang="en-US" dirty="0"/>
                    </a:p>
                  </a:txBody>
                  <a:tcPr marL="8703" marR="8703" marT="870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Famers </a:t>
                      </a:r>
                      <a:r>
                        <a:rPr lang="en-US" sz="1200" u="none" strike="noStrike" dirty="0" smtClean="0">
                          <a:effectLst/>
                          <a:latin typeface="Arial" panose="020B0604020202020204" pitchFamily="34" charset="0"/>
                          <a:cs typeface="Arial" panose="020B0604020202020204" pitchFamily="34" charset="0"/>
                        </a:rPr>
                        <a:t>Assisted </a:t>
                      </a:r>
                      <a:r>
                        <a:rPr lang="en-US" sz="1200" u="none" strike="noStrike" dirty="0">
                          <a:effectLst/>
                          <a:latin typeface="Arial" panose="020B0604020202020204" pitchFamily="34" charset="0"/>
                          <a:cs typeface="Arial" panose="020B0604020202020204" pitchFamily="34" charset="0"/>
                        </a:rPr>
                        <a:t>with PIP </a:t>
                      </a:r>
                      <a:r>
                        <a:rPr lang="en-US" sz="1200" u="none" strike="noStrike" dirty="0" smtClean="0">
                          <a:effectLst/>
                          <a:latin typeface="Arial" panose="020B0604020202020204" pitchFamily="34" charset="0"/>
                          <a:cs typeface="Arial" panose="020B0604020202020204" pitchFamily="34" charset="0"/>
                        </a:rPr>
                        <a:t>Inputs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440 000</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Number of farmers assisted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algn="l" fontAlgn="b"/>
                      <a:r>
                        <a:rPr lang="en-US" sz="1200" u="none" strike="noStrike" dirty="0">
                          <a:effectLst/>
                          <a:latin typeface="Arial" panose="020B0604020202020204" pitchFamily="34" charset="0"/>
                          <a:cs typeface="Arial" panose="020B0604020202020204" pitchFamily="34" charset="0"/>
                        </a:rPr>
                        <a:t>Input </a:t>
                      </a:r>
                      <a:r>
                        <a:rPr lang="en-US" sz="1200" u="none" strike="noStrike" dirty="0" smtClean="0">
                          <a:effectLst/>
                          <a:latin typeface="Arial" panose="020B0604020202020204" pitchFamily="34" charset="0"/>
                          <a:cs typeface="Arial" panose="020B0604020202020204" pitchFamily="34" charset="0"/>
                        </a:rPr>
                        <a:t>packs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ARDAS</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8703" marR="8703" marT="8703" marB="0"/>
                </a:tc>
                <a:extLst>
                  <a:ext uri="{0D108BD9-81ED-4DB2-BD59-A6C34878D82A}">
                    <a16:rowId xmlns:a16="http://schemas.microsoft.com/office/drawing/2014/main" val="134468664"/>
                  </a:ext>
                </a:extLst>
              </a:tr>
              <a:tr h="2268367">
                <a:tc vMerge="1">
                  <a:txBody>
                    <a:bodyPr/>
                    <a:lstStyle/>
                    <a:p>
                      <a:endParaRPr lang="en-US" dirty="0"/>
                    </a:p>
                  </a:txBody>
                  <a:tcPr marL="8703" marR="8703" marT="8703" marB="0" anchor="b"/>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Provide</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Tillage Services</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to Farmers,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Land</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preparation,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Ploughing</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Discing,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Ripping and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Boom spraying.</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125 hectares of land prepared</a:t>
                      </a:r>
                      <a:r>
                        <a:rPr lang="en-US" sz="1200" baseline="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per quarter</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Area of land</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prepared per District</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 </a:t>
                      </a:r>
                    </a:p>
                  </a:txBody>
                  <a:tcPr/>
                </a:tc>
                <a:tc>
                  <a:txBody>
                    <a:bodyPr/>
                    <a:lstStyle/>
                    <a:p>
                      <a:pPr algn="l"/>
                      <a:r>
                        <a:rPr lang="en-US" sz="1200" dirty="0" smtClean="0">
                          <a:latin typeface="Arial" panose="020B0604020202020204" pitchFamily="34" charset="0"/>
                          <a:cs typeface="Arial" panose="020B0604020202020204" pitchFamily="34" charset="0"/>
                        </a:rPr>
                        <a:t>Lubricants,</a:t>
                      </a:r>
                      <a:r>
                        <a:rPr lang="en-US" sz="1200" baseline="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Grease, Bearings,</a:t>
                      </a:r>
                      <a:r>
                        <a:rPr lang="en-US" sz="1200" baseline="0" dirty="0" smtClean="0">
                          <a:latin typeface="Arial" panose="020B0604020202020204" pitchFamily="34" charset="0"/>
                          <a:cs typeface="Arial" panose="020B0604020202020204" pitchFamily="34" charset="0"/>
                        </a:rPr>
                        <a:t> 3000 litres Fuel</a:t>
                      </a:r>
                      <a:endParaRPr lang="en-US" sz="1200" dirty="0">
                        <a:latin typeface="Arial" panose="020B060402020202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1 Jan</a:t>
                      </a:r>
                      <a:r>
                        <a:rPr lang="en-US" sz="1200" baseline="0" dirty="0" smtClean="0">
                          <a:latin typeface="Arial" panose="020B0604020202020204" pitchFamily="34" charset="0"/>
                          <a:cs typeface="Arial" panose="020B0604020202020204" pitchFamily="34" charset="0"/>
                        </a:rPr>
                        <a:t> – 31 Mar  2025</a:t>
                      </a:r>
                      <a:endParaRPr lang="en-US" sz="1200" dirty="0">
                        <a:latin typeface="Arial" panose="020B060402020202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Rural Infrastructure Development Agency (RIDA)</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14900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993759880"/>
              </p:ext>
            </p:extLst>
          </p:nvPr>
        </p:nvGraphicFramePr>
        <p:xfrm>
          <a:off x="0" y="241523"/>
          <a:ext cx="12191998" cy="6454725"/>
        </p:xfrm>
        <a:graphic>
          <a:graphicData uri="http://schemas.openxmlformats.org/drawingml/2006/table">
            <a:tbl>
              <a:tblPr firstRow="1" bandRow="1">
                <a:tableStyleId>{5C22544A-7EE6-4342-B048-85BDC9FD1C3A}</a:tableStyleId>
              </a:tblPr>
              <a:tblGrid>
                <a:gridCol w="1452880">
                  <a:extLst>
                    <a:ext uri="{9D8B030D-6E8A-4147-A177-3AD203B41FA5}">
                      <a16:colId xmlns:a16="http://schemas.microsoft.com/office/drawing/2014/main" val="20000"/>
                    </a:ext>
                  </a:extLst>
                </a:gridCol>
                <a:gridCol w="2030548">
                  <a:extLst>
                    <a:ext uri="{9D8B030D-6E8A-4147-A177-3AD203B41FA5}">
                      <a16:colId xmlns:a16="http://schemas.microsoft.com/office/drawing/2014/main" val="20001"/>
                    </a:ext>
                  </a:extLst>
                </a:gridCol>
                <a:gridCol w="1741714">
                  <a:extLst>
                    <a:ext uri="{9D8B030D-6E8A-4147-A177-3AD203B41FA5}">
                      <a16:colId xmlns:a16="http://schemas.microsoft.com/office/drawing/2014/main" val="20002"/>
                    </a:ext>
                  </a:extLst>
                </a:gridCol>
                <a:gridCol w="1741714">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405478">
                <a:tc>
                  <a:txBody>
                    <a:bodyPr/>
                    <a:lstStyle/>
                    <a:p>
                      <a:pPr marL="0" marR="0" algn="l">
                        <a:lnSpc>
                          <a:spcPct val="107000"/>
                        </a:lnSpc>
                        <a:spcBef>
                          <a:spcPts val="0"/>
                        </a:spcBef>
                        <a:spcAft>
                          <a:spcPts val="800"/>
                        </a:spcAft>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Key</a:t>
                      </a:r>
                      <a:r>
                        <a:rPr lang="en-US" sz="1200" b="1" kern="100" baseline="0" dirty="0" smtClean="0">
                          <a:effectLst/>
                          <a:latin typeface="Arial" panose="020B0604020202020204" pitchFamily="34" charset="0"/>
                          <a:ea typeface="Calibri" panose="020F0502020204030204" pitchFamily="34" charset="0"/>
                          <a:cs typeface="Arial" panose="020B0604020202020204" pitchFamily="34" charset="0"/>
                        </a:rPr>
                        <a:t> Result Area</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Activity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Target</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Process Indicator</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Resources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Timeline</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Lead Agency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extLst>
                  <a:ext uri="{0D108BD9-81ED-4DB2-BD59-A6C34878D82A}">
                    <a16:rowId xmlns:a16="http://schemas.microsoft.com/office/drawing/2014/main" val="10000"/>
                  </a:ext>
                </a:extLst>
              </a:tr>
              <a:tr h="2497703">
                <a:tc row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dirty="0" smtClean="0">
                          <a:latin typeface="Arial" panose="020B0604020202020204" pitchFamily="34" charset="0"/>
                          <a:cs typeface="Arial" panose="020B0604020202020204" pitchFamily="34" charset="0"/>
                        </a:rPr>
                        <a:t>KRA 2: Agriculture and Food Security</a:t>
                      </a:r>
                    </a:p>
                    <a:p>
                      <a:pPr algn="l"/>
                      <a:endParaRPr lang="en-US" sz="1200" b="1" dirty="0">
                        <a:latin typeface="Arial" panose="020B0604020202020204" pitchFamily="34" charset="0"/>
                        <a:cs typeface="Arial" panose="020B0604020202020204" pitchFamily="34" charset="0"/>
                      </a:endParaRPr>
                    </a:p>
                  </a:txBody>
                  <a:tcPr anchor="ct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Train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community </a:t>
                      </a:r>
                      <a:r>
                        <a:rPr lang="en-US" sz="1200" kern="100" dirty="0">
                          <a:effectLst/>
                          <a:latin typeface="Arial" panose="020B0604020202020204" pitchFamily="34" charset="0"/>
                          <a:ea typeface="Calibri" panose="020F0502020204030204" pitchFamily="34" charset="0"/>
                          <a:cs typeface="Arial" panose="020B0604020202020204" pitchFamily="34" charset="0"/>
                        </a:rPr>
                        <a:t>on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Climate SMART Agricultural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Practices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5000 community members</a:t>
                      </a:r>
                      <a:r>
                        <a:rPr lang="en-US" sz="1200" baseline="0" dirty="0" smtClean="0">
                          <a:latin typeface="Arial" panose="020B0604020202020204" pitchFamily="34" charset="0"/>
                          <a:cs typeface="Arial" panose="020B0604020202020204" pitchFamily="34" charset="0"/>
                        </a:rPr>
                        <a:t> trained on </a:t>
                      </a:r>
                      <a:r>
                        <a:rPr lang="en-US" sz="1200" baseline="0" dirty="0" err="1" smtClean="0">
                          <a:latin typeface="Arial" panose="020B0604020202020204" pitchFamily="34" charset="0"/>
                          <a:cs typeface="Arial" panose="020B0604020202020204" pitchFamily="34" charset="0"/>
                        </a:rPr>
                        <a:t>Pfumvudza</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community</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members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 trained on</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SMART Agriculture </a:t>
                      </a:r>
                    </a:p>
                    <a:p>
                      <a:pPr marL="0" marR="0" indent="0" algn="l" defTabSz="914400" rtl="0" eaLnBrk="1" fontAlgn="auto" latinLnBrk="0" hangingPunct="1">
                        <a:lnSpc>
                          <a:spcPct val="107000"/>
                        </a:lnSpc>
                        <a:spcBef>
                          <a:spcPts val="0"/>
                        </a:spcBef>
                        <a:spcAft>
                          <a:spcPts val="800"/>
                        </a:spcAft>
                        <a:buClrTx/>
                        <a:buSzTx/>
                        <a:buFontTx/>
                        <a:buNone/>
                        <a:tabLst/>
                        <a:defRPr/>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Proportion of HH adopting climate</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 </a:t>
                      </a:r>
                    </a:p>
                  </a:txBody>
                  <a:tcPr/>
                </a:tc>
                <a:tc>
                  <a:txBody>
                    <a:bodyPr/>
                    <a:lstStyle/>
                    <a:p>
                      <a:pPr algn="l"/>
                      <a:r>
                        <a:rPr lang="en-US" sz="1200" dirty="0" smtClean="0">
                          <a:latin typeface="Arial" panose="020B0604020202020204" pitchFamily="34" charset="0"/>
                          <a:cs typeface="Arial" panose="020B0604020202020204" pitchFamily="34" charset="0"/>
                        </a:rPr>
                        <a:t>Training </a:t>
                      </a:r>
                      <a:r>
                        <a:rPr lang="en-US" sz="1200" dirty="0" smtClean="0">
                          <a:latin typeface="Arial" panose="020B0604020202020204" pitchFamily="34" charset="0"/>
                          <a:cs typeface="Arial" panose="020B0604020202020204" pitchFamily="34" charset="0"/>
                        </a:rPr>
                        <a:t>materials, DSA, </a:t>
                      </a:r>
                      <a:r>
                        <a:rPr lang="en-US" sz="1200" baseline="0" dirty="0" smtClean="0">
                          <a:latin typeface="Arial" panose="020B0604020202020204" pitchFamily="34" charset="0"/>
                          <a:cs typeface="Arial" panose="020B0604020202020204" pitchFamily="34" charset="0"/>
                        </a:rPr>
                        <a:t>Vehicle, Fuel </a:t>
                      </a:r>
                      <a:endParaRPr lang="en-US" sz="1200" dirty="0" smtClean="0">
                        <a:latin typeface="Arial" panose="020B060402020202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1 April – 30</a:t>
                      </a:r>
                      <a:r>
                        <a:rPr lang="en-US" sz="1200" baseline="0" dirty="0" smtClean="0">
                          <a:latin typeface="Arial" panose="020B0604020202020204" pitchFamily="34" charset="0"/>
                          <a:cs typeface="Arial" panose="020B0604020202020204" pitchFamily="34" charset="0"/>
                        </a:rPr>
                        <a:t> Nov 2025</a:t>
                      </a:r>
                      <a:endParaRPr lang="en-US" sz="1200" dirty="0">
                        <a:latin typeface="Arial" panose="020B060402020202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AGRITEX, EMA</a:t>
                      </a:r>
                      <a:r>
                        <a:rPr lang="en-US" sz="1200" baseline="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Women</a:t>
                      </a:r>
                      <a:r>
                        <a:rPr lang="en-US" sz="1200" baseline="0" dirty="0" smtClean="0">
                          <a:latin typeface="Arial" panose="020B0604020202020204" pitchFamily="34" charset="0"/>
                          <a:cs typeface="Arial" panose="020B0604020202020204" pitchFamily="34" charset="0"/>
                        </a:rPr>
                        <a:t> Affairs </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183848">
                <a:tc vMerge="1">
                  <a:txBody>
                    <a:bodyPr/>
                    <a:lstStyle/>
                    <a:p>
                      <a:endParaRPr lang="en-US" b="1" dirty="0"/>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Ward Extension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Staff </a:t>
                      </a:r>
                      <a:r>
                        <a:rPr lang="en-US" sz="1200" kern="100" dirty="0">
                          <a:effectLst/>
                          <a:latin typeface="Arial" panose="020B0604020202020204" pitchFamily="34" charset="0"/>
                          <a:ea typeface="Calibri" panose="020F0502020204030204" pitchFamily="34" charset="0"/>
                          <a:cs typeface="Arial" panose="020B0604020202020204" pitchFamily="34" charset="0"/>
                        </a:rPr>
                        <a:t>C</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apacity </a:t>
                      </a:r>
                      <a:r>
                        <a:rPr lang="en-US" sz="1200" kern="100" dirty="0">
                          <a:effectLst/>
                          <a:latin typeface="Arial" panose="020B0604020202020204" pitchFamily="34" charset="0"/>
                          <a:ea typeface="Calibri" panose="020F0502020204030204" pitchFamily="34" charset="0"/>
                          <a:cs typeface="Arial" panose="020B0604020202020204" pitchFamily="34" charset="0"/>
                        </a:rPr>
                        <a:t>B</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uilding</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176 CDCs</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umber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of Ward extension staff (CDC) trained on FNS issues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Training </a:t>
                      </a:r>
                      <a:r>
                        <a:rPr lang="en-US" sz="1200" dirty="0" smtClean="0">
                          <a:latin typeface="Arial" panose="020B0604020202020204" pitchFamily="34" charset="0"/>
                          <a:cs typeface="Arial" panose="020B0604020202020204" pitchFamily="34" charset="0"/>
                        </a:rPr>
                        <a:t>materials,</a:t>
                      </a:r>
                      <a:r>
                        <a:rPr lang="en-US" sz="1200" baseline="0" dirty="0" smtClean="0">
                          <a:latin typeface="Arial" panose="020B0604020202020204" pitchFamily="34" charset="0"/>
                          <a:cs typeface="Arial" panose="020B0604020202020204" pitchFamily="34" charset="0"/>
                        </a:rPr>
                        <a:t> DSA, Vehicle, Fuel </a:t>
                      </a:r>
                      <a:endParaRPr lang="en-US" sz="1200" dirty="0" smtClean="0">
                        <a:latin typeface="Arial" panose="020B060402020202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1 April – 30</a:t>
                      </a:r>
                      <a:r>
                        <a:rPr lang="en-US" sz="1200" baseline="0" dirty="0" smtClean="0">
                          <a:latin typeface="Arial" panose="020B0604020202020204" pitchFamily="34" charset="0"/>
                          <a:cs typeface="Arial" panose="020B0604020202020204" pitchFamily="34" charset="0"/>
                        </a:rPr>
                        <a:t> Nov 2025</a:t>
                      </a:r>
                      <a:endParaRPr lang="en-US" sz="1200" dirty="0">
                        <a:latin typeface="Arial" panose="020B0604020202020204" pitchFamily="34" charset="0"/>
                        <a:cs typeface="Arial" panose="020B0604020202020204" pitchFamily="34" charset="0"/>
                      </a:endParaRPr>
                    </a:p>
                  </a:txBody>
                  <a:tcPr/>
                </a:tc>
                <a:tc>
                  <a:txBody>
                    <a:bodyPr/>
                    <a:lstStyle/>
                    <a:p>
                      <a:pPr algn="l"/>
                      <a:r>
                        <a:rPr lang="en-US" sz="1200" dirty="0" smtClean="0">
                          <a:latin typeface="Arial" panose="020B0604020202020204" pitchFamily="34" charset="0"/>
                          <a:cs typeface="Arial" panose="020B0604020202020204" pitchFamily="34" charset="0"/>
                        </a:rPr>
                        <a:t>AGRITEX, EMA, Healt</a:t>
                      </a:r>
                      <a:r>
                        <a:rPr lang="en-US" sz="1200" baseline="0" dirty="0" smtClean="0">
                          <a:latin typeface="Arial" panose="020B0604020202020204" pitchFamily="34" charset="0"/>
                          <a:cs typeface="Arial" panose="020B0604020202020204" pitchFamily="34" charset="0"/>
                        </a:rPr>
                        <a:t>h, </a:t>
                      </a:r>
                      <a:r>
                        <a:rPr lang="en-US" sz="1200" dirty="0" smtClean="0">
                          <a:latin typeface="Arial" panose="020B0604020202020204" pitchFamily="34" charset="0"/>
                          <a:cs typeface="Arial" panose="020B0604020202020204" pitchFamily="34" charset="0"/>
                        </a:rPr>
                        <a:t>Women</a:t>
                      </a:r>
                      <a:r>
                        <a:rPr lang="en-US" sz="1200" baseline="0" dirty="0" smtClean="0">
                          <a:latin typeface="Arial" panose="020B0604020202020204" pitchFamily="34" charset="0"/>
                          <a:cs typeface="Arial" panose="020B0604020202020204" pitchFamily="34" charset="0"/>
                        </a:rPr>
                        <a:t> Affairs </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1183848">
                <a:tc vMerge="1">
                  <a:txBody>
                    <a:bodyPr/>
                    <a:lstStyle/>
                    <a:p>
                      <a:pPr algn="ctr"/>
                      <a:endParaRPr lang="en-US" sz="1600" b="1" dirty="0">
                        <a:latin typeface="+mj-lt"/>
                      </a:endParaRPr>
                    </a:p>
                  </a:txBody>
                  <a:tcPr anchor="ctr"/>
                </a:tc>
                <a:tc>
                  <a:txBody>
                    <a:bodyPr/>
                    <a:lstStyle/>
                    <a:p>
                      <a:pPr algn="l" fontAlgn="b"/>
                      <a:r>
                        <a:rPr lang="en-US" sz="1200" b="0" i="0" u="none" strike="noStrike" dirty="0" smtClean="0">
                          <a:solidFill>
                            <a:srgbClr val="000000"/>
                          </a:solidFill>
                          <a:effectLst/>
                          <a:latin typeface="Arial" panose="020B0604020202020204" pitchFamily="34" charset="0"/>
                          <a:cs typeface="Arial" panose="020B0604020202020204" pitchFamily="34" charset="0"/>
                        </a:rPr>
                        <a:t>Village</a:t>
                      </a:r>
                      <a:r>
                        <a:rPr lang="en-US" sz="1200" b="0" i="0" u="none" strike="noStrike" baseline="0" dirty="0" smtClean="0">
                          <a:solidFill>
                            <a:srgbClr val="000000"/>
                          </a:solidFill>
                          <a:effectLst/>
                          <a:latin typeface="Arial" panose="020B0604020202020204" pitchFamily="34" charset="0"/>
                          <a:cs typeface="Arial" panose="020B0604020202020204" pitchFamily="34" charset="0"/>
                        </a:rPr>
                        <a:t> </a:t>
                      </a:r>
                      <a:r>
                        <a:rPr lang="en-US" sz="1200" b="0" i="0" u="none" strike="noStrike" dirty="0" smtClean="0">
                          <a:solidFill>
                            <a:srgbClr val="000000"/>
                          </a:solidFill>
                          <a:effectLst/>
                          <a:latin typeface="Arial" panose="020B0604020202020204" pitchFamily="34" charset="0"/>
                          <a:cs typeface="Arial" panose="020B0604020202020204" pitchFamily="34" charset="0"/>
                        </a:rPr>
                        <a:t>Business Units </a:t>
                      </a:r>
                      <a:r>
                        <a:rPr lang="en-US" sz="1200" b="0" i="0" u="none" strike="noStrike" dirty="0">
                          <a:solidFill>
                            <a:srgbClr val="000000"/>
                          </a:solidFill>
                          <a:effectLst/>
                          <a:latin typeface="Arial" panose="020B0604020202020204" pitchFamily="34" charset="0"/>
                          <a:cs typeface="Arial" panose="020B0604020202020204" pitchFamily="34" charset="0"/>
                        </a:rPr>
                        <a:t>Market linkages created</a:t>
                      </a:r>
                    </a:p>
                  </a:txBody>
                  <a:tcPr marL="6593" marR="6593" marT="6593" marB="0"/>
                </a:tc>
                <a:tc>
                  <a:txBody>
                    <a:bodyPr/>
                    <a:lstStyle/>
                    <a:p>
                      <a:pPr algn="l" fontAlgn="b"/>
                      <a:r>
                        <a:rPr lang="en-US" sz="1200" b="0" i="0" u="none" strike="noStrike" dirty="0" smtClean="0">
                          <a:solidFill>
                            <a:srgbClr val="000000"/>
                          </a:solidFill>
                          <a:effectLst/>
                          <a:latin typeface="Arial" panose="020B0604020202020204" pitchFamily="34" charset="0"/>
                          <a:cs typeface="Arial" panose="020B0604020202020204" pitchFamily="34" charset="0"/>
                        </a:rPr>
                        <a:t>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Markets created</a:t>
                      </a: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Fuels, </a:t>
                      </a:r>
                      <a:r>
                        <a:rPr lang="en-US" sz="1200" b="0" i="0" u="none" strike="noStrike" dirty="0" smtClean="0">
                          <a:solidFill>
                            <a:srgbClr val="000000"/>
                          </a:solidFill>
                          <a:effectLst/>
                          <a:latin typeface="Arial" panose="020B0604020202020204" pitchFamily="34" charset="0"/>
                          <a:cs typeface="Arial" panose="020B0604020202020204" pitchFamily="34" charset="0"/>
                        </a:rPr>
                        <a:t>DSA</a:t>
                      </a:r>
                      <a:r>
                        <a:rPr lang="en-US" sz="1200" b="0" i="0" u="none" strike="noStrike" baseline="0" dirty="0" smtClean="0">
                          <a:solidFill>
                            <a:srgbClr val="000000"/>
                          </a:solidFill>
                          <a:effectLst/>
                          <a:latin typeface="Arial" panose="020B0604020202020204" pitchFamily="34" charset="0"/>
                          <a:cs typeface="Arial" panose="020B0604020202020204" pitchFamily="34" charset="0"/>
                        </a:rPr>
                        <a:t> </a:t>
                      </a:r>
                      <a:r>
                        <a:rPr lang="en-US" sz="1200" b="0" i="0" u="none" strike="noStrike" dirty="0" smtClean="0">
                          <a:solidFill>
                            <a:srgbClr val="000000"/>
                          </a:solidFill>
                          <a:effectLst/>
                          <a:latin typeface="Arial" panose="020B0604020202020204" pitchFamily="34" charset="0"/>
                          <a:cs typeface="Arial" panose="020B0604020202020204" pitchFamily="34" charset="0"/>
                        </a:rPr>
                        <a:t>, Airtime</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baseline="0" dirty="0">
                          <a:effectLst/>
                          <a:latin typeface="Arial" panose="020B0604020202020204" pitchFamily="34" charset="0"/>
                          <a:cs typeface="Arial" panose="020B0604020202020204" pitchFamily="34" charset="0"/>
                        </a:rPr>
                        <a:t> </a:t>
                      </a:r>
                      <a:r>
                        <a:rPr lang="en-US" sz="1200" u="none" strike="noStrike" baseline="0" dirty="0" smtClean="0">
                          <a:effectLst/>
                          <a:latin typeface="Arial" panose="020B0604020202020204" pitchFamily="34" charset="0"/>
                          <a:cs typeface="Arial" panose="020B0604020202020204" pitchFamily="34" charset="0"/>
                        </a:rPr>
                        <a:t> 1</a:t>
                      </a:r>
                      <a:r>
                        <a:rPr lang="en-US" sz="1200" u="none" strike="noStrike" dirty="0" smtClean="0">
                          <a:effectLst/>
                          <a:latin typeface="Arial" panose="020B0604020202020204" pitchFamily="34" charset="0"/>
                          <a:cs typeface="Arial" panose="020B0604020202020204" pitchFamily="34" charset="0"/>
                        </a:rPr>
                        <a:t> </a:t>
                      </a:r>
                      <a:r>
                        <a:rPr lang="en-US" sz="1200" u="none" strike="noStrike" dirty="0">
                          <a:effectLst/>
                          <a:latin typeface="Arial" panose="020B0604020202020204" pitchFamily="34" charset="0"/>
                          <a:cs typeface="Arial" panose="020B0604020202020204" pitchFamily="34" charset="0"/>
                        </a:rPr>
                        <a:t>Jan </a:t>
                      </a:r>
                      <a:r>
                        <a:rPr lang="en-US" sz="1200" u="none" strike="noStrike" dirty="0" smtClean="0">
                          <a:effectLst/>
                          <a:latin typeface="Arial" panose="020B0604020202020204" pitchFamily="34" charset="0"/>
                          <a:cs typeface="Arial" panose="020B0604020202020204" pitchFamily="34" charset="0"/>
                        </a:rPr>
                        <a:t>-</a:t>
                      </a:r>
                      <a:r>
                        <a:rPr lang="en-US" sz="1200" u="none" strike="noStrike" baseline="0" dirty="0" smtClean="0">
                          <a:effectLst/>
                          <a:latin typeface="Arial" panose="020B0604020202020204" pitchFamily="34" charset="0"/>
                          <a:cs typeface="Arial" panose="020B0604020202020204" pitchFamily="34" charset="0"/>
                        </a:rPr>
                        <a:t> </a:t>
                      </a:r>
                      <a:r>
                        <a:rPr lang="en-US" sz="1200" u="none" strike="noStrike" dirty="0" smtClean="0">
                          <a:effectLst/>
                          <a:latin typeface="Arial" panose="020B0604020202020204" pitchFamily="34" charset="0"/>
                          <a:cs typeface="Arial" panose="020B0604020202020204" pitchFamily="34" charset="0"/>
                        </a:rPr>
                        <a:t> </a:t>
                      </a:r>
                      <a:r>
                        <a:rPr lang="en-US" sz="1200" u="none" strike="noStrike" dirty="0">
                          <a:effectLst/>
                          <a:latin typeface="Arial" panose="020B0604020202020204" pitchFamily="34" charset="0"/>
                          <a:cs typeface="Arial" panose="020B0604020202020204" pitchFamily="34" charset="0"/>
                        </a:rPr>
                        <a:t>31 Dec </a:t>
                      </a:r>
                      <a:r>
                        <a:rPr lang="en-US" sz="1200" u="none" strike="noStrike" dirty="0" smtClean="0">
                          <a:effectLst/>
                          <a:latin typeface="Arial" panose="020B0604020202020204" pitchFamily="34" charset="0"/>
                          <a:cs typeface="Arial" panose="020B0604020202020204" pitchFamily="34" charset="0"/>
                        </a:rPr>
                        <a:t>2025</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smtClean="0">
                          <a:effectLst/>
                          <a:latin typeface="Arial" panose="020B0604020202020204" pitchFamily="34" charset="0"/>
                          <a:cs typeface="Arial" panose="020B0604020202020204" pitchFamily="34" charset="0"/>
                        </a:rPr>
                        <a:t>Agriculture</a:t>
                      </a:r>
                      <a:r>
                        <a:rPr lang="en-US" sz="1200" u="none" strike="noStrike" baseline="0" dirty="0" smtClean="0">
                          <a:effectLst/>
                          <a:latin typeface="Arial" panose="020B0604020202020204" pitchFamily="34" charset="0"/>
                          <a:cs typeface="Arial" panose="020B0604020202020204" pitchFamily="34" charset="0"/>
                        </a:rPr>
                        <a:t> Marketing Authority (</a:t>
                      </a:r>
                      <a:r>
                        <a:rPr lang="en-US" sz="1200" u="none" strike="noStrike" dirty="0" smtClean="0">
                          <a:effectLst/>
                          <a:latin typeface="Arial" panose="020B0604020202020204" pitchFamily="34" charset="0"/>
                          <a:cs typeface="Arial" panose="020B0604020202020204" pitchFamily="34" charset="0"/>
                        </a:rPr>
                        <a:t>AMA)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0003"/>
                  </a:ext>
                </a:extLst>
              </a:tr>
              <a:tr h="1183848">
                <a:tc vMerge="1">
                  <a:txBody>
                    <a:bodyPr/>
                    <a:lstStyle/>
                    <a:p>
                      <a:pPr algn="ctr"/>
                      <a:endParaRPr lang="en-US" sz="1600" b="1" dirty="0">
                        <a:latin typeface="+mj-lt"/>
                      </a:endParaRPr>
                    </a:p>
                  </a:txBody>
                  <a:tcPr anchor="ctr"/>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IBUs Market linkages created</a:t>
                      </a:r>
                    </a:p>
                  </a:txBody>
                  <a:tcPr marL="6593" marR="6593" marT="6593" marB="0"/>
                </a:tc>
                <a:tc>
                  <a:txBody>
                    <a:bodyPr/>
                    <a:lstStyle/>
                    <a:p>
                      <a:pPr algn="l" fontAlgn="b"/>
                      <a:r>
                        <a:rPr lang="en-US" sz="1200" b="0" i="0" u="none" strike="noStrike" dirty="0" smtClean="0">
                          <a:solidFill>
                            <a:srgbClr val="000000"/>
                          </a:solidFill>
                          <a:effectLst/>
                          <a:latin typeface="Arial" panose="020B0604020202020204" pitchFamily="34" charset="0"/>
                          <a:cs typeface="Arial" panose="020B0604020202020204" pitchFamily="34" charset="0"/>
                        </a:rPr>
                        <a:t>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Markets created</a:t>
                      </a:r>
                    </a:p>
                  </a:txBody>
                  <a:tcPr marL="6593" marR="6593" marT="659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cs typeface="Arial" panose="020B0604020202020204" pitchFamily="34" charset="0"/>
                        </a:rPr>
                        <a:t>Fuels, T&amp;S, air time</a:t>
                      </a:r>
                    </a:p>
                  </a:txBody>
                  <a:tcPr marL="6593" marR="6593" marT="6593" marB="0"/>
                </a:tc>
                <a:tc>
                  <a:txBody>
                    <a:bodyPr/>
                    <a:lstStyle/>
                    <a:p>
                      <a:pPr algn="l" fontAlgn="b"/>
                      <a:r>
                        <a:rPr lang="en-US" sz="1200" u="none" strike="noStrike" baseline="0" dirty="0">
                          <a:effectLst/>
                          <a:latin typeface="Arial" panose="020B0604020202020204" pitchFamily="34" charset="0"/>
                          <a:cs typeface="Arial" panose="020B0604020202020204" pitchFamily="34" charset="0"/>
                        </a:rPr>
                        <a:t> </a:t>
                      </a:r>
                      <a:r>
                        <a:rPr lang="en-US" sz="1200" u="none" strike="noStrike" baseline="0" dirty="0" smtClean="0">
                          <a:effectLst/>
                          <a:latin typeface="Arial" panose="020B0604020202020204" pitchFamily="34" charset="0"/>
                          <a:cs typeface="Arial" panose="020B0604020202020204" pitchFamily="34" charset="0"/>
                        </a:rPr>
                        <a:t> 1</a:t>
                      </a:r>
                      <a:r>
                        <a:rPr lang="en-US" sz="1200" u="none" strike="noStrike" dirty="0" smtClean="0">
                          <a:effectLst/>
                          <a:latin typeface="Arial" panose="020B0604020202020204" pitchFamily="34" charset="0"/>
                          <a:cs typeface="Arial" panose="020B0604020202020204" pitchFamily="34" charset="0"/>
                        </a:rPr>
                        <a:t> Jan </a:t>
                      </a:r>
                      <a:r>
                        <a:rPr lang="en-US" sz="1200" u="none" strike="noStrike" baseline="0" dirty="0" smtClean="0">
                          <a:effectLst/>
                          <a:latin typeface="Arial" panose="020B0604020202020204" pitchFamily="34" charset="0"/>
                          <a:cs typeface="Arial" panose="020B0604020202020204" pitchFamily="34" charset="0"/>
                        </a:rPr>
                        <a:t> - </a:t>
                      </a:r>
                      <a:r>
                        <a:rPr lang="en-US" sz="1200" u="none" strike="noStrike" dirty="0" smtClean="0">
                          <a:effectLst/>
                          <a:latin typeface="Arial" panose="020B0604020202020204" pitchFamily="34" charset="0"/>
                          <a:cs typeface="Arial" panose="020B0604020202020204" pitchFamily="34" charset="0"/>
                        </a:rPr>
                        <a:t> </a:t>
                      </a:r>
                      <a:r>
                        <a:rPr lang="en-US" sz="1200" u="none" strike="noStrike" dirty="0">
                          <a:effectLst/>
                          <a:latin typeface="Arial" panose="020B0604020202020204" pitchFamily="34" charset="0"/>
                          <a:cs typeface="Arial" panose="020B0604020202020204" pitchFamily="34" charset="0"/>
                        </a:rPr>
                        <a:t>31 Dec </a:t>
                      </a:r>
                      <a:r>
                        <a:rPr lang="en-US" sz="1200" u="none" strike="noStrike" dirty="0" smtClean="0">
                          <a:effectLst/>
                          <a:latin typeface="Arial" panose="020B0604020202020204" pitchFamily="34" charset="0"/>
                          <a:cs typeface="Arial" panose="020B0604020202020204" pitchFamily="34" charset="0"/>
                        </a:rPr>
                        <a:t>2025</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AMA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138306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971904486"/>
              </p:ext>
            </p:extLst>
          </p:nvPr>
        </p:nvGraphicFramePr>
        <p:xfrm>
          <a:off x="166255" y="163080"/>
          <a:ext cx="11661569" cy="6570230"/>
        </p:xfrm>
        <a:graphic>
          <a:graphicData uri="http://schemas.openxmlformats.org/drawingml/2006/table">
            <a:tbl>
              <a:tblPr firstRow="1" bandRow="1">
                <a:tableStyleId>{5C22544A-7EE6-4342-B048-85BDC9FD1C3A}</a:tableStyleId>
              </a:tblPr>
              <a:tblGrid>
                <a:gridCol w="1114912">
                  <a:extLst>
                    <a:ext uri="{9D8B030D-6E8A-4147-A177-3AD203B41FA5}">
                      <a16:colId xmlns:a16="http://schemas.microsoft.com/office/drawing/2014/main" val="20000"/>
                    </a:ext>
                  </a:extLst>
                </a:gridCol>
                <a:gridCol w="1929967">
                  <a:extLst>
                    <a:ext uri="{9D8B030D-6E8A-4147-A177-3AD203B41FA5}">
                      <a16:colId xmlns:a16="http://schemas.microsoft.com/office/drawing/2014/main" val="20001"/>
                    </a:ext>
                  </a:extLst>
                </a:gridCol>
                <a:gridCol w="1243028">
                  <a:extLst>
                    <a:ext uri="{9D8B030D-6E8A-4147-A177-3AD203B41FA5}">
                      <a16:colId xmlns:a16="http://schemas.microsoft.com/office/drawing/2014/main" val="20002"/>
                    </a:ext>
                  </a:extLst>
                </a:gridCol>
                <a:gridCol w="3017593">
                  <a:extLst>
                    <a:ext uri="{9D8B030D-6E8A-4147-A177-3AD203B41FA5}">
                      <a16:colId xmlns:a16="http://schemas.microsoft.com/office/drawing/2014/main" val="20003"/>
                    </a:ext>
                  </a:extLst>
                </a:gridCol>
                <a:gridCol w="1452023">
                  <a:extLst>
                    <a:ext uri="{9D8B030D-6E8A-4147-A177-3AD203B41FA5}">
                      <a16:colId xmlns:a16="http://schemas.microsoft.com/office/drawing/2014/main" val="20004"/>
                    </a:ext>
                  </a:extLst>
                </a:gridCol>
                <a:gridCol w="1452023">
                  <a:extLst>
                    <a:ext uri="{9D8B030D-6E8A-4147-A177-3AD203B41FA5}">
                      <a16:colId xmlns:a16="http://schemas.microsoft.com/office/drawing/2014/main" val="20005"/>
                    </a:ext>
                  </a:extLst>
                </a:gridCol>
                <a:gridCol w="1452023">
                  <a:extLst>
                    <a:ext uri="{9D8B030D-6E8A-4147-A177-3AD203B41FA5}">
                      <a16:colId xmlns:a16="http://schemas.microsoft.com/office/drawing/2014/main" val="20006"/>
                    </a:ext>
                  </a:extLst>
                </a:gridCol>
              </a:tblGrid>
              <a:tr h="956989">
                <a:tc>
                  <a:txBody>
                    <a:bodyPr/>
                    <a:lstStyle/>
                    <a:p>
                      <a:pPr algn="l" fontAlgn="b"/>
                      <a:r>
                        <a:rPr lang="en-US" sz="1200" u="none" strike="noStrike" dirty="0">
                          <a:effectLst/>
                          <a:latin typeface="Arial" panose="020B0604020202020204" pitchFamily="34" charset="0"/>
                          <a:cs typeface="Arial" panose="020B0604020202020204" pitchFamily="34" charset="0"/>
                        </a:rPr>
                        <a:t>Key Result Area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Activity</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Target</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Process Indicator</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Resources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Timeline</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Lead Agency</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extLst>
                  <a:ext uri="{0D108BD9-81ED-4DB2-BD59-A6C34878D82A}">
                    <a16:rowId xmlns:a16="http://schemas.microsoft.com/office/drawing/2014/main" val="10000"/>
                  </a:ext>
                </a:extLst>
              </a:tr>
              <a:tr h="1428202">
                <a:tc rowSpan="4">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dirty="0" smtClean="0">
                          <a:latin typeface="Arial" panose="020B0604020202020204" pitchFamily="34" charset="0"/>
                          <a:cs typeface="Arial" panose="020B0604020202020204" pitchFamily="34" charset="0"/>
                        </a:rPr>
                        <a:t>KRA 2: Agriculture and Food Security</a:t>
                      </a:r>
                    </a:p>
                    <a:p>
                      <a:pPr algn="l"/>
                      <a:endParaRPr lang="en-US" sz="1200" b="1" dirty="0">
                        <a:latin typeface="Arial" panose="020B0604020202020204" pitchFamily="34" charset="0"/>
                        <a:cs typeface="Arial" panose="020B0604020202020204" pitchFamily="34" charset="0"/>
                      </a:endParaRPr>
                    </a:p>
                  </a:txBody>
                  <a:tcPr marL="6593" marR="6593" marT="6593" marB="0" anchor="ctr"/>
                </a:tc>
                <a:tc>
                  <a:txBody>
                    <a:bodyPr/>
                    <a:lstStyle/>
                    <a:p>
                      <a:pPr algn="l" fontAlgn="b"/>
                      <a:r>
                        <a:rPr lang="en-US" sz="1200" b="0" i="0" u="none" strike="noStrike" dirty="0" smtClean="0">
                          <a:solidFill>
                            <a:srgbClr val="000000"/>
                          </a:solidFill>
                          <a:effectLst/>
                          <a:latin typeface="Arial" panose="020B0604020202020204" pitchFamily="34" charset="0"/>
                          <a:cs typeface="Arial" panose="020B0604020202020204" pitchFamily="34" charset="0"/>
                        </a:rPr>
                        <a:t>Capacity</a:t>
                      </a:r>
                      <a:r>
                        <a:rPr lang="en-US" sz="1200" b="0" i="0" u="none" strike="noStrike" baseline="0" dirty="0" smtClean="0">
                          <a:solidFill>
                            <a:srgbClr val="000000"/>
                          </a:solidFill>
                          <a:effectLst/>
                          <a:latin typeface="Arial" panose="020B0604020202020204" pitchFamily="34" charset="0"/>
                          <a:cs typeface="Arial" panose="020B0604020202020204" pitchFamily="34" charset="0"/>
                        </a:rPr>
                        <a:t> </a:t>
                      </a:r>
                      <a:r>
                        <a:rPr lang="en-US" sz="1200" b="0" i="0" u="none" strike="noStrike" baseline="0" dirty="0" smtClean="0">
                          <a:solidFill>
                            <a:srgbClr val="000000"/>
                          </a:solidFill>
                          <a:effectLst/>
                          <a:latin typeface="Arial" panose="020B0604020202020204" pitchFamily="34" charset="0"/>
                          <a:cs typeface="Arial" panose="020B0604020202020204" pitchFamily="34" charset="0"/>
                        </a:rPr>
                        <a:t>Building</a:t>
                      </a:r>
                      <a:r>
                        <a:rPr lang="en-US" sz="1200" b="0" i="0" u="none" strike="noStrike" dirty="0" smtClean="0">
                          <a:solidFill>
                            <a:srgbClr val="000000"/>
                          </a:solidFill>
                          <a:effectLst/>
                          <a:latin typeface="Arial" panose="020B0604020202020204" pitchFamily="34" charset="0"/>
                          <a:cs typeface="Arial" panose="020B0604020202020204" pitchFamily="34" charset="0"/>
                        </a:rPr>
                        <a:t> </a:t>
                      </a:r>
                      <a:r>
                        <a:rPr lang="en-US" sz="1200" b="0" i="0" u="none" strike="noStrike" dirty="0">
                          <a:solidFill>
                            <a:srgbClr val="000000"/>
                          </a:solidFill>
                          <a:effectLst/>
                          <a:latin typeface="Arial" panose="020B0604020202020204" pitchFamily="34" charset="0"/>
                          <a:cs typeface="Arial" panose="020B0604020202020204" pitchFamily="34" charset="0"/>
                        </a:rPr>
                        <a:t>on </a:t>
                      </a:r>
                    </a:p>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Contract </a:t>
                      </a:r>
                      <a:r>
                        <a:rPr lang="en-US" sz="1200" b="0" i="0" u="none" strike="noStrike" dirty="0" smtClean="0">
                          <a:solidFill>
                            <a:srgbClr val="000000"/>
                          </a:solidFill>
                          <a:effectLst/>
                          <a:latin typeface="Arial" panose="020B0604020202020204" pitchFamily="34" charset="0"/>
                          <a:cs typeface="Arial" panose="020B0604020202020204" pitchFamily="34" charset="0"/>
                        </a:rPr>
                        <a:t>Farming </a:t>
                      </a:r>
                      <a:r>
                        <a:rPr lang="en-US" sz="1200" b="0" i="0" u="none" strike="noStrike" dirty="0">
                          <a:solidFill>
                            <a:srgbClr val="000000"/>
                          </a:solidFill>
                          <a:effectLst/>
                          <a:latin typeface="Arial" panose="020B0604020202020204" pitchFamily="34" charset="0"/>
                          <a:cs typeface="Arial" panose="020B0604020202020204" pitchFamily="34" charset="0"/>
                        </a:rPr>
                        <a:t>and </a:t>
                      </a:r>
                    </a:p>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Marketing</a:t>
                      </a:r>
                    </a:p>
                  </a:txBody>
                  <a:tcPr marL="6593" marR="6593" marT="6593" marB="0"/>
                </a:tc>
                <a:tc>
                  <a:txBody>
                    <a:bodyPr/>
                    <a:lstStyle/>
                    <a:p>
                      <a:pPr algn="l" fontAlgn="b"/>
                      <a:r>
                        <a:rPr lang="en-US" sz="1200" b="0" i="0" u="none" strike="noStrike" dirty="0" smtClean="0">
                          <a:solidFill>
                            <a:srgbClr val="000000"/>
                          </a:solidFill>
                          <a:effectLst/>
                          <a:latin typeface="Arial" panose="020B0604020202020204" pitchFamily="34" charset="0"/>
                          <a:cs typeface="Arial" panose="020B0604020202020204" pitchFamily="34" charset="0"/>
                        </a:rPr>
                        <a:t>200 </a:t>
                      </a:r>
                      <a:r>
                        <a:rPr lang="en-US" sz="1200" b="0" i="0" u="none" strike="noStrike" dirty="0" smtClean="0">
                          <a:solidFill>
                            <a:srgbClr val="000000"/>
                          </a:solidFill>
                          <a:effectLst/>
                          <a:latin typeface="Arial" panose="020B0604020202020204" pitchFamily="34" charset="0"/>
                          <a:cs typeface="Arial" panose="020B0604020202020204" pitchFamily="34" charset="0"/>
                        </a:rPr>
                        <a:t>Farmers Trained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Farmers </a:t>
                      </a:r>
                      <a:r>
                        <a:rPr lang="en-US" sz="1200" b="0" i="0" u="none" strike="noStrike" dirty="0" smtClean="0">
                          <a:solidFill>
                            <a:srgbClr val="000000"/>
                          </a:solidFill>
                          <a:effectLst/>
                          <a:latin typeface="Arial" panose="020B0604020202020204" pitchFamily="34" charset="0"/>
                          <a:cs typeface="Arial" panose="020B0604020202020204" pitchFamily="34" charset="0"/>
                        </a:rPr>
                        <a:t>trained on contract farming and marketing</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Training material, </a:t>
                      </a:r>
                      <a:r>
                        <a:rPr lang="en-US" sz="1200" u="none" strike="noStrike" dirty="0" smtClean="0">
                          <a:effectLst/>
                          <a:latin typeface="Arial" panose="020B0604020202020204" pitchFamily="34" charset="0"/>
                          <a:cs typeface="Arial" panose="020B0604020202020204" pitchFamily="34" charset="0"/>
                        </a:rPr>
                        <a:t>Fuel</a:t>
                      </a:r>
                      <a:r>
                        <a:rPr lang="en-US" sz="1200" u="none" strike="noStrike" dirty="0">
                          <a:effectLst/>
                          <a:latin typeface="Arial" panose="020B0604020202020204" pitchFamily="34" charset="0"/>
                          <a:cs typeface="Arial" panose="020B0604020202020204" pitchFamily="34" charset="0"/>
                        </a:rPr>
                        <a:t>, </a:t>
                      </a:r>
                      <a:r>
                        <a:rPr lang="en-US" sz="1200" u="none" strike="noStrike" dirty="0" smtClean="0">
                          <a:effectLst/>
                          <a:latin typeface="Arial" panose="020B0604020202020204" pitchFamily="34" charset="0"/>
                          <a:cs typeface="Arial" panose="020B0604020202020204" pitchFamily="34" charset="0"/>
                        </a:rPr>
                        <a:t>Airtime </a:t>
                      </a:r>
                      <a:r>
                        <a:rPr lang="en-US" sz="1200" u="none" strike="noStrike" dirty="0">
                          <a:effectLst/>
                          <a:latin typeface="Arial" panose="020B0604020202020204" pitchFamily="34" charset="0"/>
                          <a:cs typeface="Arial" panose="020B0604020202020204" pitchFamily="34" charset="0"/>
                        </a:rPr>
                        <a:t>and </a:t>
                      </a:r>
                      <a:r>
                        <a:rPr lang="en-US" sz="1200" u="none" strike="noStrike" dirty="0" smtClean="0">
                          <a:effectLst/>
                          <a:latin typeface="Arial" panose="020B0604020202020204" pitchFamily="34" charset="0"/>
                          <a:cs typeface="Arial" panose="020B0604020202020204" pitchFamily="34" charset="0"/>
                        </a:rPr>
                        <a:t>DSA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lang="en-US" sz="1200" dirty="0">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AMA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0001"/>
                  </a:ext>
                </a:extLst>
              </a:tr>
              <a:tr h="1328635">
                <a:tc vMerge="1">
                  <a:txBody>
                    <a:bodyPr/>
                    <a:lstStyle/>
                    <a:p>
                      <a:endParaRPr lang="en-US" dirty="0"/>
                    </a:p>
                  </a:txBody>
                  <a:tcPr marL="6593" marR="6593" marT="6593" marB="0" anchor="b"/>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Farmer </a:t>
                      </a:r>
                      <a:r>
                        <a:rPr lang="en-US" sz="1200" b="0" i="0" u="none" strike="noStrike" dirty="0" smtClean="0">
                          <a:solidFill>
                            <a:srgbClr val="000000"/>
                          </a:solidFill>
                          <a:effectLst/>
                          <a:latin typeface="Arial" panose="020B0604020202020204" pitchFamily="34" charset="0"/>
                          <a:cs typeface="Arial" panose="020B0604020202020204" pitchFamily="34" charset="0"/>
                        </a:rPr>
                        <a:t>Registration</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5000</a:t>
                      </a: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Farmers registered</a:t>
                      </a: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Fuel</a:t>
                      </a:r>
                    </a:p>
                  </a:txBody>
                  <a:tcPr marL="6593" marR="6593" marT="6593" marB="0"/>
                </a:tc>
                <a:tc>
                  <a:txBody>
                    <a:bodyPr/>
                    <a:lstStyle/>
                    <a:p>
                      <a:r>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lang="en-US" sz="1200" dirty="0">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AMA</a:t>
                      </a:r>
                    </a:p>
                  </a:txBody>
                  <a:tcPr marL="6593" marR="6593" marT="6593" marB="0"/>
                </a:tc>
                <a:extLst>
                  <a:ext uri="{0D108BD9-81ED-4DB2-BD59-A6C34878D82A}">
                    <a16:rowId xmlns:a16="http://schemas.microsoft.com/office/drawing/2014/main" val="10002"/>
                  </a:ext>
                </a:extLst>
              </a:tr>
              <a:tr h="1428202">
                <a:tc vMerge="1">
                  <a:txBody>
                    <a:bodyPr/>
                    <a:lstStyle/>
                    <a:p>
                      <a:endParaRPr lang="en-US" dirty="0"/>
                    </a:p>
                  </a:txBody>
                  <a:tcPr marL="6593" marR="6593" marT="6593" marB="0" anchor="b"/>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Merchants </a:t>
                      </a:r>
                      <a:r>
                        <a:rPr lang="en-US" sz="1200" b="0" i="0" u="none" strike="noStrike" dirty="0" smtClean="0">
                          <a:solidFill>
                            <a:srgbClr val="000000"/>
                          </a:solidFill>
                          <a:effectLst/>
                          <a:latin typeface="Arial" panose="020B0604020202020204" pitchFamily="34" charset="0"/>
                          <a:cs typeface="Arial" panose="020B0604020202020204" pitchFamily="34" charset="0"/>
                        </a:rPr>
                        <a:t>Registered</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15</a:t>
                      </a: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Merchants registered</a:t>
                      </a: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Training material, </a:t>
                      </a:r>
                      <a:r>
                        <a:rPr lang="en-US" sz="1200" u="none" strike="noStrike" dirty="0" smtClean="0">
                          <a:effectLst/>
                          <a:latin typeface="Arial" panose="020B0604020202020204" pitchFamily="34" charset="0"/>
                          <a:cs typeface="Arial" panose="020B0604020202020204" pitchFamily="34" charset="0"/>
                        </a:rPr>
                        <a:t>Fuel</a:t>
                      </a:r>
                      <a:r>
                        <a:rPr lang="en-US" sz="1200" u="none" strike="noStrike" dirty="0">
                          <a:effectLst/>
                          <a:latin typeface="Arial" panose="020B0604020202020204" pitchFamily="34" charset="0"/>
                          <a:cs typeface="Arial" panose="020B0604020202020204" pitchFamily="34" charset="0"/>
                        </a:rPr>
                        <a:t>, </a:t>
                      </a:r>
                      <a:r>
                        <a:rPr lang="en-US" sz="1200" u="none" strike="noStrike" dirty="0" smtClean="0">
                          <a:effectLst/>
                          <a:latin typeface="Arial" panose="020B0604020202020204" pitchFamily="34" charset="0"/>
                          <a:cs typeface="Arial" panose="020B0604020202020204" pitchFamily="34" charset="0"/>
                        </a:rPr>
                        <a:t>Airtime </a:t>
                      </a:r>
                      <a:r>
                        <a:rPr lang="en-US" sz="1200" u="none" strike="noStrike" dirty="0">
                          <a:effectLst/>
                          <a:latin typeface="Arial" panose="020B0604020202020204" pitchFamily="34" charset="0"/>
                          <a:cs typeface="Arial" panose="020B0604020202020204" pitchFamily="34" charset="0"/>
                        </a:rPr>
                        <a:t>and </a:t>
                      </a:r>
                      <a:r>
                        <a:rPr lang="en-US" sz="1200" u="none" strike="noStrike" dirty="0" smtClean="0">
                          <a:effectLst/>
                          <a:latin typeface="Arial" panose="020B0604020202020204" pitchFamily="34" charset="0"/>
                          <a:cs typeface="Arial" panose="020B0604020202020204" pitchFamily="34" charset="0"/>
                        </a:rPr>
                        <a:t>DSA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lang="en-US" sz="1200" dirty="0">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AMA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0003"/>
                  </a:ext>
                </a:extLst>
              </a:tr>
              <a:tr h="1428202">
                <a:tc vMerge="1">
                  <a:txBody>
                    <a:bodyPr/>
                    <a:lstStyle/>
                    <a:p>
                      <a:endParaRPr lang="en-US" dirty="0"/>
                    </a:p>
                  </a:txBody>
                  <a:tcPr marL="6593" marR="6593" marT="6593" marB="0" anchor="b"/>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Cluster registration</a:t>
                      </a: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5</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Number of farmer clusters registered</a:t>
                      </a: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Training material, </a:t>
                      </a:r>
                      <a:r>
                        <a:rPr lang="en-US" sz="1200" u="none" strike="noStrike" dirty="0" smtClean="0">
                          <a:effectLst/>
                          <a:latin typeface="Arial" panose="020B0604020202020204" pitchFamily="34" charset="0"/>
                          <a:cs typeface="Arial" panose="020B0604020202020204" pitchFamily="34" charset="0"/>
                        </a:rPr>
                        <a:t>Fuel</a:t>
                      </a:r>
                      <a:r>
                        <a:rPr lang="en-US" sz="1200" u="none" strike="noStrike" dirty="0">
                          <a:effectLst/>
                          <a:latin typeface="Arial" panose="020B0604020202020204" pitchFamily="34" charset="0"/>
                          <a:cs typeface="Arial" panose="020B0604020202020204" pitchFamily="34" charset="0"/>
                        </a:rPr>
                        <a:t>, </a:t>
                      </a:r>
                      <a:r>
                        <a:rPr lang="en-US" sz="1200" u="none" strike="noStrike" dirty="0" smtClean="0">
                          <a:effectLst/>
                          <a:latin typeface="Arial" panose="020B0604020202020204" pitchFamily="34" charset="0"/>
                          <a:cs typeface="Arial" panose="020B0604020202020204" pitchFamily="34" charset="0"/>
                        </a:rPr>
                        <a:t>Airtime and</a:t>
                      </a:r>
                      <a:r>
                        <a:rPr lang="en-US" sz="1200" u="none" strike="noStrike" baseline="0" dirty="0" smtClean="0">
                          <a:effectLst/>
                          <a:latin typeface="Arial" panose="020B0604020202020204" pitchFamily="34" charset="0"/>
                          <a:cs typeface="Arial" panose="020B0604020202020204" pitchFamily="34" charset="0"/>
                        </a:rPr>
                        <a:t> DSA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lang="en-US" sz="1200" dirty="0">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AMA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685581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944777186"/>
              </p:ext>
            </p:extLst>
          </p:nvPr>
        </p:nvGraphicFramePr>
        <p:xfrm>
          <a:off x="308755" y="198706"/>
          <a:ext cx="11614070" cy="6476605"/>
        </p:xfrm>
        <a:graphic>
          <a:graphicData uri="http://schemas.openxmlformats.org/drawingml/2006/table">
            <a:tbl>
              <a:tblPr firstRow="1" bandRow="1">
                <a:tableStyleId>{5C22544A-7EE6-4342-B048-85BDC9FD1C3A}</a:tableStyleId>
              </a:tblPr>
              <a:tblGrid>
                <a:gridCol w="1303468">
                  <a:extLst>
                    <a:ext uri="{9D8B030D-6E8A-4147-A177-3AD203B41FA5}">
                      <a16:colId xmlns:a16="http://schemas.microsoft.com/office/drawing/2014/main" val="20000"/>
                    </a:ext>
                  </a:extLst>
                </a:gridCol>
                <a:gridCol w="1886770">
                  <a:extLst>
                    <a:ext uri="{9D8B030D-6E8A-4147-A177-3AD203B41FA5}">
                      <a16:colId xmlns:a16="http://schemas.microsoft.com/office/drawing/2014/main" val="20001"/>
                    </a:ext>
                  </a:extLst>
                </a:gridCol>
                <a:gridCol w="1215207">
                  <a:extLst>
                    <a:ext uri="{9D8B030D-6E8A-4147-A177-3AD203B41FA5}">
                      <a16:colId xmlns:a16="http://schemas.microsoft.com/office/drawing/2014/main" val="20002"/>
                    </a:ext>
                  </a:extLst>
                </a:gridCol>
                <a:gridCol w="2225080">
                  <a:extLst>
                    <a:ext uri="{9D8B030D-6E8A-4147-A177-3AD203B41FA5}">
                      <a16:colId xmlns:a16="http://schemas.microsoft.com/office/drawing/2014/main" val="20003"/>
                    </a:ext>
                  </a:extLst>
                </a:gridCol>
                <a:gridCol w="1798320">
                  <a:extLst>
                    <a:ext uri="{9D8B030D-6E8A-4147-A177-3AD203B41FA5}">
                      <a16:colId xmlns:a16="http://schemas.microsoft.com/office/drawing/2014/main" val="20004"/>
                    </a:ext>
                  </a:extLst>
                </a:gridCol>
                <a:gridCol w="1765701">
                  <a:extLst>
                    <a:ext uri="{9D8B030D-6E8A-4147-A177-3AD203B41FA5}">
                      <a16:colId xmlns:a16="http://schemas.microsoft.com/office/drawing/2014/main" val="20005"/>
                    </a:ext>
                  </a:extLst>
                </a:gridCol>
                <a:gridCol w="1419524">
                  <a:extLst>
                    <a:ext uri="{9D8B030D-6E8A-4147-A177-3AD203B41FA5}">
                      <a16:colId xmlns:a16="http://schemas.microsoft.com/office/drawing/2014/main" val="20006"/>
                    </a:ext>
                  </a:extLst>
                </a:gridCol>
              </a:tblGrid>
              <a:tr h="593774">
                <a:tc>
                  <a:txBody>
                    <a:bodyPr/>
                    <a:lstStyle/>
                    <a:p>
                      <a:pPr algn="l" fontAlgn="b"/>
                      <a:r>
                        <a:rPr lang="en-US" sz="1200" b="1" u="none" strike="noStrike" dirty="0">
                          <a:effectLst/>
                          <a:latin typeface="Arial" panose="020B0604020202020204" pitchFamily="34" charset="0"/>
                          <a:cs typeface="Arial" panose="020B0604020202020204" pitchFamily="34" charset="0"/>
                        </a:rPr>
                        <a:t>Key Result Area</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Activity</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Target</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Process Indicator</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Resources</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Timeline</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b="1" u="none" strike="noStrike" dirty="0">
                          <a:effectLst/>
                          <a:latin typeface="Arial" panose="020B0604020202020204" pitchFamily="34" charset="0"/>
                          <a:cs typeface="Arial" panose="020B0604020202020204" pitchFamily="34" charset="0"/>
                        </a:rPr>
                        <a:t>Lead Agency</a:t>
                      </a:r>
                      <a:endParaRPr lang="en-US" sz="1200" b="1"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extLst>
                  <a:ext uri="{0D108BD9-81ED-4DB2-BD59-A6C34878D82A}">
                    <a16:rowId xmlns:a16="http://schemas.microsoft.com/office/drawing/2014/main" val="10000"/>
                  </a:ext>
                </a:extLst>
              </a:tr>
              <a:tr h="1040040">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dirty="0" smtClean="0">
                          <a:latin typeface="Arial" panose="020B0604020202020204" pitchFamily="34" charset="0"/>
                          <a:cs typeface="Arial" panose="020B0604020202020204" pitchFamily="34" charset="0"/>
                        </a:rPr>
                        <a:t>KRA 2: Agriculture and Food Security</a:t>
                      </a:r>
                      <a:endParaRPr lang="en-US" sz="1200" b="1" dirty="0" smtClean="0">
                        <a:latin typeface="Arial" panose="020B0604020202020204" pitchFamily="34" charset="0"/>
                        <a:cs typeface="Arial" panose="020B0604020202020204" pitchFamily="34" charset="0"/>
                      </a:endParaRPr>
                    </a:p>
                  </a:txBody>
                  <a:tcPr marL="6593" marR="6593" marT="6593"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baseline="0" dirty="0">
                          <a:latin typeface="Arial" panose="020B0604020202020204" pitchFamily="34" charset="0"/>
                          <a:cs typeface="Arial" panose="020B0604020202020204" pitchFamily="34" charset="0"/>
                        </a:rPr>
                        <a:t> Weekly </a:t>
                      </a:r>
                      <a:r>
                        <a:rPr lang="en-US" sz="1200" b="0" baseline="0" dirty="0" smtClean="0">
                          <a:latin typeface="Arial" panose="020B0604020202020204" pitchFamily="34" charset="0"/>
                          <a:cs typeface="Arial" panose="020B0604020202020204" pitchFamily="34" charset="0"/>
                        </a:rPr>
                        <a:t>Commodity </a:t>
                      </a:r>
                      <a:r>
                        <a:rPr lang="en-US" sz="1200" b="0" baseline="0" dirty="0">
                          <a:latin typeface="Arial" panose="020B0604020202020204" pitchFamily="34" charset="0"/>
                          <a:cs typeface="Arial" panose="020B0604020202020204" pitchFamily="34" charset="0"/>
                        </a:rPr>
                        <a:t>B</a:t>
                      </a:r>
                      <a:r>
                        <a:rPr lang="en-US" sz="1200" b="0" baseline="0" dirty="0" smtClean="0">
                          <a:latin typeface="Arial" panose="020B0604020202020204" pitchFamily="34" charset="0"/>
                          <a:cs typeface="Arial" panose="020B0604020202020204" pitchFamily="34" charset="0"/>
                        </a:rPr>
                        <a:t>ulletins Production</a:t>
                      </a:r>
                      <a:endParaRPr lang="en-US" sz="1200" b="0" dirty="0">
                        <a:latin typeface="Arial" panose="020B0604020202020204" pitchFamily="34" charset="0"/>
                        <a:cs typeface="Arial" panose="020B0604020202020204" pitchFamily="34" charset="0"/>
                      </a:endParaRPr>
                    </a:p>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52</a:t>
                      </a: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Weekly commodity reports produced</a:t>
                      </a:r>
                    </a:p>
                  </a:txBody>
                  <a:tcPr marL="6593" marR="6593" marT="6593" marB="0"/>
                </a:tc>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lang="en-US" dirty="0">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AMA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0001"/>
                  </a:ext>
                </a:extLst>
              </a:tr>
              <a:tr h="967533">
                <a:tc vMerge="1">
                  <a:txBody>
                    <a:bodyPr/>
                    <a:lstStyle/>
                    <a:p>
                      <a:endParaRPr lang="en-US" dirty="0"/>
                    </a:p>
                  </a:txBody>
                  <a:tcPr marL="6593" marR="6593" marT="6593" marB="0" anchor="b"/>
                </a:tc>
                <a:tc>
                  <a:txBody>
                    <a:bodyPr/>
                    <a:lstStyle/>
                    <a:p>
                      <a:pPr algn="l" fontAlgn="b"/>
                      <a:r>
                        <a:rPr lang="en-US" sz="1200" b="0" i="0" u="none" strike="noStrike" dirty="0" smtClean="0">
                          <a:solidFill>
                            <a:srgbClr val="000000"/>
                          </a:solidFill>
                          <a:effectLst/>
                          <a:latin typeface="Arial" panose="020B0604020202020204" pitchFamily="34" charset="0"/>
                          <a:cs typeface="Arial" panose="020B0604020202020204" pitchFamily="34" charset="0"/>
                        </a:rPr>
                        <a:t>Reporting</a:t>
                      </a:r>
                      <a:r>
                        <a:rPr lang="en-US" sz="1200" b="0" i="0" u="none" strike="noStrike" baseline="0" dirty="0" smtClean="0">
                          <a:solidFill>
                            <a:srgbClr val="000000"/>
                          </a:solidFill>
                          <a:effectLst/>
                          <a:latin typeface="Arial" panose="020B0604020202020204" pitchFamily="34" charset="0"/>
                          <a:cs typeface="Arial" panose="020B0604020202020204" pitchFamily="34" charset="0"/>
                        </a:rPr>
                        <a:t> on </a:t>
                      </a:r>
                      <a:r>
                        <a:rPr lang="en-US" sz="1200" b="0" i="0" u="none" strike="noStrike" baseline="0" dirty="0" smtClean="0">
                          <a:solidFill>
                            <a:srgbClr val="000000"/>
                          </a:solidFill>
                          <a:effectLst/>
                          <a:latin typeface="Arial" panose="020B0604020202020204" pitchFamily="34" charset="0"/>
                          <a:cs typeface="Arial" panose="020B0604020202020204" pitchFamily="34" charset="0"/>
                        </a:rPr>
                        <a:t>M</a:t>
                      </a:r>
                      <a:r>
                        <a:rPr lang="en-US" sz="1200" b="0" i="0" u="none" strike="noStrike" dirty="0" smtClean="0">
                          <a:solidFill>
                            <a:srgbClr val="000000"/>
                          </a:solidFill>
                          <a:effectLst/>
                          <a:latin typeface="Arial" panose="020B0604020202020204" pitchFamily="34" charset="0"/>
                          <a:cs typeface="Arial" panose="020B0604020202020204" pitchFamily="34" charset="0"/>
                        </a:rPr>
                        <a:t>onthly </a:t>
                      </a:r>
                      <a:r>
                        <a:rPr lang="en-US" sz="1200" b="0" i="0" u="none" strike="noStrike" dirty="0">
                          <a:solidFill>
                            <a:srgbClr val="000000"/>
                          </a:solidFill>
                          <a:effectLst/>
                          <a:latin typeface="Arial" panose="020B0604020202020204" pitchFamily="34" charset="0"/>
                          <a:cs typeface="Arial" panose="020B0604020202020204" pitchFamily="34" charset="0"/>
                        </a:rPr>
                        <a:t>Agro-input </a:t>
                      </a:r>
                      <a:r>
                        <a:rPr lang="en-US" sz="1200" b="0" i="0" u="none" strike="noStrike" dirty="0" smtClean="0">
                          <a:solidFill>
                            <a:srgbClr val="000000"/>
                          </a:solidFill>
                          <a:effectLst/>
                          <a:latin typeface="Arial" panose="020B0604020202020204" pitchFamily="34" charset="0"/>
                          <a:cs typeface="Arial" panose="020B0604020202020204" pitchFamily="34" charset="0"/>
                        </a:rPr>
                        <a:t>monitoring </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12</a:t>
                      </a: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Monthly reports produced</a:t>
                      </a:r>
                    </a:p>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lang="en-US" dirty="0">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AMA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0002"/>
                  </a:ext>
                </a:extLst>
              </a:tr>
              <a:tr h="1383185">
                <a:tc vMerge="1">
                  <a:txBody>
                    <a:bodyPr/>
                    <a:lstStyle/>
                    <a:p>
                      <a:endParaRPr lang="en-US" dirty="0"/>
                    </a:p>
                  </a:txBody>
                  <a:tcPr marL="6593" marR="6593" marT="6593" marB="0" anchor="b"/>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200" b="0" baseline="0" dirty="0">
                          <a:latin typeface="Arial" panose="020B0604020202020204" pitchFamily="34" charset="0"/>
                          <a:cs typeface="Arial" panose="020B0604020202020204" pitchFamily="34" charset="0"/>
                        </a:rPr>
                        <a:t>CIDPs/CBPs established</a:t>
                      </a:r>
                    </a:p>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27</a:t>
                      </a:r>
                    </a:p>
                  </a:txBody>
                  <a:tcPr marL="6593" marR="6593" marT="6593" marB="0"/>
                </a:tc>
                <a:tc>
                  <a:txBody>
                    <a:bodyPr/>
                    <a:lstStyle/>
                    <a:p>
                      <a:pPr algn="l" fontAlgn="b"/>
                      <a:r>
                        <a:rPr lang="en-US" sz="1200" b="0" i="0" u="none" strike="noStrike" dirty="0">
                          <a:solidFill>
                            <a:srgbClr val="000000"/>
                          </a:solidFill>
                          <a:effectLst/>
                          <a:latin typeface="Arial" panose="020B0604020202020204" pitchFamily="34" charset="0"/>
                          <a:cs typeface="Arial" panose="020B0604020202020204" pitchFamily="34" charset="0"/>
                        </a:rPr>
                        <a:t>Number of CBPS/CIDPs established</a:t>
                      </a: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Training material, </a:t>
                      </a:r>
                      <a:r>
                        <a:rPr lang="en-US" sz="1200" u="none" strike="noStrike" dirty="0" smtClean="0">
                          <a:effectLst/>
                          <a:latin typeface="Arial" panose="020B0604020202020204" pitchFamily="34" charset="0"/>
                          <a:cs typeface="Arial" panose="020B0604020202020204" pitchFamily="34" charset="0"/>
                        </a:rPr>
                        <a:t>Fuel</a:t>
                      </a:r>
                      <a:r>
                        <a:rPr lang="en-US" sz="1200" u="none" strike="noStrike" dirty="0">
                          <a:effectLst/>
                          <a:latin typeface="Arial" panose="020B0604020202020204" pitchFamily="34" charset="0"/>
                          <a:cs typeface="Arial" panose="020B0604020202020204" pitchFamily="34" charset="0"/>
                        </a:rPr>
                        <a:t>, </a:t>
                      </a:r>
                      <a:r>
                        <a:rPr lang="en-US" sz="1200" u="none" strike="noStrike" dirty="0" smtClean="0">
                          <a:effectLst/>
                          <a:latin typeface="Arial" panose="020B0604020202020204" pitchFamily="34" charset="0"/>
                          <a:cs typeface="Arial" panose="020B0604020202020204" pitchFamily="34" charset="0"/>
                        </a:rPr>
                        <a:t>Airtime </a:t>
                      </a:r>
                      <a:r>
                        <a:rPr lang="en-US" sz="1200" u="none" strike="noStrike" dirty="0">
                          <a:effectLst/>
                          <a:latin typeface="Arial" panose="020B0604020202020204" pitchFamily="34" charset="0"/>
                          <a:cs typeface="Arial" panose="020B0604020202020204" pitchFamily="34" charset="0"/>
                        </a:rPr>
                        <a:t>and </a:t>
                      </a:r>
                      <a:r>
                        <a:rPr lang="en-US" sz="1200" u="none" strike="noStrike" dirty="0" smtClean="0">
                          <a:effectLst/>
                          <a:latin typeface="Arial" panose="020B0604020202020204" pitchFamily="34" charset="0"/>
                          <a:cs typeface="Arial" panose="020B0604020202020204" pitchFamily="34" charset="0"/>
                        </a:rPr>
                        <a:t>DSA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tc>
                  <a:txBody>
                    <a:bodyPr/>
                    <a:lstStyle/>
                    <a:p>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lang="en-US" dirty="0">
                        <a:latin typeface="Arial" panose="020B0604020202020204" pitchFamily="34" charset="0"/>
                        <a:cs typeface="Arial" panose="020B0604020202020204" pitchFamily="34" charset="0"/>
                      </a:endParaRPr>
                    </a:p>
                  </a:txBody>
                  <a:tcPr marL="6593" marR="6593" marT="6593" marB="0"/>
                </a:tc>
                <a:tc>
                  <a:txBody>
                    <a:bodyPr/>
                    <a:lstStyle/>
                    <a:p>
                      <a:pPr algn="l" fontAlgn="b"/>
                      <a:r>
                        <a:rPr lang="en-US" sz="1200" u="none" strike="noStrike" dirty="0">
                          <a:effectLst/>
                          <a:latin typeface="Arial" panose="020B0604020202020204" pitchFamily="34" charset="0"/>
                          <a:cs typeface="Arial" panose="020B0604020202020204" pitchFamily="34" charset="0"/>
                        </a:rPr>
                        <a:t>AMA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tc>
                <a:extLst>
                  <a:ext uri="{0D108BD9-81ED-4DB2-BD59-A6C34878D82A}">
                    <a16:rowId xmlns:a16="http://schemas.microsoft.com/office/drawing/2014/main" val="10003"/>
                  </a:ext>
                </a:extLst>
              </a:tr>
              <a:tr h="2492073">
                <a:tc>
                  <a:txBody>
                    <a:bodyPr/>
                    <a:lstStyle/>
                    <a:p>
                      <a:pPr algn="ctr"/>
                      <a:r>
                        <a:rPr lang="en-US" sz="1200" b="1" dirty="0" smtClean="0">
                          <a:latin typeface="Arial" panose="020B0604020202020204" pitchFamily="34" charset="0"/>
                          <a:cs typeface="Arial" panose="020B0604020202020204" pitchFamily="34" charset="0"/>
                        </a:rPr>
                        <a:t>KRA </a:t>
                      </a:r>
                      <a:r>
                        <a:rPr lang="en-US" sz="1200" b="1" dirty="0" smtClean="0">
                          <a:latin typeface="Arial" panose="020B0604020202020204" pitchFamily="34" charset="0"/>
                          <a:cs typeface="Arial" panose="020B0604020202020204" pitchFamily="34" charset="0"/>
                        </a:rPr>
                        <a:t>3: </a:t>
                      </a:r>
                    </a:p>
                    <a:p>
                      <a:pPr algn="ctr"/>
                      <a:r>
                        <a:rPr lang="en-US" sz="1200" b="1" dirty="0" smtClean="0">
                          <a:latin typeface="Arial" panose="020B0604020202020204" pitchFamily="34" charset="0"/>
                          <a:cs typeface="Arial" panose="020B0604020202020204" pitchFamily="34" charset="0"/>
                        </a:rPr>
                        <a:t>Social</a:t>
                      </a:r>
                      <a:r>
                        <a:rPr lang="en-US" sz="1200" b="1" baseline="0" dirty="0" smtClean="0">
                          <a:latin typeface="Arial" panose="020B0604020202020204" pitchFamily="34" charset="0"/>
                          <a:cs typeface="Arial" panose="020B0604020202020204" pitchFamily="34" charset="0"/>
                        </a:rPr>
                        <a:t> Protection</a:t>
                      </a:r>
                      <a:endParaRPr lang="en-US" sz="1200" b="1" dirty="0">
                        <a:latin typeface="Arial" panose="020B0604020202020204" pitchFamily="34" charset="0"/>
                        <a:cs typeface="Arial" panose="020B0604020202020204" pitchFamily="34" charset="0"/>
                      </a:endParaRPr>
                    </a:p>
                  </a:txBody>
                  <a:tcPr anchor="ct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Mobilize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Communities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to Implement </a:t>
                      </a:r>
                      <a:r>
                        <a:rPr lang="en-US" sz="1200" kern="100" dirty="0">
                          <a:effectLst/>
                          <a:latin typeface="Arial" panose="020B0604020202020204" pitchFamily="34" charset="0"/>
                          <a:ea typeface="Calibri" panose="020F0502020204030204" pitchFamily="34" charset="0"/>
                          <a:cs typeface="Arial" panose="020B0604020202020204" pitchFamily="34" charset="0"/>
                        </a:rPr>
                        <a:t>L</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ivelihood</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rojects </a:t>
                      </a:r>
                      <a:r>
                        <a:rPr lang="en-US" sz="1200" kern="100" dirty="0">
                          <a:effectLst/>
                          <a:latin typeface="Arial" panose="020B0604020202020204" pitchFamily="34" charset="0"/>
                          <a:ea typeface="Calibri" panose="020F0502020204030204" pitchFamily="34" charset="0"/>
                          <a:cs typeface="Arial" panose="020B0604020202020204" pitchFamily="34" charset="0"/>
                        </a:rPr>
                        <a:t>that use</a:t>
                      </a: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L</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abour Saving</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T</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echnologies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400 </a:t>
                      </a:r>
                      <a:r>
                        <a:rPr lang="en-US" sz="1200" dirty="0" smtClean="0">
                          <a:latin typeface="Arial" panose="020B0604020202020204" pitchFamily="34" charset="0"/>
                          <a:cs typeface="Arial" panose="020B0604020202020204" pitchFamily="34" charset="0"/>
                        </a:rPr>
                        <a:t>Farmer Women </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Proportion of farmer women</a:t>
                      </a: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accessing labour saving</a:t>
                      </a: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technologies</a:t>
                      </a:r>
                    </a:p>
                  </a:txBody>
                  <a:tcPr/>
                </a:tc>
                <a:tc>
                  <a:txBody>
                    <a:bodyPr/>
                    <a:lstStyle/>
                    <a:p>
                      <a:r>
                        <a:rPr lang="en-US" sz="1200" dirty="0" smtClean="0">
                          <a:latin typeface="Arial" panose="020B0604020202020204" pitchFamily="34" charset="0"/>
                          <a:cs typeface="Arial" panose="020B0604020202020204" pitchFamily="34" charset="0"/>
                        </a:rPr>
                        <a:t>Training </a:t>
                      </a:r>
                      <a:r>
                        <a:rPr lang="en-US" sz="1200" dirty="0" smtClean="0">
                          <a:latin typeface="Arial" panose="020B0604020202020204" pitchFamily="34" charset="0"/>
                          <a:cs typeface="Arial" panose="020B0604020202020204" pitchFamily="34" charset="0"/>
                        </a:rPr>
                        <a:t>materials,</a:t>
                      </a:r>
                      <a:r>
                        <a:rPr lang="en-US" sz="1200" baseline="0" dirty="0" smtClean="0">
                          <a:latin typeface="Arial" panose="020B0604020202020204" pitchFamily="34" charset="0"/>
                          <a:cs typeface="Arial" panose="020B0604020202020204" pitchFamily="34" charset="0"/>
                        </a:rPr>
                        <a:t> </a:t>
                      </a:r>
                      <a:endParaRPr lang="en-US" sz="1200" dirty="0" smtClean="0">
                        <a:latin typeface="Arial" panose="020B0604020202020204" pitchFamily="34" charset="0"/>
                        <a:cs typeface="Arial" panose="020B0604020202020204" pitchFamily="34" charset="0"/>
                      </a:endParaRPr>
                    </a:p>
                    <a:p>
                      <a:r>
                        <a:rPr lang="en-US" sz="1200" baseline="0" dirty="0" smtClean="0">
                          <a:latin typeface="Arial" panose="020B0604020202020204" pitchFamily="34" charset="0"/>
                          <a:cs typeface="Arial" panose="020B0604020202020204" pitchFamily="34" charset="0"/>
                        </a:rPr>
                        <a:t>Samples of </a:t>
                      </a:r>
                      <a:r>
                        <a:rPr lang="en-US" sz="1200" baseline="0" dirty="0" smtClean="0">
                          <a:latin typeface="Arial" panose="020B0604020202020204" pitchFamily="34" charset="0"/>
                          <a:cs typeface="Arial" panose="020B0604020202020204" pitchFamily="34" charset="0"/>
                        </a:rPr>
                        <a:t>machines, Vehicles, Fuel </a:t>
                      </a:r>
                      <a:endParaRPr lang="en-US" sz="1200" dirty="0" smtClean="0">
                        <a:latin typeface="Arial" panose="020B0604020202020204" pitchFamily="34" charset="0"/>
                        <a:cs typeface="Arial" panose="020B0604020202020204" pitchFamily="34" charset="0"/>
                      </a:endParaRPr>
                    </a:p>
                  </a:txBody>
                  <a:tcPr/>
                </a:tc>
                <a:tc>
                  <a:txBody>
                    <a:bodyPr/>
                    <a:lstStyle/>
                    <a:p>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1 Jan -  31 Dec 2025</a:t>
                      </a:r>
                      <a:endParaRPr lang="en-US" dirty="0">
                        <a:latin typeface="Arial" panose="020B0604020202020204" pitchFamily="34" charset="0"/>
                        <a:cs typeface="Arial" panose="020B0604020202020204" pitchFamily="34" charset="0"/>
                      </a:endParaRPr>
                    </a:p>
                  </a:txBody>
                  <a:tcPr marL="6593" marR="6593" marT="6593" marB="0"/>
                </a:tc>
                <a:tc>
                  <a:txBody>
                    <a:bodyPr/>
                    <a:lstStyle/>
                    <a:p>
                      <a:r>
                        <a:rPr lang="en-US" sz="1200" dirty="0" smtClean="0">
                          <a:latin typeface="Arial" panose="020B0604020202020204" pitchFamily="34" charset="0"/>
                          <a:cs typeface="Arial" panose="020B0604020202020204" pitchFamily="34" charset="0"/>
                        </a:rPr>
                        <a:t>Mechanization Department</a:t>
                      </a:r>
                      <a:r>
                        <a:rPr lang="en-US" sz="1200" baseline="0" dirty="0" smtClean="0">
                          <a:latin typeface="Arial" panose="020B0604020202020204" pitchFamily="34" charset="0"/>
                          <a:cs typeface="Arial" panose="020B0604020202020204" pitchFamily="34" charset="0"/>
                        </a:rPr>
                        <a:t>, AGRITEX, Irrigation, Women Affairs </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07965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600387089"/>
              </p:ext>
            </p:extLst>
          </p:nvPr>
        </p:nvGraphicFramePr>
        <p:xfrm>
          <a:off x="296214" y="408949"/>
          <a:ext cx="11346287" cy="6449051"/>
        </p:xfrm>
        <a:graphic>
          <a:graphicData uri="http://schemas.openxmlformats.org/drawingml/2006/table">
            <a:tbl>
              <a:tblPr firstRow="1" bandRow="1">
                <a:tableStyleId>{5C22544A-7EE6-4342-B048-85BDC9FD1C3A}</a:tableStyleId>
              </a:tblPr>
              <a:tblGrid>
                <a:gridCol w="1084769">
                  <a:extLst>
                    <a:ext uri="{9D8B030D-6E8A-4147-A177-3AD203B41FA5}">
                      <a16:colId xmlns:a16="http://schemas.microsoft.com/office/drawing/2014/main" val="20000"/>
                    </a:ext>
                  </a:extLst>
                </a:gridCol>
                <a:gridCol w="1877788">
                  <a:extLst>
                    <a:ext uri="{9D8B030D-6E8A-4147-A177-3AD203B41FA5}">
                      <a16:colId xmlns:a16="http://schemas.microsoft.com/office/drawing/2014/main" val="20001"/>
                    </a:ext>
                  </a:extLst>
                </a:gridCol>
                <a:gridCol w="1209422">
                  <a:extLst>
                    <a:ext uri="{9D8B030D-6E8A-4147-A177-3AD203B41FA5}">
                      <a16:colId xmlns:a16="http://schemas.microsoft.com/office/drawing/2014/main" val="20002"/>
                    </a:ext>
                  </a:extLst>
                </a:gridCol>
                <a:gridCol w="2936010">
                  <a:extLst>
                    <a:ext uri="{9D8B030D-6E8A-4147-A177-3AD203B41FA5}">
                      <a16:colId xmlns:a16="http://schemas.microsoft.com/office/drawing/2014/main" val="20003"/>
                    </a:ext>
                  </a:extLst>
                </a:gridCol>
                <a:gridCol w="1412766">
                  <a:extLst>
                    <a:ext uri="{9D8B030D-6E8A-4147-A177-3AD203B41FA5}">
                      <a16:colId xmlns:a16="http://schemas.microsoft.com/office/drawing/2014/main" val="20004"/>
                    </a:ext>
                  </a:extLst>
                </a:gridCol>
                <a:gridCol w="1412766">
                  <a:extLst>
                    <a:ext uri="{9D8B030D-6E8A-4147-A177-3AD203B41FA5}">
                      <a16:colId xmlns:a16="http://schemas.microsoft.com/office/drawing/2014/main" val="20005"/>
                    </a:ext>
                  </a:extLst>
                </a:gridCol>
                <a:gridCol w="1412766">
                  <a:extLst>
                    <a:ext uri="{9D8B030D-6E8A-4147-A177-3AD203B41FA5}">
                      <a16:colId xmlns:a16="http://schemas.microsoft.com/office/drawing/2014/main" val="20006"/>
                    </a:ext>
                  </a:extLst>
                </a:gridCol>
              </a:tblGrid>
              <a:tr h="600463">
                <a:tc>
                  <a:txBody>
                    <a:bodyPr/>
                    <a:lstStyle/>
                    <a:p>
                      <a:pPr algn="l" fontAlgn="b"/>
                      <a:r>
                        <a:rPr lang="en-US" sz="1400" u="none" strike="noStrike" dirty="0">
                          <a:effectLst/>
                        </a:rPr>
                        <a:t>Key Result Area</a:t>
                      </a:r>
                      <a:endParaRPr lang="en-US" sz="1400" b="0" i="0" u="none" strike="noStrike" dirty="0">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a:effectLst/>
                        </a:rPr>
                        <a:t>Activity</a:t>
                      </a:r>
                      <a:endParaRPr lang="en-US" sz="1400" b="0" i="0" u="none" strike="noStrike">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a:effectLst/>
                        </a:rPr>
                        <a:t>Target</a:t>
                      </a:r>
                      <a:endParaRPr lang="en-US" sz="1400" b="0" i="0" u="none" strike="noStrike">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dirty="0">
                          <a:effectLst/>
                        </a:rPr>
                        <a:t>Process Indicator</a:t>
                      </a:r>
                      <a:endParaRPr lang="en-US" sz="1400" b="0" i="0" u="none" strike="noStrike" dirty="0">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a:effectLst/>
                        </a:rPr>
                        <a:t>Resources</a:t>
                      </a:r>
                      <a:endParaRPr lang="en-US" sz="1400" b="0" i="0" u="none" strike="noStrike">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a:effectLst/>
                        </a:rPr>
                        <a:t>Timeline</a:t>
                      </a:r>
                      <a:endParaRPr lang="en-US" sz="1400" b="0" i="0" u="none" strike="noStrike">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a:effectLst/>
                        </a:rPr>
                        <a:t>Lead Agency</a:t>
                      </a:r>
                      <a:endParaRPr lang="en-US" sz="1400" b="0" i="0" u="none" strike="noStrike">
                        <a:solidFill>
                          <a:srgbClr val="000000"/>
                        </a:solidFill>
                        <a:effectLst/>
                        <a:latin typeface="Calibri" panose="020F0502020204030204" pitchFamily="34" charset="0"/>
                      </a:endParaRPr>
                    </a:p>
                  </a:txBody>
                  <a:tcPr marL="6593" marR="6593" marT="6593" marB="0" anchor="b"/>
                </a:tc>
                <a:extLst>
                  <a:ext uri="{0D108BD9-81ED-4DB2-BD59-A6C34878D82A}">
                    <a16:rowId xmlns:a16="http://schemas.microsoft.com/office/drawing/2014/main" val="10000"/>
                  </a:ext>
                </a:extLst>
              </a:tr>
              <a:tr h="2216155">
                <a:tc rowSpan="3">
                  <a:txBody>
                    <a:bodyPr/>
                    <a:lstStyle/>
                    <a:p>
                      <a:pPr algn="ctr"/>
                      <a:r>
                        <a:rPr lang="en-US" sz="1200" b="1" dirty="0" smtClean="0">
                          <a:latin typeface="Arial" panose="020B0604020202020204" pitchFamily="34" charset="0"/>
                          <a:cs typeface="Arial" panose="020B0604020202020204" pitchFamily="34" charset="0"/>
                        </a:rPr>
                        <a:t>KRA 3: </a:t>
                      </a:r>
                    </a:p>
                    <a:p>
                      <a:pPr algn="ctr"/>
                      <a:r>
                        <a:rPr lang="en-US" sz="1200" b="1" dirty="0" smtClean="0">
                          <a:latin typeface="Arial" panose="020B0604020202020204" pitchFamily="34" charset="0"/>
                          <a:cs typeface="Arial" panose="020B0604020202020204" pitchFamily="34" charset="0"/>
                        </a:rPr>
                        <a:t>Social</a:t>
                      </a:r>
                      <a:r>
                        <a:rPr lang="en-US" sz="1200" b="1" baseline="0" dirty="0" smtClean="0">
                          <a:latin typeface="Arial" panose="020B0604020202020204" pitchFamily="34" charset="0"/>
                          <a:cs typeface="Arial" panose="020B0604020202020204" pitchFamily="34" charset="0"/>
                        </a:rPr>
                        <a:t> Protection</a:t>
                      </a:r>
                      <a:endParaRPr lang="en-US" sz="1200" b="1" dirty="0">
                        <a:latin typeface="Arial" panose="020B0604020202020204" pitchFamily="34" charset="0"/>
                        <a:cs typeface="Arial" panose="020B0604020202020204" pitchFamily="34" charset="0"/>
                      </a:endParaRPr>
                    </a:p>
                  </a:txBody>
                  <a:tcPr marL="6593" marR="6593" marT="6593" marB="0" anchor="ct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Rolling out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Food Mitigation </a:t>
                      </a:r>
                      <a:r>
                        <a:rPr lang="en-US" sz="1200" kern="100" dirty="0">
                          <a:effectLst/>
                          <a:latin typeface="Arial" panose="020B0604020202020204" pitchFamily="34" charset="0"/>
                          <a:ea typeface="Calibri" panose="020F0502020204030204" pitchFamily="34" charset="0"/>
                          <a:cs typeface="Arial" panose="020B0604020202020204" pitchFamily="34" charset="0"/>
                        </a:rPr>
                        <a:t>P</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rogram to Food Insecure</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opulation</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762290 </a:t>
                      </a:r>
                      <a:r>
                        <a:rPr lang="en-US" sz="1200" dirty="0">
                          <a:latin typeface="Arial" panose="020B0604020202020204" pitchFamily="34" charset="0"/>
                          <a:cs typeface="Arial" panose="020B0604020202020204" pitchFamily="34" charset="0"/>
                        </a:rPr>
                        <a:t>P</a:t>
                      </a:r>
                      <a:r>
                        <a:rPr lang="en-US" sz="1200" dirty="0" smtClean="0">
                          <a:latin typeface="Arial" panose="020B0604020202020204" pitchFamily="34" charset="0"/>
                          <a:cs typeface="Arial" panose="020B0604020202020204" pitchFamily="34" charset="0"/>
                        </a:rPr>
                        <a:t>eople</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Proportion of households</a:t>
                      </a: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receiving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the Food Deficit Mitigation Strategy</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(FDMS)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dirty="0">
                          <a:effectLst/>
                          <a:latin typeface="Arial" panose="020B0604020202020204" pitchFamily="34" charset="0"/>
                          <a:ea typeface="Calibri" panose="020F0502020204030204" pitchFamily="34" charset="0"/>
                          <a:cs typeface="Arial" panose="020B0604020202020204" pitchFamily="34" charset="0"/>
                        </a:rPr>
                        <a:t>support</a:t>
                      </a:r>
                    </a:p>
                  </a:txBody>
                  <a:tcPr/>
                </a:tc>
                <a:tc>
                  <a:txBody>
                    <a:bodyPr/>
                    <a:lstStyle/>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Grain, </a:t>
                      </a:r>
                      <a:r>
                        <a:rPr lang="en-US" sz="1200" dirty="0" smtClean="0">
                          <a:latin typeface="Arial" panose="020B0604020202020204" pitchFamily="34" charset="0"/>
                          <a:cs typeface="Arial" panose="020B0604020202020204" pitchFamily="34" charset="0"/>
                        </a:rPr>
                        <a:t>Fuel,</a:t>
                      </a:r>
                      <a:r>
                        <a:rPr lang="en-US" sz="1200" baseline="0" dirty="0" smtClean="0">
                          <a:latin typeface="Arial" panose="020B0604020202020204" pitchFamily="34" charset="0"/>
                          <a:cs typeface="Arial" panose="020B0604020202020204" pitchFamily="34" charset="0"/>
                        </a:rPr>
                        <a:t> DSA</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Monthly</a:t>
                      </a:r>
                    </a:p>
                  </a:txBody>
                  <a:tcPr/>
                </a:tc>
                <a:tc>
                  <a:txBody>
                    <a:bodyPr/>
                    <a:lstStyle/>
                    <a:p>
                      <a:r>
                        <a:rPr lang="en-US" sz="1200" dirty="0">
                          <a:latin typeface="Arial" panose="020B0604020202020204" pitchFamily="34" charset="0"/>
                          <a:cs typeface="Arial" panose="020B0604020202020204" pitchFamily="34" charset="0"/>
                        </a:rPr>
                        <a:t>Department of Social Development, </a:t>
                      </a:r>
                      <a:r>
                        <a:rPr lang="en-US" sz="1200" dirty="0" err="1">
                          <a:latin typeface="Arial" panose="020B0604020202020204" pitchFamily="34" charset="0"/>
                          <a:cs typeface="Arial" panose="020B0604020202020204" pitchFamily="34" charset="0"/>
                        </a:rPr>
                        <a:t>Agritex</a:t>
                      </a:r>
                      <a:r>
                        <a:rPr lang="en-US" sz="1200" dirty="0">
                          <a:latin typeface="Arial" panose="020B0604020202020204" pitchFamily="34" charset="0"/>
                          <a:cs typeface="Arial" panose="020B0604020202020204" pitchFamily="34" charset="0"/>
                        </a:rPr>
                        <a:t>, OPC and  Local </a:t>
                      </a:r>
                      <a:r>
                        <a:rPr lang="en-US" sz="1200" dirty="0" smtClean="0">
                          <a:latin typeface="Arial" panose="020B0604020202020204" pitchFamily="34" charset="0"/>
                          <a:cs typeface="Arial" panose="020B0604020202020204" pitchFamily="34" charset="0"/>
                        </a:rPr>
                        <a:t>Government</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478316">
                <a:tc vMerge="1">
                  <a:txBody>
                    <a:bodyPr/>
                    <a:lstStyle/>
                    <a:p>
                      <a:endParaRPr lang="en-US" dirty="0"/>
                    </a:p>
                  </a:txBody>
                  <a:tcPr marL="6593" marR="6593" marT="6593" marB="0" anchor="b"/>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Vulnerable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People </a:t>
                      </a:r>
                      <a:r>
                        <a:rPr lang="en-US" sz="1200" kern="100" dirty="0">
                          <a:effectLst/>
                          <a:latin typeface="Arial" panose="020B0604020202020204" pitchFamily="34" charset="0"/>
                          <a:ea typeface="Calibri" panose="020F0502020204030204" pitchFamily="34" charset="0"/>
                          <a:cs typeface="Arial" panose="020B0604020202020204" pitchFamily="34" charset="0"/>
                        </a:rPr>
                        <a:t>R</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eceiving </a:t>
                      </a:r>
                      <a:r>
                        <a:rPr lang="en-US" sz="1200" kern="100" dirty="0">
                          <a:effectLst/>
                          <a:latin typeface="Arial" panose="020B0604020202020204" pitchFamily="34" charset="0"/>
                          <a:ea typeface="Calibri" panose="020F0502020204030204" pitchFamily="34" charset="0"/>
                          <a:cs typeface="Arial" panose="020B0604020202020204" pitchFamily="34" charset="0"/>
                        </a:rPr>
                        <a:t>Cash Transfer</a:t>
                      </a:r>
                    </a:p>
                  </a:txBody>
                  <a:tcPr/>
                </a:tc>
                <a:tc>
                  <a:txBody>
                    <a:bodyPr/>
                    <a:lstStyle/>
                    <a:p>
                      <a:r>
                        <a:rPr lang="en-US" sz="1200" dirty="0">
                          <a:latin typeface="Arial" panose="020B0604020202020204" pitchFamily="34" charset="0"/>
                          <a:cs typeface="Arial" panose="020B0604020202020204" pitchFamily="34" charset="0"/>
                        </a:rPr>
                        <a:t>17800 </a:t>
                      </a:r>
                      <a:r>
                        <a:rPr lang="en-US" sz="1200" dirty="0" smtClean="0">
                          <a:latin typeface="Arial" panose="020B0604020202020204" pitchFamily="34" charset="0"/>
                          <a:cs typeface="Arial" panose="020B0604020202020204" pitchFamily="34" charset="0"/>
                        </a:rPr>
                        <a:t>People</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vulnerable people receiving cash transfer</a:t>
                      </a:r>
                    </a:p>
                  </a:txBody>
                  <a:tcPr/>
                </a:tc>
                <a:tc>
                  <a:txBody>
                    <a:bodyPr/>
                    <a:lstStyle/>
                    <a:p>
                      <a:r>
                        <a:rPr lang="en-US" sz="1200" dirty="0" err="1" smtClean="0">
                          <a:latin typeface="Arial" panose="020B0604020202020204" pitchFamily="34" charset="0"/>
                          <a:cs typeface="Arial" panose="020B0604020202020204" pitchFamily="34" charset="0"/>
                        </a:rPr>
                        <a:t>Netone</a:t>
                      </a:r>
                      <a:r>
                        <a:rPr lang="en-US" sz="1200" dirty="0" smtClean="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Lines, Fuel, Vehicles, T &amp; S</a:t>
                      </a: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Development</a:t>
                      </a:r>
                    </a:p>
                  </a:txBody>
                  <a:tcPr/>
                </a:tc>
                <a:extLst>
                  <a:ext uri="{0D108BD9-81ED-4DB2-BD59-A6C34878D82A}">
                    <a16:rowId xmlns:a16="http://schemas.microsoft.com/office/drawing/2014/main" val="10002"/>
                  </a:ext>
                </a:extLst>
              </a:tr>
              <a:tr h="2154117">
                <a:tc vMerge="1">
                  <a:txBody>
                    <a:bodyPr/>
                    <a:lstStyle/>
                    <a:p>
                      <a:endParaRPr lang="en-US" dirty="0"/>
                    </a:p>
                  </a:txBody>
                  <a:tcPr marL="6593" marR="6593" marT="6593" marB="0" anchor="b"/>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People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Assisted </a:t>
                      </a:r>
                      <a:r>
                        <a:rPr lang="en-US" sz="1200" kern="100" dirty="0">
                          <a:effectLst/>
                          <a:latin typeface="Arial" panose="020B0604020202020204" pitchFamily="34" charset="0"/>
                          <a:ea typeface="Calibri" panose="020F0502020204030204" pitchFamily="34" charset="0"/>
                          <a:cs typeface="Arial" panose="020B0604020202020204" pitchFamily="34" charset="0"/>
                        </a:rPr>
                        <a:t>to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Access </a:t>
                      </a:r>
                      <a:r>
                        <a:rPr lang="en-US" sz="1200" kern="100" dirty="0">
                          <a:effectLst/>
                          <a:latin typeface="Arial" panose="020B0604020202020204" pitchFamily="34" charset="0"/>
                          <a:ea typeface="Calibri" panose="020F0502020204030204" pitchFamily="34" charset="0"/>
                          <a:cs typeface="Arial" panose="020B0604020202020204" pitchFamily="34" charset="0"/>
                        </a:rPr>
                        <a:t>M</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edical </a:t>
                      </a:r>
                      <a:r>
                        <a:rPr lang="en-US" sz="1200" kern="100" dirty="0">
                          <a:effectLst/>
                          <a:latin typeface="Arial" panose="020B0604020202020204" pitchFamily="34" charset="0"/>
                          <a:ea typeface="Calibri" panose="020F0502020204030204" pitchFamily="34" charset="0"/>
                          <a:cs typeface="Arial" panose="020B0604020202020204" pitchFamily="34" charset="0"/>
                        </a:rPr>
                        <a:t>S</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ervices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100%</a:t>
                      </a: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people assisted to access medical services</a:t>
                      </a:r>
                    </a:p>
                  </a:txBody>
                  <a:tcPr/>
                </a:tc>
                <a:tc>
                  <a:txBody>
                    <a:bodyPr/>
                    <a:lstStyle/>
                    <a:p>
                      <a:r>
                        <a:rPr lang="en-US" sz="1200" dirty="0">
                          <a:latin typeface="Arial" panose="020B0604020202020204" pitchFamily="34" charset="0"/>
                          <a:cs typeface="Arial" panose="020B0604020202020204" pitchFamily="34" charset="0"/>
                        </a:rPr>
                        <a:t>AMTO Books, Finance for hospital bills, Fuel and T &amp; S</a:t>
                      </a: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Department of Social Development </a:t>
                      </a:r>
                      <a:r>
                        <a:rPr lang="en-US" sz="1200" dirty="0" smtClean="0">
                          <a:latin typeface="Arial" panose="020B0604020202020204" pitchFamily="34" charset="0"/>
                          <a:cs typeface="Arial" panose="020B0604020202020204" pitchFamily="34" charset="0"/>
                        </a:rPr>
                        <a:t>and</a:t>
                      </a:r>
                      <a:r>
                        <a:rPr lang="en-US" sz="1200" baseline="0" dirty="0" smtClean="0">
                          <a:latin typeface="Arial" panose="020B0604020202020204" pitchFamily="34" charset="0"/>
                          <a:cs typeface="Arial" panose="020B0604020202020204" pitchFamily="34" charset="0"/>
                        </a:rPr>
                        <a:t> MoHCC</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714444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413532464"/>
              </p:ext>
            </p:extLst>
          </p:nvPr>
        </p:nvGraphicFramePr>
        <p:xfrm>
          <a:off x="567743" y="344555"/>
          <a:ext cx="11242183" cy="6300944"/>
        </p:xfrm>
        <a:graphic>
          <a:graphicData uri="http://schemas.openxmlformats.org/drawingml/2006/table">
            <a:tbl>
              <a:tblPr firstRow="1" bandRow="1">
                <a:tableStyleId>{5C22544A-7EE6-4342-B048-85BDC9FD1C3A}</a:tableStyleId>
              </a:tblPr>
              <a:tblGrid>
                <a:gridCol w="1074816">
                  <a:extLst>
                    <a:ext uri="{9D8B030D-6E8A-4147-A177-3AD203B41FA5}">
                      <a16:colId xmlns:a16="http://schemas.microsoft.com/office/drawing/2014/main" val="20000"/>
                    </a:ext>
                  </a:extLst>
                </a:gridCol>
                <a:gridCol w="1860559">
                  <a:extLst>
                    <a:ext uri="{9D8B030D-6E8A-4147-A177-3AD203B41FA5}">
                      <a16:colId xmlns:a16="http://schemas.microsoft.com/office/drawing/2014/main" val="20001"/>
                    </a:ext>
                  </a:extLst>
                </a:gridCol>
                <a:gridCol w="1198325">
                  <a:extLst>
                    <a:ext uri="{9D8B030D-6E8A-4147-A177-3AD203B41FA5}">
                      <a16:colId xmlns:a16="http://schemas.microsoft.com/office/drawing/2014/main" val="20002"/>
                    </a:ext>
                  </a:extLst>
                </a:gridCol>
                <a:gridCol w="2909071">
                  <a:extLst>
                    <a:ext uri="{9D8B030D-6E8A-4147-A177-3AD203B41FA5}">
                      <a16:colId xmlns:a16="http://schemas.microsoft.com/office/drawing/2014/main" val="20003"/>
                    </a:ext>
                  </a:extLst>
                </a:gridCol>
                <a:gridCol w="1399804">
                  <a:extLst>
                    <a:ext uri="{9D8B030D-6E8A-4147-A177-3AD203B41FA5}">
                      <a16:colId xmlns:a16="http://schemas.microsoft.com/office/drawing/2014/main" val="20004"/>
                    </a:ext>
                  </a:extLst>
                </a:gridCol>
                <a:gridCol w="1399804">
                  <a:extLst>
                    <a:ext uri="{9D8B030D-6E8A-4147-A177-3AD203B41FA5}">
                      <a16:colId xmlns:a16="http://schemas.microsoft.com/office/drawing/2014/main" val="20005"/>
                    </a:ext>
                  </a:extLst>
                </a:gridCol>
                <a:gridCol w="1399804">
                  <a:extLst>
                    <a:ext uri="{9D8B030D-6E8A-4147-A177-3AD203B41FA5}">
                      <a16:colId xmlns:a16="http://schemas.microsoft.com/office/drawing/2014/main" val="20006"/>
                    </a:ext>
                  </a:extLst>
                </a:gridCol>
              </a:tblGrid>
              <a:tr h="497048">
                <a:tc>
                  <a:txBody>
                    <a:bodyPr/>
                    <a:lstStyle/>
                    <a:p>
                      <a:pPr algn="l" fontAlgn="b"/>
                      <a:r>
                        <a:rPr lang="en-US" sz="1400" u="none" strike="noStrike" dirty="0">
                          <a:effectLst/>
                        </a:rPr>
                        <a:t>Key Result Area</a:t>
                      </a:r>
                      <a:endParaRPr lang="en-US" sz="1400" b="0" i="0" u="none" strike="noStrike" dirty="0">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dirty="0">
                          <a:effectLst/>
                        </a:rPr>
                        <a:t>Activity</a:t>
                      </a:r>
                      <a:endParaRPr lang="en-US" sz="1400" b="0" i="0" u="none" strike="noStrike" dirty="0">
                        <a:solidFill>
                          <a:srgbClr val="000000"/>
                        </a:solidFill>
                        <a:effectLst/>
                        <a:latin typeface="Calibri" panose="020F0502020204030204" pitchFamily="34" charset="0"/>
                      </a:endParaRPr>
                    </a:p>
                  </a:txBody>
                  <a:tcPr marL="6593" marR="6593" marT="6593" marB="0"/>
                </a:tc>
                <a:tc>
                  <a:txBody>
                    <a:bodyPr/>
                    <a:lstStyle/>
                    <a:p>
                      <a:pPr algn="l" fontAlgn="b"/>
                      <a:r>
                        <a:rPr lang="en-US" sz="1400" u="none" strike="noStrike">
                          <a:effectLst/>
                        </a:rPr>
                        <a:t>Target</a:t>
                      </a:r>
                      <a:endParaRPr lang="en-US" sz="1400" b="0" i="0" u="none" strike="noStrike">
                        <a:solidFill>
                          <a:srgbClr val="000000"/>
                        </a:solidFill>
                        <a:effectLst/>
                        <a:latin typeface="Calibri" panose="020F0502020204030204" pitchFamily="34" charset="0"/>
                      </a:endParaRPr>
                    </a:p>
                  </a:txBody>
                  <a:tcPr marL="6593" marR="6593" marT="6593" marB="0"/>
                </a:tc>
                <a:tc>
                  <a:txBody>
                    <a:bodyPr/>
                    <a:lstStyle/>
                    <a:p>
                      <a:pPr algn="l" fontAlgn="b"/>
                      <a:r>
                        <a:rPr lang="en-US" sz="1400" u="none" strike="noStrike" dirty="0">
                          <a:effectLst/>
                        </a:rPr>
                        <a:t>Process Indicator</a:t>
                      </a:r>
                      <a:endParaRPr lang="en-US" sz="1400" b="0" i="0" u="none" strike="noStrike" dirty="0">
                        <a:solidFill>
                          <a:srgbClr val="000000"/>
                        </a:solidFill>
                        <a:effectLst/>
                        <a:latin typeface="Calibri" panose="020F0502020204030204" pitchFamily="34" charset="0"/>
                      </a:endParaRPr>
                    </a:p>
                  </a:txBody>
                  <a:tcPr marL="6593" marR="6593" marT="6593" marB="0"/>
                </a:tc>
                <a:tc>
                  <a:txBody>
                    <a:bodyPr/>
                    <a:lstStyle/>
                    <a:p>
                      <a:pPr algn="l" fontAlgn="b"/>
                      <a:r>
                        <a:rPr lang="en-US" sz="1400" u="none" strike="noStrike">
                          <a:effectLst/>
                        </a:rPr>
                        <a:t>Resources</a:t>
                      </a:r>
                      <a:endParaRPr lang="en-US" sz="1400" b="0" i="0" u="none" strike="noStrike">
                        <a:solidFill>
                          <a:srgbClr val="000000"/>
                        </a:solidFill>
                        <a:effectLst/>
                        <a:latin typeface="Calibri" panose="020F0502020204030204" pitchFamily="34" charset="0"/>
                      </a:endParaRPr>
                    </a:p>
                  </a:txBody>
                  <a:tcPr marL="6593" marR="6593" marT="6593" marB="0"/>
                </a:tc>
                <a:tc>
                  <a:txBody>
                    <a:bodyPr/>
                    <a:lstStyle/>
                    <a:p>
                      <a:pPr algn="l" fontAlgn="b"/>
                      <a:r>
                        <a:rPr lang="en-US" sz="1400" u="none" strike="noStrike">
                          <a:effectLst/>
                        </a:rPr>
                        <a:t>Timeline</a:t>
                      </a:r>
                      <a:endParaRPr lang="en-US" sz="1400" b="0" i="0" u="none" strike="noStrike">
                        <a:solidFill>
                          <a:srgbClr val="000000"/>
                        </a:solidFill>
                        <a:effectLst/>
                        <a:latin typeface="Calibri" panose="020F0502020204030204" pitchFamily="34" charset="0"/>
                      </a:endParaRPr>
                    </a:p>
                  </a:txBody>
                  <a:tcPr marL="6593" marR="6593" marT="6593" marB="0"/>
                </a:tc>
                <a:tc>
                  <a:txBody>
                    <a:bodyPr/>
                    <a:lstStyle/>
                    <a:p>
                      <a:pPr algn="l" fontAlgn="b"/>
                      <a:r>
                        <a:rPr lang="en-US" sz="1400" u="none" strike="noStrike" dirty="0">
                          <a:effectLst/>
                        </a:rPr>
                        <a:t>Lead Agency</a:t>
                      </a:r>
                      <a:endParaRPr lang="en-US" sz="1400" b="0" i="0" u="none" strike="noStrike" dirty="0">
                        <a:solidFill>
                          <a:srgbClr val="000000"/>
                        </a:solidFill>
                        <a:effectLst/>
                        <a:latin typeface="Calibri" panose="020F0502020204030204" pitchFamily="34" charset="0"/>
                      </a:endParaRPr>
                    </a:p>
                  </a:txBody>
                  <a:tcPr marL="6593" marR="6593" marT="6593" marB="0"/>
                </a:tc>
                <a:extLst>
                  <a:ext uri="{0D108BD9-81ED-4DB2-BD59-A6C34878D82A}">
                    <a16:rowId xmlns:a16="http://schemas.microsoft.com/office/drawing/2014/main" val="10000"/>
                  </a:ext>
                </a:extLst>
              </a:tr>
              <a:tr h="1503419">
                <a:tc rowSpan="3">
                  <a:txBody>
                    <a:bodyPr/>
                    <a:lstStyle/>
                    <a:p>
                      <a:pPr algn="ctr"/>
                      <a:r>
                        <a:rPr lang="en-US" sz="1200" b="1" dirty="0" smtClean="0">
                          <a:latin typeface="Arial" panose="020B0604020202020204" pitchFamily="34" charset="0"/>
                          <a:cs typeface="Arial" panose="020B0604020202020204" pitchFamily="34" charset="0"/>
                        </a:rPr>
                        <a:t>KRA 3: </a:t>
                      </a:r>
                    </a:p>
                    <a:p>
                      <a:pPr algn="ctr"/>
                      <a:r>
                        <a:rPr lang="en-US" sz="1200" b="1" dirty="0" smtClean="0">
                          <a:latin typeface="Arial" panose="020B0604020202020204" pitchFamily="34" charset="0"/>
                          <a:cs typeface="Arial" panose="020B0604020202020204" pitchFamily="34" charset="0"/>
                        </a:rPr>
                        <a:t>Social</a:t>
                      </a:r>
                      <a:r>
                        <a:rPr lang="en-US" sz="1200" b="1" baseline="0" dirty="0" smtClean="0">
                          <a:latin typeface="Arial" panose="020B0604020202020204" pitchFamily="34" charset="0"/>
                          <a:cs typeface="Arial" panose="020B0604020202020204" pitchFamily="34" charset="0"/>
                        </a:rPr>
                        <a:t> Protection</a:t>
                      </a:r>
                      <a:endParaRPr lang="en-US" sz="1200" b="1" dirty="0" smtClean="0">
                        <a:latin typeface="Arial" panose="020B0604020202020204" pitchFamily="34" charset="0"/>
                        <a:cs typeface="Arial" panose="020B0604020202020204" pitchFamily="34" charset="0"/>
                      </a:endParaRPr>
                    </a:p>
                    <a:p>
                      <a:endParaRPr lang="en-US" dirty="0"/>
                    </a:p>
                  </a:txBody>
                  <a:tcPr marL="6593" marR="6593" marT="6593" marB="0" anchor="ct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Piggery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Project </a:t>
                      </a:r>
                      <a:r>
                        <a:rPr lang="en-US" sz="1200" kern="100" dirty="0">
                          <a:effectLst/>
                          <a:latin typeface="Arial" panose="020B0604020202020204" pitchFamily="34" charset="0"/>
                          <a:ea typeface="Calibri" panose="020F0502020204030204" pitchFamily="34" charset="0"/>
                          <a:cs typeface="Arial" panose="020B0604020202020204" pitchFamily="34" charset="0"/>
                        </a:rPr>
                        <a:t>for Mazowe River Bridge Old Peoples Home</a:t>
                      </a:r>
                    </a:p>
                  </a:txBody>
                  <a:tcPr/>
                </a:tc>
                <a:tc>
                  <a:txBody>
                    <a:bodyPr/>
                    <a:lstStyle/>
                    <a:p>
                      <a:r>
                        <a:rPr lang="en-US" sz="1200" dirty="0">
                          <a:latin typeface="Arial" panose="020B0604020202020204" pitchFamily="34" charset="0"/>
                          <a:cs typeface="Arial" panose="020B0604020202020204" pitchFamily="34" charset="0"/>
                        </a:rPr>
                        <a:t>20 people</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Proportion of people benefiting from income generation and  consumption</a:t>
                      </a:r>
                    </a:p>
                  </a:txBody>
                  <a:tcPr/>
                </a:tc>
                <a:tc>
                  <a:txBody>
                    <a:bodyPr/>
                    <a:lstStyle/>
                    <a:p>
                      <a:r>
                        <a:rPr lang="en-US" sz="1200" kern="100" dirty="0">
                          <a:effectLst/>
                          <a:latin typeface="Arial" panose="020B0604020202020204" pitchFamily="34" charset="0"/>
                          <a:ea typeface="Calibri" panose="020F0502020204030204" pitchFamily="34" charset="0"/>
                          <a:cs typeface="Arial" panose="020B0604020202020204" pitchFamily="34" charset="0"/>
                        </a:rPr>
                        <a:t> Pigpen, Piglets, piglets feed and servicing sows.</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a:t>
                      </a:r>
                      <a:r>
                        <a:rPr lang="en-US" sz="1200" dirty="0" smtClean="0">
                          <a:latin typeface="Arial" panose="020B0604020202020204" pitchFamily="34" charset="0"/>
                          <a:cs typeface="Arial" panose="020B0604020202020204" pitchFamily="34" charset="0"/>
                        </a:rPr>
                        <a:t>Development,  </a:t>
                      </a:r>
                      <a:r>
                        <a:rPr lang="en-US" sz="1200" dirty="0">
                          <a:latin typeface="Arial" panose="020B0604020202020204" pitchFamily="34" charset="0"/>
                          <a:cs typeface="Arial" panose="020B0604020202020204" pitchFamily="34" charset="0"/>
                        </a:rPr>
                        <a:t>Mazowe Old Peoples Home</a:t>
                      </a:r>
                    </a:p>
                  </a:txBody>
                  <a:tcPr/>
                </a:tc>
                <a:extLst>
                  <a:ext uri="{0D108BD9-81ED-4DB2-BD59-A6C34878D82A}">
                    <a16:rowId xmlns:a16="http://schemas.microsoft.com/office/drawing/2014/main" val="10001"/>
                  </a:ext>
                </a:extLst>
              </a:tr>
              <a:tr h="1992904">
                <a:tc vMerge="1">
                  <a:txBody>
                    <a:bodyPr/>
                    <a:lstStyle/>
                    <a:p>
                      <a:endParaRPr lang="en-US" dirty="0"/>
                    </a:p>
                  </a:txBody>
                  <a:tcPr marL="6593" marR="6593" marT="6593" marB="0" anchor="b"/>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Chicken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Project </a:t>
                      </a:r>
                      <a:r>
                        <a:rPr lang="en-US" sz="1200" kern="100" dirty="0">
                          <a:effectLst/>
                          <a:latin typeface="Arial" panose="020B0604020202020204" pitchFamily="34" charset="0"/>
                          <a:ea typeface="Calibri" panose="020F0502020204030204" pitchFamily="34" charset="0"/>
                          <a:cs typeface="Arial" panose="020B0604020202020204" pitchFamily="34" charset="0"/>
                        </a:rPr>
                        <a:t>for Mazowe River Bridge Old Peoples Home</a:t>
                      </a:r>
                    </a:p>
                  </a:txBody>
                  <a:tcPr/>
                </a:tc>
                <a:tc>
                  <a:txBody>
                    <a:bodyPr/>
                    <a:lstStyle/>
                    <a:p>
                      <a:r>
                        <a:rPr lang="en-US" sz="1200" dirty="0">
                          <a:latin typeface="Arial" panose="020B0604020202020204" pitchFamily="34" charset="0"/>
                          <a:cs typeface="Arial" panose="020B0604020202020204" pitchFamily="34" charset="0"/>
                        </a:rPr>
                        <a:t>20 people</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people benefiting from income generation and  consumption</a:t>
                      </a:r>
                    </a:p>
                  </a:txBody>
                  <a:tcPr/>
                </a:tc>
                <a:tc>
                  <a:txBody>
                    <a:bodyPr/>
                    <a:lstStyle/>
                    <a:p>
                      <a:r>
                        <a:rPr lang="en-US" sz="1200" kern="100" dirty="0">
                          <a:effectLst/>
                          <a:latin typeface="Arial" panose="020B0604020202020204" pitchFamily="34" charset="0"/>
                          <a:ea typeface="Calibri" panose="020F0502020204030204" pitchFamily="34" charset="0"/>
                          <a:cs typeface="Arial" panose="020B0604020202020204" pitchFamily="34" charset="0"/>
                        </a:rPr>
                        <a:t> Chicks, poultry feed and vaccine</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a:t>
                      </a:r>
                      <a:r>
                        <a:rPr lang="en-US" sz="1200" dirty="0" smtClean="0">
                          <a:latin typeface="Arial" panose="020B0604020202020204" pitchFamily="34" charset="0"/>
                          <a:cs typeface="Arial" panose="020B0604020202020204" pitchFamily="34" charset="0"/>
                        </a:rPr>
                        <a:t>Development,</a:t>
                      </a:r>
                      <a:r>
                        <a:rPr lang="en-US" sz="1200" baseline="0" dirty="0" smtClean="0">
                          <a:latin typeface="Arial" panose="020B0604020202020204" pitchFamily="34" charset="0"/>
                          <a:cs typeface="Arial" panose="020B0604020202020204" pitchFamily="34" charset="0"/>
                        </a:rPr>
                        <a:t> </a:t>
                      </a:r>
                      <a:r>
                        <a:rPr lang="en-US" sz="1200" dirty="0" err="1" smtClean="0">
                          <a:latin typeface="Arial" panose="020B0604020202020204" pitchFamily="34" charset="0"/>
                          <a:cs typeface="Arial" panose="020B0604020202020204" pitchFamily="34" charset="0"/>
                        </a:rPr>
                        <a:t>Mazowe</a:t>
                      </a:r>
                      <a:r>
                        <a:rPr lang="en-US" sz="1200" dirty="0" smtClean="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Old Peoples </a:t>
                      </a:r>
                      <a:r>
                        <a:rPr lang="en-US" sz="1200" dirty="0" smtClean="0">
                          <a:latin typeface="Arial" panose="020B0604020202020204" pitchFamily="34" charset="0"/>
                          <a:cs typeface="Arial" panose="020B0604020202020204" pitchFamily="34" charset="0"/>
                        </a:rPr>
                        <a:t>Home,</a:t>
                      </a:r>
                      <a:r>
                        <a:rPr lang="en-US" sz="1200" baseline="0" dirty="0" smtClean="0">
                          <a:latin typeface="Arial" panose="020B0604020202020204" pitchFamily="34" charset="0"/>
                          <a:cs typeface="Arial" panose="020B0604020202020204" pitchFamily="34" charset="0"/>
                        </a:rPr>
                        <a:t>  Department of Veterinary Services</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2307573">
                <a:tc vMerge="1">
                  <a:txBody>
                    <a:bodyPr/>
                    <a:lstStyle/>
                    <a:p>
                      <a:endParaRPr lang="en-US" dirty="0"/>
                    </a:p>
                  </a:txBody>
                  <a:tcPr marL="6593" marR="6593" marT="6593" marB="0" anchor="b"/>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Egg Production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Project </a:t>
                      </a:r>
                      <a:r>
                        <a:rPr lang="en-US" sz="1200" kern="100" dirty="0">
                          <a:effectLst/>
                          <a:latin typeface="Arial" panose="020B0604020202020204" pitchFamily="34" charset="0"/>
                          <a:ea typeface="Calibri" panose="020F0502020204030204" pitchFamily="34" charset="0"/>
                          <a:cs typeface="Arial" panose="020B0604020202020204" pitchFamily="34" charset="0"/>
                        </a:rPr>
                        <a:t>for Kutenda Children’s Home</a:t>
                      </a:r>
                    </a:p>
                  </a:txBody>
                  <a:tcPr/>
                </a:tc>
                <a:tc>
                  <a:txBody>
                    <a:bodyPr/>
                    <a:lstStyle/>
                    <a:p>
                      <a:r>
                        <a:rPr lang="en-US" sz="1200" dirty="0">
                          <a:latin typeface="Arial" panose="020B0604020202020204" pitchFamily="34" charset="0"/>
                          <a:cs typeface="Arial" panose="020B0604020202020204" pitchFamily="34" charset="0"/>
                        </a:rPr>
                        <a:t>30 people</a:t>
                      </a: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people benefiting from income generation and  consumption</a:t>
                      </a:r>
                    </a:p>
                  </a:txBody>
                  <a:tcPr/>
                </a:tc>
                <a:tc>
                  <a:txBody>
                    <a:bodyPr/>
                    <a:lstStyle/>
                    <a:p>
                      <a:r>
                        <a:rPr lang="en-US" sz="1200" dirty="0" smtClean="0">
                          <a:latin typeface="Arial" panose="020B0604020202020204" pitchFamily="34" charset="0"/>
                          <a:cs typeface="Arial" panose="020B0604020202020204" pitchFamily="34" charset="0"/>
                        </a:rPr>
                        <a:t>Layers</a:t>
                      </a:r>
                      <a:r>
                        <a:rPr lang="en-US" sz="1200" dirty="0">
                          <a:latin typeface="Arial" panose="020B0604020202020204" pitchFamily="34" charset="0"/>
                          <a:cs typeface="Arial" panose="020B0604020202020204" pitchFamily="34" charset="0"/>
                        </a:rPr>
                        <a:t>,  Layers feed and vaccines.</a:t>
                      </a: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Development, </a:t>
                      </a:r>
                      <a:r>
                        <a:rPr lang="en-US" sz="1200" dirty="0" smtClean="0">
                          <a:latin typeface="Arial" panose="020B0604020202020204" pitchFamily="34" charset="0"/>
                          <a:cs typeface="Arial" panose="020B0604020202020204" pitchFamily="34" charset="0"/>
                        </a:rPr>
                        <a:t>Department of Veterinary</a:t>
                      </a:r>
                      <a:r>
                        <a:rPr lang="en-US" sz="1200" baseline="0" dirty="0" smtClean="0">
                          <a:latin typeface="Arial" panose="020B0604020202020204" pitchFamily="34" charset="0"/>
                          <a:cs typeface="Arial" panose="020B0604020202020204" pitchFamily="34" charset="0"/>
                        </a:rPr>
                        <a:t> Services</a:t>
                      </a:r>
                      <a:r>
                        <a:rPr lang="en-US" sz="1200" dirty="0" smtClean="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and Kutenda Children’s </a:t>
                      </a:r>
                      <a:r>
                        <a:rPr lang="en-US" sz="1200" dirty="0" smtClean="0">
                          <a:latin typeface="Arial" panose="020B0604020202020204" pitchFamily="34" charset="0"/>
                          <a:cs typeface="Arial" panose="020B0604020202020204" pitchFamily="34" charset="0"/>
                        </a:rPr>
                        <a:t>Home</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16764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922478091"/>
              </p:ext>
            </p:extLst>
          </p:nvPr>
        </p:nvGraphicFramePr>
        <p:xfrm>
          <a:off x="580623" y="318796"/>
          <a:ext cx="10515596" cy="5106643"/>
        </p:xfrm>
        <a:graphic>
          <a:graphicData uri="http://schemas.openxmlformats.org/drawingml/2006/table">
            <a:tbl>
              <a:tblPr firstRow="1" bandRow="1">
                <a:tableStyleId>{5C22544A-7EE6-4342-B048-85BDC9FD1C3A}</a:tableStyleId>
              </a:tblPr>
              <a:tblGrid>
                <a:gridCol w="1005350">
                  <a:extLst>
                    <a:ext uri="{9D8B030D-6E8A-4147-A177-3AD203B41FA5}">
                      <a16:colId xmlns:a16="http://schemas.microsoft.com/office/drawing/2014/main" val="20000"/>
                    </a:ext>
                  </a:extLst>
                </a:gridCol>
                <a:gridCol w="1740310">
                  <a:extLst>
                    <a:ext uri="{9D8B030D-6E8A-4147-A177-3AD203B41FA5}">
                      <a16:colId xmlns:a16="http://schemas.microsoft.com/office/drawing/2014/main" val="20001"/>
                    </a:ext>
                  </a:extLst>
                </a:gridCol>
                <a:gridCol w="1120877">
                  <a:extLst>
                    <a:ext uri="{9D8B030D-6E8A-4147-A177-3AD203B41FA5}">
                      <a16:colId xmlns:a16="http://schemas.microsoft.com/office/drawing/2014/main" val="20002"/>
                    </a:ext>
                  </a:extLst>
                </a:gridCol>
                <a:gridCol w="2721057">
                  <a:extLst>
                    <a:ext uri="{9D8B030D-6E8A-4147-A177-3AD203B41FA5}">
                      <a16:colId xmlns:a16="http://schemas.microsoft.com/office/drawing/2014/main" val="20003"/>
                    </a:ext>
                  </a:extLst>
                </a:gridCol>
                <a:gridCol w="1309334">
                  <a:extLst>
                    <a:ext uri="{9D8B030D-6E8A-4147-A177-3AD203B41FA5}">
                      <a16:colId xmlns:a16="http://schemas.microsoft.com/office/drawing/2014/main" val="20004"/>
                    </a:ext>
                  </a:extLst>
                </a:gridCol>
                <a:gridCol w="1032209">
                  <a:extLst>
                    <a:ext uri="{9D8B030D-6E8A-4147-A177-3AD203B41FA5}">
                      <a16:colId xmlns:a16="http://schemas.microsoft.com/office/drawing/2014/main" val="20005"/>
                    </a:ext>
                  </a:extLst>
                </a:gridCol>
                <a:gridCol w="1586459">
                  <a:extLst>
                    <a:ext uri="{9D8B030D-6E8A-4147-A177-3AD203B41FA5}">
                      <a16:colId xmlns:a16="http://schemas.microsoft.com/office/drawing/2014/main" val="20006"/>
                    </a:ext>
                  </a:extLst>
                </a:gridCol>
              </a:tblGrid>
              <a:tr h="608957">
                <a:tc>
                  <a:txBody>
                    <a:bodyPr/>
                    <a:lstStyle/>
                    <a:p>
                      <a:pPr algn="l" fontAlgn="b"/>
                      <a:r>
                        <a:rPr lang="en-US" sz="1400" u="none" strike="noStrike" dirty="0">
                          <a:effectLst/>
                        </a:rPr>
                        <a:t>Key Result Area</a:t>
                      </a:r>
                      <a:endParaRPr lang="en-US" sz="1400" b="0" i="0" u="none" strike="noStrike" dirty="0">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a:effectLst/>
                        </a:rPr>
                        <a:t>Activity</a:t>
                      </a:r>
                      <a:endParaRPr lang="en-US" sz="1400" b="0" i="0" u="none" strike="noStrike">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a:effectLst/>
                        </a:rPr>
                        <a:t>Target</a:t>
                      </a:r>
                      <a:endParaRPr lang="en-US" sz="1400" b="0" i="0" u="none" strike="noStrike">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dirty="0">
                          <a:effectLst/>
                        </a:rPr>
                        <a:t>Process Indicator</a:t>
                      </a:r>
                      <a:endParaRPr lang="en-US" sz="1400" b="0" i="0" u="none" strike="noStrike" dirty="0">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a:effectLst/>
                        </a:rPr>
                        <a:t>Resources</a:t>
                      </a:r>
                      <a:endParaRPr lang="en-US" sz="1400" b="0" i="0" u="none" strike="noStrike">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a:effectLst/>
                        </a:rPr>
                        <a:t>Timeline</a:t>
                      </a:r>
                      <a:endParaRPr lang="en-US" sz="1400" b="0" i="0" u="none" strike="noStrike">
                        <a:solidFill>
                          <a:srgbClr val="000000"/>
                        </a:solidFill>
                        <a:effectLst/>
                        <a:latin typeface="Calibri" panose="020F0502020204030204" pitchFamily="34" charset="0"/>
                      </a:endParaRPr>
                    </a:p>
                  </a:txBody>
                  <a:tcPr marL="6593" marR="6593" marT="6593" marB="0" anchor="b"/>
                </a:tc>
                <a:tc>
                  <a:txBody>
                    <a:bodyPr/>
                    <a:lstStyle/>
                    <a:p>
                      <a:pPr algn="l" fontAlgn="b"/>
                      <a:r>
                        <a:rPr lang="en-US" sz="1400" u="none" strike="noStrike" dirty="0">
                          <a:effectLst/>
                        </a:rPr>
                        <a:t>Lead Agency</a:t>
                      </a:r>
                      <a:endParaRPr lang="en-US" sz="1400" b="0" i="0" u="none" strike="noStrike" dirty="0">
                        <a:solidFill>
                          <a:srgbClr val="000000"/>
                        </a:solidFill>
                        <a:effectLst/>
                        <a:latin typeface="Calibri" panose="020F0502020204030204" pitchFamily="34" charset="0"/>
                      </a:endParaRPr>
                    </a:p>
                  </a:txBody>
                  <a:tcPr marL="6593" marR="6593" marT="6593" marB="0" anchor="b"/>
                </a:tc>
                <a:extLst>
                  <a:ext uri="{0D108BD9-81ED-4DB2-BD59-A6C34878D82A}">
                    <a16:rowId xmlns:a16="http://schemas.microsoft.com/office/drawing/2014/main" val="10000"/>
                  </a:ext>
                </a:extLst>
              </a:tr>
              <a:tr h="1670569">
                <a:tc rowSpan="3">
                  <a:txBody>
                    <a:bodyPr/>
                    <a:lstStyle/>
                    <a:p>
                      <a:pPr algn="ctr"/>
                      <a:r>
                        <a:rPr lang="en-US" sz="1200" b="1" dirty="0" smtClean="0">
                          <a:latin typeface="Arial" panose="020B0604020202020204" pitchFamily="34" charset="0"/>
                          <a:cs typeface="Arial" panose="020B0604020202020204" pitchFamily="34" charset="0"/>
                        </a:rPr>
                        <a:t>KRA 3: </a:t>
                      </a:r>
                    </a:p>
                    <a:p>
                      <a:pPr algn="ctr"/>
                      <a:r>
                        <a:rPr lang="en-US" sz="1200" b="1" dirty="0" smtClean="0">
                          <a:latin typeface="Arial" panose="020B0604020202020204" pitchFamily="34" charset="0"/>
                          <a:cs typeface="Arial" panose="020B0604020202020204" pitchFamily="34" charset="0"/>
                        </a:rPr>
                        <a:t>Social</a:t>
                      </a:r>
                      <a:r>
                        <a:rPr lang="en-US" sz="1200" b="1" baseline="0" dirty="0" smtClean="0">
                          <a:latin typeface="Arial" panose="020B0604020202020204" pitchFamily="34" charset="0"/>
                          <a:cs typeface="Arial" panose="020B0604020202020204" pitchFamily="34" charset="0"/>
                        </a:rPr>
                        <a:t> Protection</a:t>
                      </a:r>
                      <a:endParaRPr lang="en-US" sz="1200" b="1" dirty="0" smtClean="0">
                        <a:latin typeface="Arial" panose="020B0604020202020204" pitchFamily="34" charset="0"/>
                        <a:cs typeface="Arial" panose="020B0604020202020204" pitchFamily="34" charset="0"/>
                      </a:endParaRPr>
                    </a:p>
                    <a:p>
                      <a:endParaRPr lang="en-US" dirty="0"/>
                    </a:p>
                  </a:txBody>
                  <a:tcPr marL="6593" marR="6593" marT="6593" marB="0" anchor="ct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Goat Breeding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Project </a:t>
                      </a:r>
                      <a:r>
                        <a:rPr lang="en-US" sz="1200" kern="100" dirty="0">
                          <a:effectLst/>
                          <a:latin typeface="Arial" panose="020B0604020202020204" pitchFamily="34" charset="0"/>
                          <a:ea typeface="Calibri" panose="020F0502020204030204" pitchFamily="34" charset="0"/>
                          <a:cs typeface="Arial" panose="020B0604020202020204" pitchFamily="34" charset="0"/>
                        </a:rPr>
                        <a:t>for Kutenda Children’s Home</a:t>
                      </a:r>
                    </a:p>
                  </a:txBody>
                  <a:tcPr/>
                </a:tc>
                <a:tc>
                  <a:txBody>
                    <a:bodyPr/>
                    <a:lstStyle/>
                    <a:p>
                      <a:r>
                        <a:rPr lang="en-US" sz="1200" dirty="0">
                          <a:latin typeface="Arial" panose="020B0604020202020204" pitchFamily="34" charset="0"/>
                          <a:cs typeface="Arial" panose="020B0604020202020204" pitchFamily="34" charset="0"/>
                        </a:rPr>
                        <a:t>30 people</a:t>
                      </a: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people benefiting from income generation and  consumption</a:t>
                      </a:r>
                    </a:p>
                  </a:txBody>
                  <a:tcPr/>
                </a:tc>
                <a:tc>
                  <a:txBody>
                    <a:bodyPr/>
                    <a:lstStyle/>
                    <a:p>
                      <a:r>
                        <a:rPr lang="en-US" sz="1200" dirty="0" smtClean="0">
                          <a:latin typeface="Arial" panose="020B0604020202020204" pitchFamily="34" charset="0"/>
                          <a:cs typeface="Arial" panose="020B0604020202020204" pitchFamily="34" charset="0"/>
                        </a:rPr>
                        <a:t>Goat </a:t>
                      </a:r>
                      <a:r>
                        <a:rPr lang="en-US" sz="1200" dirty="0">
                          <a:latin typeface="Arial" panose="020B0604020202020204" pitchFamily="34" charset="0"/>
                          <a:cs typeface="Arial" panose="020B0604020202020204" pitchFamily="34" charset="0"/>
                        </a:rPr>
                        <a:t>feed, </a:t>
                      </a:r>
                      <a:r>
                        <a:rPr lang="en-US" sz="1200" dirty="0" smtClean="0">
                          <a:latin typeface="Arial" panose="020B0604020202020204" pitchFamily="34" charset="0"/>
                          <a:cs typeface="Arial" panose="020B0604020202020204" pitchFamily="34" charset="0"/>
                        </a:rPr>
                        <a:t>vaccines</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Development, </a:t>
                      </a:r>
                      <a:r>
                        <a:rPr lang="en-US" sz="1200" dirty="0" smtClean="0">
                          <a:latin typeface="Arial" panose="020B0604020202020204" pitchFamily="34" charset="0"/>
                          <a:cs typeface="Arial" panose="020B0604020202020204" pitchFamily="34" charset="0"/>
                        </a:rPr>
                        <a:t>Department of Veterinary Services </a:t>
                      </a:r>
                      <a:r>
                        <a:rPr lang="en-US" sz="1200" dirty="0">
                          <a:latin typeface="Arial" panose="020B0604020202020204" pitchFamily="34" charset="0"/>
                          <a:cs typeface="Arial" panose="020B0604020202020204" pitchFamily="34" charset="0"/>
                        </a:rPr>
                        <a:t>and Kutenda Children’s </a:t>
                      </a:r>
                      <a:r>
                        <a:rPr lang="en-US" sz="1200" dirty="0" smtClean="0">
                          <a:latin typeface="Arial" panose="020B0604020202020204" pitchFamily="34" charset="0"/>
                          <a:cs typeface="Arial" panose="020B0604020202020204" pitchFamily="34" charset="0"/>
                        </a:rPr>
                        <a:t>Home</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670569">
                <a:tc vMerge="1">
                  <a:txBody>
                    <a:bodyPr/>
                    <a:lstStyle/>
                    <a:p>
                      <a:endParaRPr lang="en-US" dirty="0"/>
                    </a:p>
                  </a:txBody>
                  <a:tcPr marL="6593" marR="6593" marT="6593" marB="0" anchor="b"/>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Horticulture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Project </a:t>
                      </a:r>
                      <a:r>
                        <a:rPr lang="en-US" sz="1200" kern="100" dirty="0">
                          <a:effectLst/>
                          <a:latin typeface="Arial" panose="020B0604020202020204" pitchFamily="34" charset="0"/>
                          <a:ea typeface="Calibri" panose="020F0502020204030204" pitchFamily="34" charset="0"/>
                          <a:cs typeface="Arial" panose="020B0604020202020204" pitchFamily="34" charset="0"/>
                        </a:rPr>
                        <a:t>for Kutenda Children’s Home</a:t>
                      </a:r>
                    </a:p>
                  </a:txBody>
                  <a:tcPr/>
                </a:tc>
                <a:tc>
                  <a:txBody>
                    <a:bodyPr/>
                    <a:lstStyle/>
                    <a:p>
                      <a:r>
                        <a:rPr lang="en-US" sz="1200" dirty="0">
                          <a:latin typeface="Arial" panose="020B0604020202020204" pitchFamily="34" charset="0"/>
                          <a:cs typeface="Arial" panose="020B0604020202020204" pitchFamily="34" charset="0"/>
                        </a:rPr>
                        <a:t>30 people</a:t>
                      </a: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people benefiting from income generation and  consumption</a:t>
                      </a:r>
                    </a:p>
                  </a:txBody>
                  <a:tcPr/>
                </a:tc>
                <a:tc>
                  <a:txBody>
                    <a:bodyPr/>
                    <a:lstStyle/>
                    <a:p>
                      <a:r>
                        <a:rPr lang="en-US" sz="1200" dirty="0" smtClean="0">
                          <a:latin typeface="Arial" panose="020B0604020202020204" pitchFamily="34" charset="0"/>
                          <a:cs typeface="Arial" panose="020B0604020202020204" pitchFamily="34" charset="0"/>
                        </a:rPr>
                        <a:t>Seeds</a:t>
                      </a:r>
                      <a:r>
                        <a:rPr lang="en-US" sz="1200" dirty="0">
                          <a:latin typeface="Arial" panose="020B0604020202020204" pitchFamily="34" charset="0"/>
                          <a:cs typeface="Arial" panose="020B0604020202020204" pitchFamily="34" charset="0"/>
                        </a:rPr>
                        <a:t>, herbicides and </a:t>
                      </a:r>
                      <a:r>
                        <a:rPr lang="en-US" sz="1200" dirty="0" smtClean="0">
                          <a:latin typeface="Arial" panose="020B0604020202020204" pitchFamily="34" charset="0"/>
                          <a:cs typeface="Arial" panose="020B0604020202020204" pitchFamily="34" charset="0"/>
                        </a:rPr>
                        <a:t>fertilizers</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Development, </a:t>
                      </a:r>
                      <a:r>
                        <a:rPr lang="en-US" sz="1200" dirty="0" smtClean="0">
                          <a:latin typeface="Arial" panose="020B0604020202020204" pitchFamily="34" charset="0"/>
                          <a:cs typeface="Arial" panose="020B0604020202020204" pitchFamily="34" charset="0"/>
                        </a:rPr>
                        <a:t>Department of Veterinary Services </a:t>
                      </a:r>
                      <a:r>
                        <a:rPr lang="en-US" sz="1200" dirty="0">
                          <a:latin typeface="Arial" panose="020B0604020202020204" pitchFamily="34" charset="0"/>
                          <a:cs typeface="Arial" panose="020B0604020202020204" pitchFamily="34" charset="0"/>
                        </a:rPr>
                        <a:t>and Kutenda Children’s </a:t>
                      </a:r>
                      <a:r>
                        <a:rPr lang="en-US" sz="1200" dirty="0" smtClean="0">
                          <a:latin typeface="Arial" panose="020B0604020202020204" pitchFamily="34" charset="0"/>
                          <a:cs typeface="Arial" panose="020B0604020202020204" pitchFamily="34" charset="0"/>
                        </a:rPr>
                        <a:t>Home</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1156548">
                <a:tc vMerge="1">
                  <a:txBody>
                    <a:bodyPr/>
                    <a:lstStyle/>
                    <a:p>
                      <a:endParaRPr lang="en-US" dirty="0"/>
                    </a:p>
                  </a:txBody>
                  <a:tcPr marL="6593" marR="6593" marT="6593" marB="0" anchor="b"/>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Piggery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Project </a:t>
                      </a:r>
                      <a:r>
                        <a:rPr lang="en-US" sz="1200" kern="100" dirty="0">
                          <a:effectLst/>
                          <a:latin typeface="Arial" panose="020B0604020202020204" pitchFamily="34" charset="0"/>
                          <a:ea typeface="Calibri" panose="020F0502020204030204" pitchFamily="34" charset="0"/>
                          <a:cs typeface="Arial" panose="020B0604020202020204" pitchFamily="34" charset="0"/>
                        </a:rPr>
                        <a:t>for Mazowe River Bridge Old Peoples Home</a:t>
                      </a:r>
                    </a:p>
                  </a:txBody>
                  <a:tcPr/>
                </a:tc>
                <a:tc>
                  <a:txBody>
                    <a:bodyPr/>
                    <a:lstStyle/>
                    <a:p>
                      <a:r>
                        <a:rPr lang="en-US" sz="1200" dirty="0">
                          <a:latin typeface="Arial" panose="020B0604020202020204" pitchFamily="34" charset="0"/>
                          <a:cs typeface="Arial" panose="020B0604020202020204" pitchFamily="34" charset="0"/>
                        </a:rPr>
                        <a:t>20 people</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Proportion of people benefiting from income generation and  consumption</a:t>
                      </a:r>
                    </a:p>
                  </a:txBody>
                  <a:tcPr/>
                </a:tc>
                <a:tc>
                  <a:txBody>
                    <a:bodyPr/>
                    <a:lstStyle/>
                    <a:p>
                      <a:r>
                        <a:rPr lang="en-US" sz="1200" kern="100" dirty="0" smtClean="0">
                          <a:effectLst/>
                          <a:latin typeface="Arial" panose="020B0604020202020204" pitchFamily="34" charset="0"/>
                          <a:ea typeface="Calibri" panose="020F0502020204030204" pitchFamily="34" charset="0"/>
                          <a:cs typeface="Arial" panose="020B0604020202020204" pitchFamily="34" charset="0"/>
                        </a:rPr>
                        <a:t>Pigpen</a:t>
                      </a:r>
                      <a:r>
                        <a:rPr lang="en-US" sz="1200" kern="100" dirty="0">
                          <a:effectLst/>
                          <a:latin typeface="Arial" panose="020B0604020202020204" pitchFamily="34" charset="0"/>
                          <a:ea typeface="Calibri" panose="020F0502020204030204" pitchFamily="34" charset="0"/>
                          <a:cs typeface="Arial" panose="020B0604020202020204" pitchFamily="34" charset="0"/>
                        </a:rPr>
                        <a:t>, Piglets, piglets feed and servicing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sows</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Development. Mazowe Old Peoples Home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526561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928201197"/>
              </p:ext>
            </p:extLst>
          </p:nvPr>
        </p:nvGraphicFramePr>
        <p:xfrm>
          <a:off x="232893" y="293039"/>
          <a:ext cx="11572876" cy="5708751"/>
        </p:xfrm>
        <a:graphic>
          <a:graphicData uri="http://schemas.openxmlformats.org/drawingml/2006/table">
            <a:tbl>
              <a:tblPr firstRow="1" bandRow="1">
                <a:tableStyleId>{5C22544A-7EE6-4342-B048-85BDC9FD1C3A}</a:tableStyleId>
              </a:tblPr>
              <a:tblGrid>
                <a:gridCol w="1653268">
                  <a:extLst>
                    <a:ext uri="{9D8B030D-6E8A-4147-A177-3AD203B41FA5}">
                      <a16:colId xmlns:a16="http://schemas.microsoft.com/office/drawing/2014/main" val="20000"/>
                    </a:ext>
                  </a:extLst>
                </a:gridCol>
                <a:gridCol w="1653268">
                  <a:extLst>
                    <a:ext uri="{9D8B030D-6E8A-4147-A177-3AD203B41FA5}">
                      <a16:colId xmlns:a16="http://schemas.microsoft.com/office/drawing/2014/main" val="20001"/>
                    </a:ext>
                  </a:extLst>
                </a:gridCol>
                <a:gridCol w="1653268">
                  <a:extLst>
                    <a:ext uri="{9D8B030D-6E8A-4147-A177-3AD203B41FA5}">
                      <a16:colId xmlns:a16="http://schemas.microsoft.com/office/drawing/2014/main" val="20002"/>
                    </a:ext>
                  </a:extLst>
                </a:gridCol>
                <a:gridCol w="1653268">
                  <a:extLst>
                    <a:ext uri="{9D8B030D-6E8A-4147-A177-3AD203B41FA5}">
                      <a16:colId xmlns:a16="http://schemas.microsoft.com/office/drawing/2014/main" val="20003"/>
                    </a:ext>
                  </a:extLst>
                </a:gridCol>
                <a:gridCol w="1653268">
                  <a:extLst>
                    <a:ext uri="{9D8B030D-6E8A-4147-A177-3AD203B41FA5}">
                      <a16:colId xmlns:a16="http://schemas.microsoft.com/office/drawing/2014/main" val="20004"/>
                    </a:ext>
                  </a:extLst>
                </a:gridCol>
                <a:gridCol w="1653268">
                  <a:extLst>
                    <a:ext uri="{9D8B030D-6E8A-4147-A177-3AD203B41FA5}">
                      <a16:colId xmlns:a16="http://schemas.microsoft.com/office/drawing/2014/main" val="20005"/>
                    </a:ext>
                  </a:extLst>
                </a:gridCol>
                <a:gridCol w="1653268">
                  <a:extLst>
                    <a:ext uri="{9D8B030D-6E8A-4147-A177-3AD203B41FA5}">
                      <a16:colId xmlns:a16="http://schemas.microsoft.com/office/drawing/2014/main" val="20006"/>
                    </a:ext>
                  </a:extLst>
                </a:gridCol>
              </a:tblGrid>
              <a:tr h="330483">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Key</a:t>
                      </a:r>
                      <a:r>
                        <a:rPr lang="en-US" sz="1200" b="1" kern="100" baseline="0" dirty="0">
                          <a:effectLst/>
                          <a:latin typeface="Arial" panose="020B0604020202020204" pitchFamily="34" charset="0"/>
                          <a:ea typeface="Calibri" panose="020F0502020204030204" pitchFamily="34" charset="0"/>
                          <a:cs typeface="Arial" panose="020B0604020202020204" pitchFamily="34" charset="0"/>
                        </a:rPr>
                        <a:t> Result Area</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Activity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Target</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Process Indicator</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Resources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Timeline</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Lead Agency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extLst>
                  <a:ext uri="{0D108BD9-81ED-4DB2-BD59-A6C34878D82A}">
                    <a16:rowId xmlns:a16="http://schemas.microsoft.com/office/drawing/2014/main" val="10000"/>
                  </a:ext>
                </a:extLst>
              </a:tr>
              <a:tr h="1792756">
                <a:tc rowSpan="3">
                  <a:txBody>
                    <a:bodyPr/>
                    <a:lstStyle/>
                    <a:p>
                      <a:pPr algn="ctr"/>
                      <a:r>
                        <a:rPr lang="en-US" sz="1200" b="1" dirty="0" smtClean="0">
                          <a:latin typeface="Arial" panose="020B0604020202020204" pitchFamily="34" charset="0"/>
                          <a:cs typeface="Arial" panose="020B0604020202020204" pitchFamily="34" charset="0"/>
                        </a:rPr>
                        <a:t>KRA 3: </a:t>
                      </a:r>
                    </a:p>
                    <a:p>
                      <a:pPr algn="ctr"/>
                      <a:r>
                        <a:rPr lang="en-US" sz="1200" b="1" dirty="0" smtClean="0">
                          <a:latin typeface="Arial" panose="020B0604020202020204" pitchFamily="34" charset="0"/>
                          <a:cs typeface="Arial" panose="020B0604020202020204" pitchFamily="34" charset="0"/>
                        </a:rPr>
                        <a:t>Social</a:t>
                      </a:r>
                      <a:r>
                        <a:rPr lang="en-US" sz="1200" b="1" baseline="0" dirty="0" smtClean="0">
                          <a:latin typeface="Arial" panose="020B0604020202020204" pitchFamily="34" charset="0"/>
                          <a:cs typeface="Arial" panose="020B0604020202020204" pitchFamily="34" charset="0"/>
                        </a:rPr>
                        <a:t> Protection</a:t>
                      </a:r>
                      <a:endParaRPr lang="en-US" sz="1200" b="1" dirty="0" smtClean="0">
                        <a:latin typeface="Arial" panose="020B0604020202020204" pitchFamily="34" charset="0"/>
                        <a:cs typeface="Arial" panose="020B0604020202020204" pitchFamily="34" charset="0"/>
                      </a:endParaRPr>
                    </a:p>
                    <a:p>
                      <a:pPr algn="ctr"/>
                      <a:endParaRPr lang="en-US" sz="1200" b="1" dirty="0">
                        <a:latin typeface="Arial" panose="020B0604020202020204" pitchFamily="34" charset="0"/>
                        <a:cs typeface="Arial" panose="020B0604020202020204" pitchFamily="34" charset="0"/>
                      </a:endParaRPr>
                    </a:p>
                  </a:txBody>
                  <a:tcPr anchor="ct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Poultry project for </a:t>
                      </a:r>
                      <a:r>
                        <a:rPr lang="en-US" sz="1200" kern="100" dirty="0" err="1">
                          <a:effectLst/>
                          <a:latin typeface="Arial" panose="020B0604020202020204" pitchFamily="34" charset="0"/>
                          <a:ea typeface="Calibri" panose="020F0502020204030204" pitchFamily="34" charset="0"/>
                          <a:cs typeface="Arial" panose="020B0604020202020204" pitchFamily="34" charset="0"/>
                        </a:rPr>
                        <a:t>Ponesai</a:t>
                      </a:r>
                      <a:r>
                        <a:rPr lang="en-US" sz="1200" kern="100" dirty="0">
                          <a:effectLst/>
                          <a:latin typeface="Arial" panose="020B0604020202020204" pitchFamily="34" charset="0"/>
                          <a:ea typeface="Calibri" panose="020F0502020204030204" pitchFamily="34" charset="0"/>
                          <a:cs typeface="Arial" panose="020B0604020202020204" pitchFamily="34" charset="0"/>
                        </a:rPr>
                        <a:t> </a:t>
                      </a:r>
                      <a:r>
                        <a:rPr lang="en-US" sz="1200" kern="100" dirty="0" err="1">
                          <a:effectLst/>
                          <a:latin typeface="Arial" panose="020B0604020202020204" pitchFamily="34" charset="0"/>
                          <a:ea typeface="Calibri" panose="020F0502020204030204" pitchFamily="34" charset="0"/>
                          <a:cs typeface="Arial" panose="020B0604020202020204" pitchFamily="34" charset="0"/>
                        </a:rPr>
                        <a:t>Vanhu</a:t>
                      </a:r>
                      <a:r>
                        <a:rPr lang="en-US" sz="1200" kern="100" dirty="0">
                          <a:effectLst/>
                          <a:latin typeface="Arial" panose="020B0604020202020204" pitchFamily="34" charset="0"/>
                          <a:ea typeface="Calibri" panose="020F0502020204030204" pitchFamily="34" charset="0"/>
                          <a:cs typeface="Arial" panose="020B0604020202020204" pitchFamily="34" charset="0"/>
                        </a:rPr>
                        <a:t> </a:t>
                      </a:r>
                      <a:r>
                        <a:rPr lang="en-US" sz="1200" kern="100" dirty="0" err="1">
                          <a:effectLst/>
                          <a:latin typeface="Arial" panose="020B0604020202020204" pitchFamily="34" charset="0"/>
                          <a:ea typeface="Calibri" panose="020F0502020204030204" pitchFamily="34" charset="0"/>
                          <a:cs typeface="Arial" panose="020B0604020202020204" pitchFamily="34" charset="0"/>
                        </a:rPr>
                        <a:t>Childrens</a:t>
                      </a:r>
                      <a:r>
                        <a:rPr lang="en-US" sz="1200" kern="100" dirty="0">
                          <a:effectLst/>
                          <a:latin typeface="Arial" panose="020B0604020202020204" pitchFamily="34" charset="0"/>
                          <a:ea typeface="Calibri" panose="020F0502020204030204" pitchFamily="34" charset="0"/>
                          <a:cs typeface="Arial" panose="020B0604020202020204" pitchFamily="34" charset="0"/>
                        </a:rPr>
                        <a:t> Home</a:t>
                      </a:r>
                    </a:p>
                  </a:txBody>
                  <a:tcPr/>
                </a:tc>
                <a:tc>
                  <a:txBody>
                    <a:bodyPr/>
                    <a:lstStyle/>
                    <a:p>
                      <a:r>
                        <a:rPr lang="en-US" sz="1200" dirty="0">
                          <a:latin typeface="Arial" panose="020B0604020202020204" pitchFamily="34" charset="0"/>
                          <a:cs typeface="Arial" panose="020B0604020202020204" pitchFamily="34" charset="0"/>
                        </a:rPr>
                        <a:t>70 people</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people benefiting from income generation and  consumption</a:t>
                      </a:r>
                    </a:p>
                  </a:txBody>
                  <a:tcPr/>
                </a:tc>
                <a:tc>
                  <a:txBody>
                    <a:bodyPr/>
                    <a:lstStyle/>
                    <a:p>
                      <a:r>
                        <a:rPr lang="en-US" sz="1200" kern="100" dirty="0">
                          <a:effectLst/>
                          <a:latin typeface="Arial" panose="020B0604020202020204" pitchFamily="34" charset="0"/>
                          <a:ea typeface="Calibri" panose="020F0502020204030204" pitchFamily="34" charset="0"/>
                          <a:cs typeface="Arial" panose="020B0604020202020204" pitchFamily="34" charset="0"/>
                        </a:rPr>
                        <a:t> Chicks,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Poultry </a:t>
                      </a:r>
                      <a:r>
                        <a:rPr lang="en-US" sz="1200" kern="100" dirty="0">
                          <a:effectLst/>
                          <a:latin typeface="Arial" panose="020B0604020202020204" pitchFamily="34" charset="0"/>
                          <a:ea typeface="Calibri" panose="020F0502020204030204" pitchFamily="34" charset="0"/>
                          <a:cs typeface="Arial" panose="020B0604020202020204" pitchFamily="34" charset="0"/>
                        </a:rPr>
                        <a:t>F</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eed </a:t>
                      </a:r>
                      <a:r>
                        <a:rPr lang="en-US" sz="1200" kern="100" dirty="0">
                          <a:effectLst/>
                          <a:latin typeface="Arial" panose="020B0604020202020204" pitchFamily="34" charset="0"/>
                          <a:ea typeface="Calibri" panose="020F0502020204030204" pitchFamily="34" charset="0"/>
                          <a:cs typeface="Arial" panose="020B0604020202020204" pitchFamily="34" charset="0"/>
                        </a:rPr>
                        <a:t>and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Vaccine</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Development. Mazowe </a:t>
                      </a:r>
                      <a:r>
                        <a:rPr lang="en-US" sz="1200" dirty="0" err="1">
                          <a:latin typeface="Arial" panose="020B0604020202020204" pitchFamily="34" charset="0"/>
                          <a:cs typeface="Arial" panose="020B0604020202020204" pitchFamily="34" charset="0"/>
                        </a:rPr>
                        <a:t>Ponesai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Vanhu</a:t>
                      </a:r>
                      <a:r>
                        <a:rPr lang="en-US" sz="1200" dirty="0">
                          <a:latin typeface="Arial" panose="020B0604020202020204" pitchFamily="34" charset="0"/>
                          <a:cs typeface="Arial" panose="020B0604020202020204" pitchFamily="34" charset="0"/>
                        </a:rPr>
                        <a:t> Children’s Home and </a:t>
                      </a:r>
                      <a:r>
                        <a:rPr lang="en-US" sz="1200" dirty="0" smtClean="0">
                          <a:latin typeface="Arial" panose="020B0604020202020204" pitchFamily="34" charset="0"/>
                          <a:cs typeface="Arial" panose="020B0604020202020204" pitchFamily="34" charset="0"/>
                        </a:rPr>
                        <a:t>VET</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792756">
                <a:tc vMerge="1">
                  <a:txBody>
                    <a:bodyPr/>
                    <a:lstStyle/>
                    <a:p>
                      <a:pPr algn="ctr"/>
                      <a:endParaRPr lang="en-US" b="1" dirty="0"/>
                    </a:p>
                  </a:txBody>
                  <a:tcPr anchor="ct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Rabbit project for </a:t>
                      </a:r>
                      <a:r>
                        <a:rPr lang="en-US" sz="1200" kern="100" dirty="0" err="1">
                          <a:effectLst/>
                          <a:latin typeface="Arial" panose="020B0604020202020204" pitchFamily="34" charset="0"/>
                          <a:ea typeface="Calibri" panose="020F0502020204030204" pitchFamily="34" charset="0"/>
                          <a:cs typeface="Arial" panose="020B0604020202020204" pitchFamily="34" charset="0"/>
                        </a:rPr>
                        <a:t>Ponesai</a:t>
                      </a:r>
                      <a:r>
                        <a:rPr lang="en-US" sz="1200" kern="100" dirty="0">
                          <a:effectLst/>
                          <a:latin typeface="Arial" panose="020B0604020202020204" pitchFamily="34" charset="0"/>
                          <a:ea typeface="Calibri" panose="020F0502020204030204" pitchFamily="34" charset="0"/>
                          <a:cs typeface="Arial" panose="020B0604020202020204" pitchFamily="34" charset="0"/>
                        </a:rPr>
                        <a:t> </a:t>
                      </a:r>
                      <a:r>
                        <a:rPr lang="en-US" sz="1200" kern="100" dirty="0" err="1">
                          <a:effectLst/>
                          <a:latin typeface="Arial" panose="020B0604020202020204" pitchFamily="34" charset="0"/>
                          <a:ea typeface="Calibri" panose="020F0502020204030204" pitchFamily="34" charset="0"/>
                          <a:cs typeface="Arial" panose="020B0604020202020204" pitchFamily="34" charset="0"/>
                        </a:rPr>
                        <a:t>Vanhu</a:t>
                      </a:r>
                      <a:r>
                        <a:rPr lang="en-US" sz="1200" kern="100" dirty="0">
                          <a:effectLst/>
                          <a:latin typeface="Arial" panose="020B0604020202020204" pitchFamily="34" charset="0"/>
                          <a:ea typeface="Calibri" panose="020F0502020204030204" pitchFamily="34" charset="0"/>
                          <a:cs typeface="Arial" panose="020B0604020202020204" pitchFamily="34" charset="0"/>
                        </a:rPr>
                        <a:t> </a:t>
                      </a:r>
                      <a:r>
                        <a:rPr lang="en-US" sz="1200" kern="100" dirty="0" err="1">
                          <a:effectLst/>
                          <a:latin typeface="Arial" panose="020B0604020202020204" pitchFamily="34" charset="0"/>
                          <a:ea typeface="Calibri" panose="020F0502020204030204" pitchFamily="34" charset="0"/>
                          <a:cs typeface="Arial" panose="020B0604020202020204" pitchFamily="34" charset="0"/>
                        </a:rPr>
                        <a:t>Childrens</a:t>
                      </a:r>
                      <a:r>
                        <a:rPr lang="en-US" sz="1200" kern="100" dirty="0">
                          <a:effectLst/>
                          <a:latin typeface="Arial" panose="020B0604020202020204" pitchFamily="34" charset="0"/>
                          <a:ea typeface="Calibri" panose="020F0502020204030204" pitchFamily="34" charset="0"/>
                          <a:cs typeface="Arial" panose="020B0604020202020204" pitchFamily="34" charset="0"/>
                        </a:rPr>
                        <a:t> Home</a:t>
                      </a:r>
                    </a:p>
                  </a:txBody>
                  <a:tcPr/>
                </a:tc>
                <a:tc>
                  <a:txBody>
                    <a:bodyPr/>
                    <a:lstStyle/>
                    <a:p>
                      <a:r>
                        <a:rPr lang="en-US" sz="1200" dirty="0">
                          <a:latin typeface="Arial" panose="020B0604020202020204" pitchFamily="34" charset="0"/>
                          <a:cs typeface="Arial" panose="020B0604020202020204" pitchFamily="34" charset="0"/>
                        </a:rPr>
                        <a:t>70 people</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people benefiting from income generation and  consumption</a:t>
                      </a:r>
                    </a:p>
                  </a:txBody>
                  <a:tcPr/>
                </a:tc>
                <a:tc>
                  <a:txBody>
                    <a:bodyPr/>
                    <a:lstStyle/>
                    <a:p>
                      <a:r>
                        <a:rPr lang="en-US" sz="1200" kern="100" dirty="0">
                          <a:effectLst/>
                          <a:latin typeface="Arial" panose="020B0604020202020204" pitchFamily="34" charset="0"/>
                          <a:ea typeface="Calibri" panose="020F0502020204030204" pitchFamily="34" charset="0"/>
                          <a:cs typeface="Arial" panose="020B0604020202020204" pitchFamily="34" charset="0"/>
                        </a:rPr>
                        <a:t> Rabbits, Rabbits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Pellet </a:t>
                      </a:r>
                      <a:r>
                        <a:rPr lang="en-US" sz="1200" kern="100" dirty="0">
                          <a:effectLst/>
                          <a:latin typeface="Arial" panose="020B0604020202020204" pitchFamily="34" charset="0"/>
                          <a:ea typeface="Calibri" panose="020F0502020204030204" pitchFamily="34" charset="0"/>
                          <a:cs typeface="Arial" panose="020B0604020202020204" pitchFamily="34" charset="0"/>
                        </a:rPr>
                        <a:t>and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Vaccines</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Development. Mazowe </a:t>
                      </a:r>
                      <a:r>
                        <a:rPr lang="en-US" sz="1200" dirty="0" err="1">
                          <a:latin typeface="Arial" panose="020B0604020202020204" pitchFamily="34" charset="0"/>
                          <a:cs typeface="Arial" panose="020B0604020202020204" pitchFamily="34" charset="0"/>
                        </a:rPr>
                        <a:t>Ponesai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Vanhu</a:t>
                      </a:r>
                      <a:r>
                        <a:rPr lang="en-US" sz="1200" dirty="0">
                          <a:latin typeface="Arial" panose="020B0604020202020204" pitchFamily="34" charset="0"/>
                          <a:cs typeface="Arial" panose="020B0604020202020204" pitchFamily="34" charset="0"/>
                        </a:rPr>
                        <a:t> Children’s Home and </a:t>
                      </a:r>
                      <a:r>
                        <a:rPr lang="en-US" sz="1200" dirty="0" smtClean="0">
                          <a:latin typeface="Arial" panose="020B0604020202020204" pitchFamily="34" charset="0"/>
                          <a:cs typeface="Arial" panose="020B0604020202020204" pitchFamily="34" charset="0"/>
                        </a:rPr>
                        <a:t>VET</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1792756">
                <a:tc vMerge="1">
                  <a:txBody>
                    <a:bodyPr/>
                    <a:lstStyle/>
                    <a:p>
                      <a:pPr algn="ctr"/>
                      <a:endParaRPr lang="en-US" b="1" dirty="0"/>
                    </a:p>
                  </a:txBody>
                  <a:tcPr anchor="ct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Poultry project for </a:t>
                      </a:r>
                      <a:r>
                        <a:rPr lang="en-US" sz="1200" kern="100" dirty="0" err="1">
                          <a:effectLst/>
                          <a:latin typeface="Arial" panose="020B0604020202020204" pitchFamily="34" charset="0"/>
                          <a:ea typeface="Calibri" panose="020F0502020204030204" pitchFamily="34" charset="0"/>
                          <a:cs typeface="Arial" panose="020B0604020202020204" pitchFamily="34" charset="0"/>
                        </a:rPr>
                        <a:t>Ponesai</a:t>
                      </a:r>
                      <a:r>
                        <a:rPr lang="en-US" sz="1200" kern="100" dirty="0">
                          <a:effectLst/>
                          <a:latin typeface="Arial" panose="020B0604020202020204" pitchFamily="34" charset="0"/>
                          <a:ea typeface="Calibri" panose="020F0502020204030204" pitchFamily="34" charset="0"/>
                          <a:cs typeface="Arial" panose="020B0604020202020204" pitchFamily="34" charset="0"/>
                        </a:rPr>
                        <a:t> </a:t>
                      </a:r>
                      <a:r>
                        <a:rPr lang="en-US" sz="1200" kern="100" dirty="0" err="1">
                          <a:effectLst/>
                          <a:latin typeface="Arial" panose="020B0604020202020204" pitchFamily="34" charset="0"/>
                          <a:ea typeface="Calibri" panose="020F0502020204030204" pitchFamily="34" charset="0"/>
                          <a:cs typeface="Arial" panose="020B0604020202020204" pitchFamily="34" charset="0"/>
                        </a:rPr>
                        <a:t>Vanhu</a:t>
                      </a:r>
                      <a:r>
                        <a:rPr lang="en-US" sz="1200" kern="100" dirty="0">
                          <a:effectLst/>
                          <a:latin typeface="Arial" panose="020B0604020202020204" pitchFamily="34" charset="0"/>
                          <a:ea typeface="Calibri" panose="020F0502020204030204" pitchFamily="34" charset="0"/>
                          <a:cs typeface="Arial" panose="020B0604020202020204" pitchFamily="34" charset="0"/>
                        </a:rPr>
                        <a:t> </a:t>
                      </a:r>
                      <a:r>
                        <a:rPr lang="en-US" sz="1200" kern="100" dirty="0" err="1">
                          <a:effectLst/>
                          <a:latin typeface="Arial" panose="020B0604020202020204" pitchFamily="34" charset="0"/>
                          <a:ea typeface="Calibri" panose="020F0502020204030204" pitchFamily="34" charset="0"/>
                          <a:cs typeface="Arial" panose="020B0604020202020204" pitchFamily="34" charset="0"/>
                        </a:rPr>
                        <a:t>Childrens</a:t>
                      </a:r>
                      <a:r>
                        <a:rPr lang="en-US" sz="1200" kern="100" dirty="0">
                          <a:effectLst/>
                          <a:latin typeface="Arial" panose="020B0604020202020204" pitchFamily="34" charset="0"/>
                          <a:ea typeface="Calibri" panose="020F0502020204030204" pitchFamily="34" charset="0"/>
                          <a:cs typeface="Arial" panose="020B0604020202020204" pitchFamily="34" charset="0"/>
                        </a:rPr>
                        <a:t> Home</a:t>
                      </a:r>
                    </a:p>
                  </a:txBody>
                  <a:tcPr/>
                </a:tc>
                <a:tc>
                  <a:txBody>
                    <a:bodyPr/>
                    <a:lstStyle/>
                    <a:p>
                      <a:r>
                        <a:rPr lang="en-US" sz="1200" dirty="0">
                          <a:latin typeface="Arial" panose="020B0604020202020204" pitchFamily="34" charset="0"/>
                          <a:cs typeface="Arial" panose="020B0604020202020204" pitchFamily="34" charset="0"/>
                        </a:rPr>
                        <a:t>70 people</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people benefiting from income generation and  consumption</a:t>
                      </a:r>
                    </a:p>
                  </a:txBody>
                  <a:tcPr/>
                </a:tc>
                <a:tc>
                  <a:txBody>
                    <a:bodyPr/>
                    <a:lstStyle/>
                    <a:p>
                      <a:r>
                        <a:rPr lang="en-US" sz="1200" kern="100" dirty="0">
                          <a:effectLst/>
                          <a:latin typeface="Arial" panose="020B0604020202020204" pitchFamily="34" charset="0"/>
                          <a:ea typeface="Calibri" panose="020F0502020204030204" pitchFamily="34" charset="0"/>
                          <a:cs typeface="Arial" panose="020B0604020202020204" pitchFamily="34" charset="0"/>
                        </a:rPr>
                        <a:t> Chicks,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Poultry </a:t>
                      </a:r>
                      <a:r>
                        <a:rPr lang="en-US" sz="1200" kern="100" dirty="0">
                          <a:effectLst/>
                          <a:latin typeface="Arial" panose="020B0604020202020204" pitchFamily="34" charset="0"/>
                          <a:ea typeface="Calibri" panose="020F0502020204030204" pitchFamily="34" charset="0"/>
                          <a:cs typeface="Arial" panose="020B0604020202020204" pitchFamily="34" charset="0"/>
                        </a:rPr>
                        <a:t>F</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eed </a:t>
                      </a:r>
                      <a:r>
                        <a:rPr lang="en-US" sz="1200" kern="100" dirty="0">
                          <a:effectLst/>
                          <a:latin typeface="Arial" panose="020B0604020202020204" pitchFamily="34" charset="0"/>
                          <a:ea typeface="Calibri" panose="020F0502020204030204" pitchFamily="34" charset="0"/>
                          <a:cs typeface="Arial" panose="020B0604020202020204" pitchFamily="34" charset="0"/>
                        </a:rPr>
                        <a:t>and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Vaccine</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Development. Mazowe </a:t>
                      </a:r>
                      <a:r>
                        <a:rPr lang="en-US" sz="1200" dirty="0" err="1">
                          <a:latin typeface="Arial" panose="020B0604020202020204" pitchFamily="34" charset="0"/>
                          <a:cs typeface="Arial" panose="020B0604020202020204" pitchFamily="34" charset="0"/>
                        </a:rPr>
                        <a:t>Ponesai</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Vanhu</a:t>
                      </a:r>
                      <a:r>
                        <a:rPr lang="en-US" sz="1200" dirty="0">
                          <a:latin typeface="Arial" panose="020B0604020202020204" pitchFamily="34" charset="0"/>
                          <a:cs typeface="Arial" panose="020B0604020202020204" pitchFamily="34" charset="0"/>
                        </a:rPr>
                        <a:t> Children’s Home and </a:t>
                      </a:r>
                      <a:r>
                        <a:rPr lang="en-US" sz="1200" dirty="0" smtClean="0">
                          <a:latin typeface="Arial" panose="020B0604020202020204" pitchFamily="34" charset="0"/>
                          <a:cs typeface="Arial" panose="020B0604020202020204" pitchFamily="34" charset="0"/>
                        </a:rPr>
                        <a:t>VET</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345717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280246438"/>
              </p:ext>
            </p:extLst>
          </p:nvPr>
        </p:nvGraphicFramePr>
        <p:xfrm>
          <a:off x="257576" y="318796"/>
          <a:ext cx="11552352" cy="6352459"/>
        </p:xfrm>
        <a:graphic>
          <a:graphicData uri="http://schemas.openxmlformats.org/drawingml/2006/table">
            <a:tbl>
              <a:tblPr firstRow="1" bandRow="1">
                <a:tableStyleId>{5C22544A-7EE6-4342-B048-85BDC9FD1C3A}</a:tableStyleId>
              </a:tblPr>
              <a:tblGrid>
                <a:gridCol w="1104470">
                  <a:extLst>
                    <a:ext uri="{9D8B030D-6E8A-4147-A177-3AD203B41FA5}">
                      <a16:colId xmlns:a16="http://schemas.microsoft.com/office/drawing/2014/main" val="20000"/>
                    </a:ext>
                  </a:extLst>
                </a:gridCol>
                <a:gridCol w="1911891">
                  <a:extLst>
                    <a:ext uri="{9D8B030D-6E8A-4147-A177-3AD203B41FA5}">
                      <a16:colId xmlns:a16="http://schemas.microsoft.com/office/drawing/2014/main" val="20001"/>
                    </a:ext>
                  </a:extLst>
                </a:gridCol>
                <a:gridCol w="1231387">
                  <a:extLst>
                    <a:ext uri="{9D8B030D-6E8A-4147-A177-3AD203B41FA5}">
                      <a16:colId xmlns:a16="http://schemas.microsoft.com/office/drawing/2014/main" val="20002"/>
                    </a:ext>
                  </a:extLst>
                </a:gridCol>
                <a:gridCol w="2989332">
                  <a:extLst>
                    <a:ext uri="{9D8B030D-6E8A-4147-A177-3AD203B41FA5}">
                      <a16:colId xmlns:a16="http://schemas.microsoft.com/office/drawing/2014/main" val="20003"/>
                    </a:ext>
                  </a:extLst>
                </a:gridCol>
                <a:gridCol w="1438424">
                  <a:extLst>
                    <a:ext uri="{9D8B030D-6E8A-4147-A177-3AD203B41FA5}">
                      <a16:colId xmlns:a16="http://schemas.microsoft.com/office/drawing/2014/main" val="20004"/>
                    </a:ext>
                  </a:extLst>
                </a:gridCol>
                <a:gridCol w="1033880">
                  <a:extLst>
                    <a:ext uri="{9D8B030D-6E8A-4147-A177-3AD203B41FA5}">
                      <a16:colId xmlns:a16="http://schemas.microsoft.com/office/drawing/2014/main" val="20005"/>
                    </a:ext>
                  </a:extLst>
                </a:gridCol>
                <a:gridCol w="1842968">
                  <a:extLst>
                    <a:ext uri="{9D8B030D-6E8A-4147-A177-3AD203B41FA5}">
                      <a16:colId xmlns:a16="http://schemas.microsoft.com/office/drawing/2014/main" val="20006"/>
                    </a:ext>
                  </a:extLst>
                </a:gridCol>
              </a:tblGrid>
              <a:tr h="574330">
                <a:tc>
                  <a:txBody>
                    <a:bodyPr/>
                    <a:lstStyle/>
                    <a:p>
                      <a:pPr algn="l" fontAlgn="b"/>
                      <a:r>
                        <a:rPr lang="en-US" sz="1200" u="none" strike="noStrike" dirty="0">
                          <a:effectLst/>
                          <a:latin typeface="Arial" panose="020B0604020202020204" pitchFamily="34" charset="0"/>
                          <a:cs typeface="Arial" panose="020B0604020202020204" pitchFamily="34" charset="0"/>
                        </a:rPr>
                        <a:t>Key Result Area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Activity</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Target</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Process Indicator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Resources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Timeline</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Lead Agency</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extLst>
                  <a:ext uri="{0D108BD9-81ED-4DB2-BD59-A6C34878D82A}">
                    <a16:rowId xmlns:a16="http://schemas.microsoft.com/office/drawing/2014/main" val="10000"/>
                  </a:ext>
                </a:extLst>
              </a:tr>
              <a:tr h="1926043">
                <a:tc rowSpan="3">
                  <a:txBody>
                    <a:bodyPr/>
                    <a:lstStyle/>
                    <a:p>
                      <a:pPr algn="ctr"/>
                      <a:r>
                        <a:rPr lang="en-US" sz="1200" b="1" dirty="0" smtClean="0">
                          <a:latin typeface="Arial" panose="020B0604020202020204" pitchFamily="34" charset="0"/>
                          <a:cs typeface="Arial" panose="020B0604020202020204" pitchFamily="34" charset="0"/>
                        </a:rPr>
                        <a:t>KRA 3: </a:t>
                      </a:r>
                    </a:p>
                    <a:p>
                      <a:pPr algn="ctr"/>
                      <a:r>
                        <a:rPr lang="en-US" sz="1200" b="1" dirty="0" smtClean="0">
                          <a:latin typeface="Arial" panose="020B0604020202020204" pitchFamily="34" charset="0"/>
                          <a:cs typeface="Arial" panose="020B0604020202020204" pitchFamily="34" charset="0"/>
                        </a:rPr>
                        <a:t>Social</a:t>
                      </a:r>
                      <a:r>
                        <a:rPr lang="en-US" sz="1200" b="1" baseline="0" dirty="0" smtClean="0">
                          <a:latin typeface="Arial" panose="020B0604020202020204" pitchFamily="34" charset="0"/>
                          <a:cs typeface="Arial" panose="020B0604020202020204" pitchFamily="34" charset="0"/>
                        </a:rPr>
                        <a:t> Protection</a:t>
                      </a:r>
                      <a:endParaRPr lang="en-US" sz="1200" b="1" dirty="0" smtClean="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txBody>
                  <a:tcPr marL="6593" marR="6593" marT="6593" marB="0" anchor="ct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Horticulture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Project </a:t>
                      </a:r>
                      <a:r>
                        <a:rPr lang="en-US" sz="1200" kern="100" dirty="0">
                          <a:effectLst/>
                          <a:latin typeface="Arial" panose="020B0604020202020204" pitchFamily="34" charset="0"/>
                          <a:ea typeface="Calibri" panose="020F0502020204030204" pitchFamily="34" charset="0"/>
                          <a:cs typeface="Arial" panose="020B0604020202020204" pitchFamily="34" charset="0"/>
                        </a:rPr>
                        <a:t>for </a:t>
                      </a:r>
                      <a:r>
                        <a:rPr lang="en-US" sz="1200" kern="100" dirty="0" err="1">
                          <a:effectLst/>
                          <a:latin typeface="Arial" panose="020B0604020202020204" pitchFamily="34" charset="0"/>
                          <a:ea typeface="Calibri" panose="020F0502020204030204" pitchFamily="34" charset="0"/>
                          <a:cs typeface="Arial" panose="020B0604020202020204" pitchFamily="34" charset="0"/>
                        </a:rPr>
                        <a:t>Ponesai</a:t>
                      </a:r>
                      <a:r>
                        <a:rPr lang="en-US" sz="1200" kern="100" dirty="0">
                          <a:effectLst/>
                          <a:latin typeface="Arial" panose="020B0604020202020204" pitchFamily="34" charset="0"/>
                          <a:ea typeface="Calibri" panose="020F0502020204030204" pitchFamily="34" charset="0"/>
                          <a:cs typeface="Arial" panose="020B0604020202020204" pitchFamily="34" charset="0"/>
                        </a:rPr>
                        <a:t> </a:t>
                      </a:r>
                      <a:r>
                        <a:rPr lang="en-US" sz="1200" kern="100" dirty="0" err="1">
                          <a:effectLst/>
                          <a:latin typeface="Arial" panose="020B0604020202020204" pitchFamily="34" charset="0"/>
                          <a:ea typeface="Calibri" panose="020F0502020204030204" pitchFamily="34" charset="0"/>
                          <a:cs typeface="Arial" panose="020B0604020202020204" pitchFamily="34" charset="0"/>
                        </a:rPr>
                        <a:t>Vanhu</a:t>
                      </a:r>
                      <a:r>
                        <a:rPr lang="en-US" sz="1200" kern="100" dirty="0">
                          <a:effectLst/>
                          <a:latin typeface="Arial" panose="020B0604020202020204" pitchFamily="34" charset="0"/>
                          <a:ea typeface="Calibri" panose="020F0502020204030204" pitchFamily="34" charset="0"/>
                          <a:cs typeface="Arial" panose="020B0604020202020204" pitchFamily="34" charset="0"/>
                        </a:rPr>
                        <a:t> Children’s Home</a:t>
                      </a:r>
                    </a:p>
                  </a:txBody>
                  <a:tcPr/>
                </a:tc>
                <a:tc>
                  <a:txBody>
                    <a:bodyPr/>
                    <a:lstStyle/>
                    <a:p>
                      <a:r>
                        <a:rPr lang="en-US" sz="1200" dirty="0">
                          <a:latin typeface="Arial" panose="020B0604020202020204" pitchFamily="34" charset="0"/>
                          <a:cs typeface="Arial" panose="020B0604020202020204" pitchFamily="34" charset="0"/>
                        </a:rPr>
                        <a:t>70 </a:t>
                      </a:r>
                      <a:r>
                        <a:rPr lang="en-US" sz="1200" dirty="0" smtClean="0">
                          <a:latin typeface="Arial" panose="020B0604020202020204" pitchFamily="34" charset="0"/>
                          <a:cs typeface="Arial" panose="020B0604020202020204" pitchFamily="34" charset="0"/>
                        </a:rPr>
                        <a:t>People</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people benefiting from income generation and  consumption</a:t>
                      </a:r>
                    </a:p>
                  </a:txBody>
                  <a:tcPr/>
                </a:tc>
                <a:tc>
                  <a:txBody>
                    <a:bodyPr/>
                    <a:lstStyle/>
                    <a:p>
                      <a:r>
                        <a:rPr lang="en-US" sz="1200" dirty="0" smtClean="0">
                          <a:latin typeface="Arial" panose="020B0604020202020204" pitchFamily="34" charset="0"/>
                          <a:cs typeface="Arial" panose="020B0604020202020204" pitchFamily="34" charset="0"/>
                        </a:rPr>
                        <a:t>Seeds</a:t>
                      </a:r>
                      <a:r>
                        <a:rPr lang="en-US" sz="1200" dirty="0">
                          <a:latin typeface="Arial" panose="020B0604020202020204" pitchFamily="34" charset="0"/>
                          <a:cs typeface="Arial" panose="020B0604020202020204" pitchFamily="34" charset="0"/>
                        </a:rPr>
                        <a:t>, herbicides and </a:t>
                      </a:r>
                      <a:r>
                        <a:rPr lang="en-US" sz="1200" dirty="0" smtClean="0">
                          <a:latin typeface="Arial" panose="020B0604020202020204" pitchFamily="34" charset="0"/>
                          <a:cs typeface="Arial" panose="020B0604020202020204" pitchFamily="34" charset="0"/>
                        </a:rPr>
                        <a:t>fertilizers</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Development, VET and </a:t>
                      </a:r>
                      <a:r>
                        <a:rPr lang="en-US" sz="1200" dirty="0" err="1">
                          <a:latin typeface="Arial" panose="020B0604020202020204" pitchFamily="34" charset="0"/>
                          <a:cs typeface="Arial" panose="020B0604020202020204" pitchFamily="34" charset="0"/>
                        </a:rPr>
                        <a:t>Ponesai</a:t>
                      </a:r>
                      <a:r>
                        <a:rPr lang="en-US" sz="1200" dirty="0">
                          <a:latin typeface="Arial" panose="020B0604020202020204" pitchFamily="34" charset="0"/>
                          <a:cs typeface="Arial" panose="020B0604020202020204" pitchFamily="34" charset="0"/>
                        </a:rPr>
                        <a:t> Children’s </a:t>
                      </a:r>
                      <a:r>
                        <a:rPr lang="en-US" sz="1200" dirty="0" smtClean="0">
                          <a:latin typeface="Arial" panose="020B0604020202020204" pitchFamily="34" charset="0"/>
                          <a:cs typeface="Arial" panose="020B0604020202020204" pitchFamily="34" charset="0"/>
                        </a:rPr>
                        <a:t>Home</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926043">
                <a:tc vMerge="1">
                  <a:txBody>
                    <a:bodyPr/>
                    <a:lstStyle/>
                    <a:p>
                      <a:endParaRPr lang="en-US" dirty="0"/>
                    </a:p>
                  </a:txBody>
                  <a:tcPr marL="6593" marR="6593" marT="6593" marB="0" anchor="b"/>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Piggery project for </a:t>
                      </a:r>
                      <a:r>
                        <a:rPr lang="en-US" sz="1200" kern="100" dirty="0" err="1">
                          <a:effectLst/>
                          <a:latin typeface="Arial" panose="020B0604020202020204" pitchFamily="34" charset="0"/>
                          <a:ea typeface="Calibri" panose="020F0502020204030204" pitchFamily="34" charset="0"/>
                          <a:cs typeface="Arial" panose="020B0604020202020204" pitchFamily="34" charset="0"/>
                        </a:rPr>
                        <a:t>Ponesai</a:t>
                      </a:r>
                      <a:r>
                        <a:rPr lang="en-US" sz="1200" kern="100" dirty="0">
                          <a:effectLst/>
                          <a:latin typeface="Arial" panose="020B0604020202020204" pitchFamily="34" charset="0"/>
                          <a:ea typeface="Calibri" panose="020F0502020204030204" pitchFamily="34" charset="0"/>
                          <a:cs typeface="Arial" panose="020B0604020202020204" pitchFamily="34" charset="0"/>
                        </a:rPr>
                        <a:t> Children’s Home</a:t>
                      </a:r>
                    </a:p>
                  </a:txBody>
                  <a:tcPr/>
                </a:tc>
                <a:tc>
                  <a:txBody>
                    <a:bodyPr/>
                    <a:lstStyle/>
                    <a:p>
                      <a:r>
                        <a:rPr lang="en-US" sz="1200" dirty="0">
                          <a:latin typeface="Arial" panose="020B0604020202020204" pitchFamily="34" charset="0"/>
                          <a:cs typeface="Arial" panose="020B0604020202020204" pitchFamily="34" charset="0"/>
                        </a:rPr>
                        <a:t>70 </a:t>
                      </a:r>
                      <a:r>
                        <a:rPr lang="en-US" sz="1200" dirty="0" smtClean="0">
                          <a:latin typeface="Arial" panose="020B0604020202020204" pitchFamily="34" charset="0"/>
                          <a:cs typeface="Arial" panose="020B0604020202020204" pitchFamily="34" charset="0"/>
                        </a:rPr>
                        <a:t>People</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people benefiting from income generation and  consumption</a:t>
                      </a:r>
                    </a:p>
                  </a:txBody>
                  <a:tcPr/>
                </a:tc>
                <a:tc>
                  <a:txBody>
                    <a:bodyPr/>
                    <a:lstStyle/>
                    <a:p>
                      <a:r>
                        <a:rPr lang="en-US" sz="1200" kern="100" dirty="0" smtClean="0">
                          <a:effectLst/>
                          <a:latin typeface="Arial" panose="020B0604020202020204" pitchFamily="34" charset="0"/>
                          <a:ea typeface="Calibri" panose="020F0502020204030204" pitchFamily="34" charset="0"/>
                          <a:cs typeface="Arial" panose="020B0604020202020204" pitchFamily="34" charset="0"/>
                        </a:rPr>
                        <a:t>Pigpen</a:t>
                      </a:r>
                      <a:r>
                        <a:rPr lang="en-US" sz="1200" kern="100" dirty="0">
                          <a:effectLst/>
                          <a:latin typeface="Arial" panose="020B0604020202020204" pitchFamily="34" charset="0"/>
                          <a:ea typeface="Calibri" panose="020F0502020204030204" pitchFamily="34" charset="0"/>
                          <a:cs typeface="Arial" panose="020B0604020202020204" pitchFamily="34" charset="0"/>
                        </a:rPr>
                        <a:t>, Piglets, piglets feed and servicing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sows</a:t>
                      </a:r>
                      <a:endParaRPr lang="en-US" sz="1200" dirty="0">
                        <a:latin typeface="Arial" panose="020B060402020202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Quarterly</a:t>
                      </a:r>
                    </a:p>
                  </a:txBody>
                  <a:tcPr/>
                </a:tc>
                <a:tc>
                  <a:txBody>
                    <a:bodyPr/>
                    <a:lstStyle/>
                    <a:p>
                      <a:r>
                        <a:rPr lang="en-US" sz="1200" dirty="0">
                          <a:latin typeface="Arial" panose="020B0604020202020204" pitchFamily="34" charset="0"/>
                          <a:cs typeface="Arial" panose="020B0604020202020204" pitchFamily="34" charset="0"/>
                        </a:rPr>
                        <a:t>Department of Social Development, VET and </a:t>
                      </a:r>
                      <a:r>
                        <a:rPr lang="en-US" sz="1200" dirty="0" err="1">
                          <a:latin typeface="Arial" panose="020B0604020202020204" pitchFamily="34" charset="0"/>
                          <a:cs typeface="Arial" panose="020B0604020202020204" pitchFamily="34" charset="0"/>
                        </a:rPr>
                        <a:t>Ponesai</a:t>
                      </a:r>
                      <a:r>
                        <a:rPr lang="en-US" sz="1200" dirty="0">
                          <a:latin typeface="Arial" panose="020B0604020202020204" pitchFamily="34" charset="0"/>
                          <a:cs typeface="Arial" panose="020B0604020202020204" pitchFamily="34" charset="0"/>
                        </a:rPr>
                        <a:t> Children’s Home</a:t>
                      </a:r>
                    </a:p>
                  </a:txBody>
                  <a:tcPr/>
                </a:tc>
                <a:extLst>
                  <a:ext uri="{0D108BD9-81ED-4DB2-BD59-A6C34878D82A}">
                    <a16:rowId xmlns:a16="http://schemas.microsoft.com/office/drawing/2014/main" val="10002"/>
                  </a:ext>
                </a:extLst>
              </a:tr>
              <a:tr h="1926043">
                <a:tc vMerge="1">
                  <a:txBody>
                    <a:bodyPr/>
                    <a:lstStyle/>
                    <a:p>
                      <a:endParaRPr lang="en-US" dirty="0"/>
                    </a:p>
                  </a:txBody>
                  <a:tcPr marL="6593" marR="6593" marT="6593" marB="0" anchor="b"/>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Identify</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and establish production units in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Vocational Training </a:t>
                      </a:r>
                      <a:r>
                        <a:rPr lang="en-US" sz="1200" kern="100" baseline="0" dirty="0" err="1" smtClean="0">
                          <a:effectLst/>
                          <a:latin typeface="Arial" panose="020B0604020202020204" pitchFamily="34" charset="0"/>
                          <a:ea typeface="Calibri" panose="020F0502020204030204" pitchFamily="34" charset="0"/>
                          <a:cs typeface="Arial" panose="020B0604020202020204" pitchFamily="34" charset="0"/>
                        </a:rPr>
                        <a:t>Centres</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4</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Production </a:t>
                      </a:r>
                      <a:r>
                        <a:rPr lang="en-US" sz="1200" baseline="0" dirty="0" smtClean="0">
                          <a:latin typeface="Arial" panose="020B0604020202020204" pitchFamily="34" charset="0"/>
                          <a:cs typeface="Arial" panose="020B0604020202020204" pitchFamily="34" charset="0"/>
                        </a:rPr>
                        <a:t>units</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Number of production</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units and direct beneficiaries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Transport, fencing, Livestock, seeds for agriculture</a:t>
                      </a:r>
                    </a:p>
                  </a:txBody>
                  <a:tcPr/>
                </a:tc>
                <a:tc>
                  <a:txBody>
                    <a:bodyPr/>
                    <a:lstStyle/>
                    <a:p>
                      <a:r>
                        <a:rPr lang="en-US" sz="1200" dirty="0" smtClean="0">
                          <a:latin typeface="Arial" panose="020B0604020202020204" pitchFamily="34" charset="0"/>
                          <a:cs typeface="Arial" panose="020B0604020202020204" pitchFamily="34" charset="0"/>
                        </a:rPr>
                        <a:t>On going</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MYEDVT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ZYC</a:t>
                      </a:r>
                      <a:endPar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DSD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ARDAS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43467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67548973"/>
              </p:ext>
            </p:extLst>
          </p:nvPr>
        </p:nvGraphicFramePr>
        <p:xfrm>
          <a:off x="0" y="231819"/>
          <a:ext cx="12191998" cy="6161856"/>
        </p:xfrm>
        <a:graphic>
          <a:graphicData uri="http://schemas.openxmlformats.org/drawingml/2006/table">
            <a:tbl>
              <a:tblPr firstRow="1" bandRow="1">
                <a:tableStyleId>{5C22544A-7EE6-4342-B048-85BDC9FD1C3A}</a:tableStyleId>
              </a:tblPr>
              <a:tblGrid>
                <a:gridCol w="1741714">
                  <a:extLst>
                    <a:ext uri="{9D8B030D-6E8A-4147-A177-3AD203B41FA5}">
                      <a16:colId xmlns:a16="http://schemas.microsoft.com/office/drawing/2014/main" val="20000"/>
                    </a:ext>
                  </a:extLst>
                </a:gridCol>
                <a:gridCol w="1861768">
                  <a:extLst>
                    <a:ext uri="{9D8B030D-6E8A-4147-A177-3AD203B41FA5}">
                      <a16:colId xmlns:a16="http://schemas.microsoft.com/office/drawing/2014/main" val="20001"/>
                    </a:ext>
                  </a:extLst>
                </a:gridCol>
                <a:gridCol w="1753163">
                  <a:extLst>
                    <a:ext uri="{9D8B030D-6E8A-4147-A177-3AD203B41FA5}">
                      <a16:colId xmlns:a16="http://schemas.microsoft.com/office/drawing/2014/main" val="20002"/>
                    </a:ext>
                  </a:extLst>
                </a:gridCol>
                <a:gridCol w="1610211">
                  <a:extLst>
                    <a:ext uri="{9D8B030D-6E8A-4147-A177-3AD203B41FA5}">
                      <a16:colId xmlns:a16="http://schemas.microsoft.com/office/drawing/2014/main" val="20003"/>
                    </a:ext>
                  </a:extLst>
                </a:gridCol>
                <a:gridCol w="1741714">
                  <a:extLst>
                    <a:ext uri="{9D8B030D-6E8A-4147-A177-3AD203B41FA5}">
                      <a16:colId xmlns:a16="http://schemas.microsoft.com/office/drawing/2014/main" val="20004"/>
                    </a:ext>
                  </a:extLst>
                </a:gridCol>
                <a:gridCol w="1741714">
                  <a:extLst>
                    <a:ext uri="{9D8B030D-6E8A-4147-A177-3AD203B41FA5}">
                      <a16:colId xmlns:a16="http://schemas.microsoft.com/office/drawing/2014/main" val="20005"/>
                    </a:ext>
                  </a:extLst>
                </a:gridCol>
                <a:gridCol w="1741714">
                  <a:extLst>
                    <a:ext uri="{9D8B030D-6E8A-4147-A177-3AD203B41FA5}">
                      <a16:colId xmlns:a16="http://schemas.microsoft.com/office/drawing/2014/main" val="20006"/>
                    </a:ext>
                  </a:extLst>
                </a:gridCol>
              </a:tblGrid>
              <a:tr h="337141">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Key</a:t>
                      </a:r>
                      <a:r>
                        <a:rPr lang="en-US" sz="1200" b="1" kern="100" baseline="0" dirty="0">
                          <a:effectLst/>
                          <a:latin typeface="Arial" panose="020B0604020202020204" pitchFamily="34" charset="0"/>
                          <a:ea typeface="Calibri" panose="020F0502020204030204" pitchFamily="34" charset="0"/>
                          <a:cs typeface="Arial" panose="020B0604020202020204" pitchFamily="34" charset="0"/>
                        </a:rPr>
                        <a:t> Result Area</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Activity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Target</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Process Indicator</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Resources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Timeline</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Lead Agency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extLst>
                  <a:ext uri="{0D108BD9-81ED-4DB2-BD59-A6C34878D82A}">
                    <a16:rowId xmlns:a16="http://schemas.microsoft.com/office/drawing/2014/main" val="10000"/>
                  </a:ext>
                </a:extLst>
              </a:tr>
              <a:tr h="1046855">
                <a:tc rowSpan="4">
                  <a:txBody>
                    <a:bodyPr/>
                    <a:lstStyle/>
                    <a:p>
                      <a:pPr algn="ctr"/>
                      <a:r>
                        <a:rPr lang="en-US" sz="1200" b="1" dirty="0" smtClean="0">
                          <a:latin typeface="Arial" panose="020B0604020202020204" pitchFamily="34" charset="0"/>
                          <a:cs typeface="Arial" panose="020B0604020202020204" pitchFamily="34" charset="0"/>
                        </a:rPr>
                        <a:t>KRA</a:t>
                      </a:r>
                      <a:r>
                        <a:rPr lang="en-US" sz="1200" b="1" baseline="0" dirty="0" smtClean="0">
                          <a:latin typeface="Arial" panose="020B0604020202020204" pitchFamily="34" charset="0"/>
                          <a:cs typeface="Arial" panose="020B0604020202020204" pitchFamily="34" charset="0"/>
                        </a:rPr>
                        <a:t> 4: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Food Safety, Quality and Standards</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algn="ctr"/>
                      <a:endParaRPr lang="en-US" sz="1200" b="1" dirty="0">
                        <a:latin typeface="Arial" panose="020B0604020202020204" pitchFamily="34" charset="0"/>
                        <a:cs typeface="Arial" panose="020B0604020202020204" pitchFamily="34" charset="0"/>
                      </a:endParaRPr>
                    </a:p>
                  </a:txBody>
                  <a:tcPr anchor="ctr"/>
                </a:tc>
                <a:tc>
                  <a:txBody>
                    <a:bodyPr/>
                    <a:lstStyle/>
                    <a:p>
                      <a:pPr marL="0" marR="0" algn="just">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Capacitation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of Health </a:t>
                      </a:r>
                      <a:r>
                        <a:rPr lang="en-US" sz="1200" kern="100" dirty="0">
                          <a:effectLst/>
                          <a:latin typeface="Arial" panose="020B0604020202020204" pitchFamily="34" charset="0"/>
                          <a:ea typeface="Calibri" panose="020F0502020204030204" pitchFamily="34" charset="0"/>
                          <a:cs typeface="Arial" panose="020B0604020202020204" pitchFamily="34" charset="0"/>
                        </a:rPr>
                        <a:t>S</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taff </a:t>
                      </a:r>
                      <a:r>
                        <a:rPr lang="en-US" sz="1200" kern="100" dirty="0">
                          <a:effectLst/>
                          <a:latin typeface="Arial" panose="020B0604020202020204" pitchFamily="34" charset="0"/>
                          <a:ea typeface="Calibri" panose="020F0502020204030204" pitchFamily="34" charset="0"/>
                          <a:cs typeface="Arial" panose="020B0604020202020204" pitchFamily="34" charset="0"/>
                        </a:rPr>
                        <a:t>on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Food Inspection</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 </a:t>
                      </a:r>
                    </a:p>
                  </a:txBody>
                  <a:tcPr/>
                </a:tc>
                <a:tc>
                  <a:txBody>
                    <a:bodyPr/>
                    <a:lstStyle/>
                    <a:p>
                      <a:pPr marL="0" indent="0">
                        <a:buFont typeface="Arial" panose="020B0604020202020204" pitchFamily="34" charset="0"/>
                        <a:buNone/>
                      </a:pPr>
                      <a:r>
                        <a:rPr lang="en-US" sz="1200" dirty="0">
                          <a:latin typeface="Arial" panose="020B0604020202020204" pitchFamily="34" charset="0"/>
                          <a:cs typeface="Arial" panose="020B0604020202020204" pitchFamily="34" charset="0"/>
                        </a:rPr>
                        <a:t>All public health officers in the province</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 coverage of health staff capacitated by district.  </a:t>
                      </a:r>
                    </a:p>
                  </a:txBody>
                  <a:tcPr/>
                </a:tc>
                <a:tc>
                  <a:txBody>
                    <a:bodyPr/>
                    <a:lstStyle/>
                    <a:p>
                      <a:r>
                        <a:rPr lang="en-US" sz="1200" dirty="0">
                          <a:latin typeface="Arial" panose="020B0604020202020204" pitchFamily="34" charset="0"/>
                          <a:cs typeface="Arial" panose="020B0604020202020204" pitchFamily="34" charset="0"/>
                        </a:rPr>
                        <a:t>Food and </a:t>
                      </a:r>
                      <a:r>
                        <a:rPr lang="en-US" sz="1200" dirty="0" smtClean="0">
                          <a:latin typeface="Arial" panose="020B0604020202020204" pitchFamily="34" charset="0"/>
                          <a:cs typeface="Arial" panose="020B0604020202020204" pitchFamily="34" charset="0"/>
                        </a:rPr>
                        <a:t>DSA </a:t>
                      </a:r>
                      <a:r>
                        <a:rPr lang="en-US" sz="1200" dirty="0">
                          <a:latin typeface="Arial" panose="020B0604020202020204" pitchFamily="34" charset="0"/>
                          <a:cs typeface="Arial" panose="020B0604020202020204" pitchFamily="34" charset="0"/>
                        </a:rPr>
                        <a:t>for the cluster meetings</a:t>
                      </a:r>
                    </a:p>
                  </a:txBody>
                  <a:tcPr/>
                </a:tc>
                <a:tc>
                  <a:txBody>
                    <a:bodyPr/>
                    <a:lstStyle/>
                    <a:p>
                      <a:r>
                        <a:rPr lang="en-US" sz="1200" dirty="0" smtClean="0">
                          <a:latin typeface="Arial" panose="020B0604020202020204" pitchFamily="34" charset="0"/>
                          <a:cs typeface="Arial" panose="020B0604020202020204" pitchFamily="34" charset="0"/>
                        </a:rPr>
                        <a:t>31 </a:t>
                      </a:r>
                      <a:r>
                        <a:rPr lang="en-US" sz="1200" dirty="0" smtClean="0">
                          <a:latin typeface="Arial" panose="020B0604020202020204" pitchFamily="34" charset="0"/>
                          <a:cs typeface="Arial" panose="020B0604020202020204" pitchFamily="34" charset="0"/>
                        </a:rPr>
                        <a:t>Dec </a:t>
                      </a:r>
                      <a:r>
                        <a:rPr lang="en-US" sz="1200" dirty="0" smtClean="0">
                          <a:latin typeface="Arial" panose="020B0604020202020204" pitchFamily="34" charset="0"/>
                          <a:cs typeface="Arial" panose="020B0604020202020204" pitchFamily="34" charset="0"/>
                        </a:rPr>
                        <a:t>2025</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MoHCC</a:t>
                      </a:r>
                      <a:r>
                        <a:rPr lang="en-US" sz="1200" baseline="0" dirty="0" smtClean="0">
                          <a:latin typeface="Arial" panose="020B0604020202020204" pitchFamily="34" charset="0"/>
                          <a:cs typeface="Arial" panose="020B0604020202020204" pitchFamily="34" charset="0"/>
                        </a:rPr>
                        <a:t> - E</a:t>
                      </a:r>
                      <a:r>
                        <a:rPr lang="en-US" sz="1200" dirty="0" smtClean="0">
                          <a:latin typeface="Arial" panose="020B0604020202020204" pitchFamily="34" charset="0"/>
                          <a:cs typeface="Arial" panose="020B0604020202020204" pitchFamily="34" charset="0"/>
                        </a:rPr>
                        <a:t>nvironmental Health</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960666">
                <a:tc vMerge="1">
                  <a:txBody>
                    <a:bodyPr/>
                    <a:lstStyle/>
                    <a:p>
                      <a:pPr algn="ctr"/>
                      <a:endParaRPr lang="en-US" sz="1100" b="1" dirty="0"/>
                    </a:p>
                  </a:txBody>
                  <a:tcPr anchor="ctr"/>
                </a:tc>
                <a:tc>
                  <a:txBody>
                    <a:bodyPr/>
                    <a:lstStyle/>
                    <a:p>
                      <a:pPr marL="0" marR="0" algn="just">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Engagement of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Sector, </a:t>
                      </a:r>
                      <a:r>
                        <a:rPr lang="en-US" sz="1200" kern="100" dirty="0">
                          <a:effectLst/>
                          <a:latin typeface="Arial" panose="020B0604020202020204" pitchFamily="34" charset="0"/>
                          <a:ea typeface="Calibri" panose="020F0502020204030204" pitchFamily="34" charset="0"/>
                          <a:cs typeface="Arial" panose="020B0604020202020204" pitchFamily="34" charset="0"/>
                        </a:rPr>
                        <a:t>M</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inistries </a:t>
                      </a:r>
                      <a:r>
                        <a:rPr lang="en-US" sz="1200" kern="100" dirty="0">
                          <a:effectLst/>
                          <a:latin typeface="Arial" panose="020B0604020202020204" pitchFamily="34" charset="0"/>
                          <a:ea typeface="Calibri" panose="020F0502020204030204" pitchFamily="34" charset="0"/>
                          <a:cs typeface="Arial" panose="020B0604020202020204" pitchFamily="34" charset="0"/>
                        </a:rPr>
                        <a:t>on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Food Safety </a:t>
                      </a:r>
                      <a:r>
                        <a:rPr lang="en-US" sz="1200" kern="100" dirty="0">
                          <a:effectLst/>
                          <a:latin typeface="Arial" panose="020B0604020202020204" pitchFamily="34" charset="0"/>
                          <a:ea typeface="Calibri" panose="020F0502020204030204" pitchFamily="34" charset="0"/>
                          <a:cs typeface="Arial" panose="020B0604020202020204" pitchFamily="34" charset="0"/>
                        </a:rPr>
                        <a:t>for a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Health Nation</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Law enforcement agents, policy markers, AREX, Vert. officers, and Public health officers (Collaboration or integration) </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Ministries </a:t>
                      </a:r>
                      <a:r>
                        <a:rPr lang="en-US" sz="1200" kern="100" dirty="0">
                          <a:effectLst/>
                          <a:latin typeface="Arial" panose="020B0604020202020204" pitchFamily="34" charset="0"/>
                          <a:ea typeface="Calibri" panose="020F0502020204030204" pitchFamily="34" charset="0"/>
                          <a:cs typeface="Arial" panose="020B0604020202020204" pitchFamily="34" charset="0"/>
                        </a:rPr>
                        <a:t>reached.</a:t>
                      </a: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 </a:t>
                      </a:r>
                    </a:p>
                  </a:txBody>
                  <a:tcPr/>
                </a:tc>
                <a:tc>
                  <a:txBody>
                    <a:bodyPr/>
                    <a:lstStyle/>
                    <a:p>
                      <a:r>
                        <a:rPr lang="en-US" sz="1200" dirty="0">
                          <a:latin typeface="Arial" panose="020B0604020202020204" pitchFamily="34" charset="0"/>
                          <a:cs typeface="Arial" panose="020B0604020202020204" pitchFamily="34" charset="0"/>
                        </a:rPr>
                        <a:t>Refreshments</a:t>
                      </a:r>
                    </a:p>
                  </a:txBody>
                  <a:tcPr/>
                </a:tc>
                <a:tc>
                  <a:txBody>
                    <a:bodyPr/>
                    <a:lstStyle/>
                    <a:p>
                      <a:r>
                        <a:rPr lang="en-US" sz="1200" dirty="0" smtClean="0">
                          <a:latin typeface="Arial" panose="020B0604020202020204" pitchFamily="34" charset="0"/>
                          <a:cs typeface="Arial" panose="020B0604020202020204" pitchFamily="34" charset="0"/>
                        </a:rPr>
                        <a:t>31</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Mar </a:t>
                      </a:r>
                      <a:r>
                        <a:rPr lang="en-US" sz="1200" dirty="0" smtClean="0">
                          <a:latin typeface="Arial" panose="020B0604020202020204" pitchFamily="34" charset="0"/>
                          <a:cs typeface="Arial" panose="020B0604020202020204" pitchFamily="34" charset="0"/>
                        </a:rPr>
                        <a:t>2025</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MoHCC</a:t>
                      </a:r>
                      <a:r>
                        <a:rPr lang="en-US" sz="1200" baseline="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Environmental</a:t>
                      </a:r>
                      <a:r>
                        <a:rPr lang="en-US" sz="1200" baseline="0" dirty="0" smtClean="0">
                          <a:latin typeface="Arial" panose="020B0604020202020204" pitchFamily="34" charset="0"/>
                          <a:cs typeface="Arial" panose="020B0604020202020204" pitchFamily="34" charset="0"/>
                        </a:rPr>
                        <a:t> Health, </a:t>
                      </a:r>
                      <a:r>
                        <a:rPr lang="en-US" sz="1200" baseline="0" dirty="0" smtClean="0">
                          <a:latin typeface="Arial" panose="020B0604020202020204" pitchFamily="34" charset="0"/>
                          <a:cs typeface="Arial" panose="020B0604020202020204" pitchFamily="34" charset="0"/>
                        </a:rPr>
                        <a:t>ZRP</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1408597">
                <a:tc vMerge="1">
                  <a:txBody>
                    <a:bodyPr/>
                    <a:lstStyle/>
                    <a:p>
                      <a:pPr algn="ctr"/>
                      <a:endParaRPr lang="en-US" sz="1100" b="1" dirty="0"/>
                    </a:p>
                  </a:txBody>
                  <a:tcPr anchor="ctr"/>
                </a:tc>
                <a:tc>
                  <a:txBody>
                    <a:bodyPr/>
                    <a:lstStyle/>
                    <a:p>
                      <a:pPr marL="0" marR="0" algn="just">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Coordinate the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Training </a:t>
                      </a:r>
                      <a:r>
                        <a:rPr lang="en-US" sz="1200" kern="100" dirty="0">
                          <a:effectLst/>
                          <a:latin typeface="Arial" panose="020B0604020202020204" pitchFamily="34" charset="0"/>
                          <a:ea typeface="Calibri" panose="020F0502020204030204" pitchFamily="34" charset="0"/>
                          <a:cs typeface="Arial" panose="020B0604020202020204" pitchFamily="34" charset="0"/>
                        </a:rPr>
                        <a:t>of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Food </a:t>
                      </a:r>
                      <a:r>
                        <a:rPr lang="en-US" sz="1200" kern="100" dirty="0">
                          <a:effectLst/>
                          <a:latin typeface="Arial" panose="020B0604020202020204" pitchFamily="34" charset="0"/>
                          <a:ea typeface="Calibri" panose="020F0502020204030204" pitchFamily="34" charset="0"/>
                          <a:cs typeface="Arial" panose="020B0604020202020204" pitchFamily="34" charset="0"/>
                        </a:rPr>
                        <a:t>H</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andlers </a:t>
                      </a:r>
                      <a:r>
                        <a:rPr lang="en-US" sz="1200" kern="100" dirty="0">
                          <a:effectLst/>
                          <a:latin typeface="Arial" panose="020B0604020202020204" pitchFamily="34" charset="0"/>
                          <a:ea typeface="Calibri" panose="020F0502020204030204" pitchFamily="34" charset="0"/>
                          <a:cs typeface="Arial" panose="020B0604020202020204" pitchFamily="34" charset="0"/>
                        </a:rPr>
                        <a:t>in all the 8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Districts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8 districts</a:t>
                      </a:r>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Number </a:t>
                      </a:r>
                      <a:r>
                        <a:rPr lang="en-US" sz="1200" kern="100" dirty="0">
                          <a:effectLst/>
                          <a:latin typeface="Arial" panose="020B0604020202020204" pitchFamily="34" charset="0"/>
                          <a:ea typeface="Calibri" panose="020F0502020204030204" pitchFamily="34" charset="0"/>
                          <a:cs typeface="Arial" panose="020B0604020202020204" pitchFamily="34" charset="0"/>
                        </a:rPr>
                        <a:t>of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Districts</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with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food </a:t>
                      </a:r>
                      <a:r>
                        <a:rPr lang="en-US" sz="1200" kern="100" dirty="0">
                          <a:effectLst/>
                          <a:latin typeface="Arial" panose="020B0604020202020204" pitchFamily="34" charset="0"/>
                          <a:ea typeface="Calibri" panose="020F0502020204030204" pitchFamily="34" charset="0"/>
                          <a:cs typeface="Arial" panose="020B0604020202020204" pitchFamily="34" charset="0"/>
                        </a:rPr>
                        <a:t>handlers trained with approved certificates</a:t>
                      </a:r>
                    </a:p>
                  </a:txBody>
                  <a:tcPr/>
                </a:tc>
                <a:tc>
                  <a:txBody>
                    <a:bodyPr/>
                    <a:lstStyle/>
                    <a:p>
                      <a:r>
                        <a:rPr lang="en-US" sz="1200" dirty="0">
                          <a:latin typeface="Arial" panose="020B0604020202020204" pitchFamily="34" charset="0"/>
                          <a:cs typeface="Arial" panose="020B0604020202020204" pitchFamily="34" charset="0"/>
                        </a:rPr>
                        <a:t>Stationery, </a:t>
                      </a:r>
                      <a:r>
                        <a:rPr lang="en-US" sz="1200" dirty="0" smtClean="0">
                          <a:latin typeface="Arial" panose="020B0604020202020204" pitchFamily="34" charset="0"/>
                          <a:cs typeface="Arial" panose="020B0604020202020204" pitchFamily="34" charset="0"/>
                        </a:rPr>
                        <a:t>DSA </a:t>
                      </a:r>
                      <a:r>
                        <a:rPr lang="en-US" sz="1200" dirty="0">
                          <a:latin typeface="Arial" panose="020B0604020202020204" pitchFamily="34" charset="0"/>
                          <a:cs typeface="Arial" panose="020B0604020202020204" pitchFamily="34" charset="0"/>
                        </a:rPr>
                        <a:t>and teaching aids</a:t>
                      </a:r>
                    </a:p>
                  </a:txBody>
                  <a:tcPr/>
                </a:tc>
                <a:tc>
                  <a:txBody>
                    <a:bodyPr/>
                    <a:lstStyle/>
                    <a:p>
                      <a:r>
                        <a:rPr lang="en-US" sz="1200" dirty="0" smtClean="0">
                          <a:latin typeface="Arial" panose="020B0604020202020204" pitchFamily="34" charset="0"/>
                          <a:cs typeface="Arial" panose="020B0604020202020204" pitchFamily="34" charset="0"/>
                        </a:rPr>
                        <a:t>31 </a:t>
                      </a:r>
                      <a:r>
                        <a:rPr lang="en-US" sz="1200" dirty="0" smtClean="0">
                          <a:latin typeface="Arial" panose="020B0604020202020204" pitchFamily="34" charset="0"/>
                          <a:cs typeface="Arial" panose="020B0604020202020204" pitchFamily="34" charset="0"/>
                        </a:rPr>
                        <a:t>Dec</a:t>
                      </a:r>
                      <a:r>
                        <a:rPr lang="en-US" sz="1200" baseline="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2025</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MoHCC - Environmental</a:t>
                      </a:r>
                      <a:r>
                        <a:rPr lang="en-US" sz="1200" baseline="0" dirty="0" smtClean="0">
                          <a:latin typeface="Arial" panose="020B0604020202020204" pitchFamily="34" charset="0"/>
                          <a:cs typeface="Arial" panose="020B0604020202020204" pitchFamily="34" charset="0"/>
                        </a:rPr>
                        <a:t> Health</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1408597">
                <a:tc vMerge="1">
                  <a:txBody>
                    <a:bodyPr/>
                    <a:lstStyle/>
                    <a:p>
                      <a:pPr algn="ctr"/>
                      <a:endParaRPr lang="en-US" sz="1100" b="1" dirty="0"/>
                    </a:p>
                  </a:txBody>
                  <a:tcPr anchor="ct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Facilitate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Food </a:t>
                      </a:r>
                      <a:r>
                        <a:rPr lang="en-US" sz="1200" kern="100" dirty="0">
                          <a:effectLst/>
                          <a:latin typeface="Arial" panose="020B0604020202020204" pitchFamily="34" charset="0"/>
                          <a:ea typeface="Calibri" panose="020F0502020204030204" pitchFamily="34" charset="0"/>
                          <a:cs typeface="Arial" panose="020B0604020202020204" pitchFamily="34" charset="0"/>
                        </a:rPr>
                        <a:t>I</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nspection </a:t>
                      </a:r>
                      <a:r>
                        <a:rPr lang="en-US" sz="1200" kern="100" dirty="0">
                          <a:effectLst/>
                          <a:latin typeface="Arial" panose="020B0604020202020204" pitchFamily="34" charset="0"/>
                          <a:ea typeface="Calibri" panose="020F0502020204030204" pitchFamily="34" charset="0"/>
                          <a:cs typeface="Arial" panose="020B0604020202020204" pitchFamily="34" charset="0"/>
                        </a:rPr>
                        <a:t>on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Trading </a:t>
                      </a:r>
                      <a:r>
                        <a:rPr lang="en-US" sz="1200" kern="100" dirty="0">
                          <a:effectLst/>
                          <a:latin typeface="Arial" panose="020B0604020202020204" pitchFamily="34" charset="0"/>
                          <a:ea typeface="Calibri" panose="020F0502020204030204" pitchFamily="34" charset="0"/>
                          <a:cs typeface="Arial" panose="020B0604020202020204" pitchFamily="34" charset="0"/>
                        </a:rPr>
                        <a:t>and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Non Trading Premises </a:t>
                      </a:r>
                      <a:r>
                        <a:rPr lang="en-US" sz="1200" kern="100" dirty="0">
                          <a:effectLst/>
                          <a:latin typeface="Arial" panose="020B0604020202020204" pitchFamily="34" charset="0"/>
                          <a:ea typeface="Calibri" panose="020F0502020204030204" pitchFamily="34" charset="0"/>
                          <a:cs typeface="Arial" panose="020B0604020202020204" pitchFamily="34" charset="0"/>
                        </a:rPr>
                        <a:t>to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Control </a:t>
                      </a:r>
                      <a:r>
                        <a:rPr lang="en-US" sz="1200" kern="100" dirty="0">
                          <a:effectLst/>
                          <a:latin typeface="Arial" panose="020B0604020202020204" pitchFamily="34" charset="0"/>
                          <a:ea typeface="Calibri" panose="020F0502020204030204" pitchFamily="34" charset="0"/>
                          <a:cs typeface="Arial" panose="020B0604020202020204" pitchFamily="34" charset="0"/>
                        </a:rPr>
                        <a:t>F</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ood </a:t>
                      </a:r>
                      <a:r>
                        <a:rPr lang="en-US" sz="1200" kern="100" dirty="0">
                          <a:effectLst/>
                          <a:latin typeface="Arial" panose="020B0604020202020204" pitchFamily="34" charset="0"/>
                          <a:ea typeface="Calibri" panose="020F0502020204030204" pitchFamily="34" charset="0"/>
                          <a:cs typeface="Arial" panose="020B0604020202020204" pitchFamily="34" charset="0"/>
                        </a:rPr>
                        <a:t>C</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ontamination </a:t>
                      </a:r>
                      <a:r>
                        <a:rPr lang="en-US" sz="1200" kern="100" dirty="0">
                          <a:effectLst/>
                          <a:latin typeface="Arial" panose="020B0604020202020204" pitchFamily="34" charset="0"/>
                          <a:ea typeface="Calibri" panose="020F0502020204030204" pitchFamily="34" charset="0"/>
                          <a:cs typeface="Arial" panose="020B0604020202020204" pitchFamily="34" charset="0"/>
                        </a:rPr>
                        <a:t>and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Poisoning</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a:latin typeface="Arial" panose="020B0604020202020204" pitchFamily="34" charset="0"/>
                          <a:cs typeface="Arial" panose="020B0604020202020204" pitchFamily="34" charset="0"/>
                        </a:rPr>
                        <a:t>All food processing and </a:t>
                      </a:r>
                      <a:r>
                        <a:rPr lang="en-US" sz="1200" dirty="0" smtClean="0">
                          <a:latin typeface="Arial" panose="020B0604020202020204" pitchFamily="34" charset="0"/>
                          <a:cs typeface="Arial" panose="020B0604020202020204" pitchFamily="34" charset="0"/>
                        </a:rPr>
                        <a:t>food </a:t>
                      </a:r>
                      <a:r>
                        <a:rPr lang="en-US" sz="1200" dirty="0">
                          <a:latin typeface="Arial" panose="020B0604020202020204" pitchFamily="34" charset="0"/>
                          <a:cs typeface="Arial" panose="020B0604020202020204" pitchFamily="34" charset="0"/>
                        </a:rPr>
                        <a:t>outlets for public consumption</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food outlets inspected</a:t>
                      </a:r>
                    </a:p>
                  </a:txBody>
                  <a:tcPr/>
                </a:tc>
                <a:tc>
                  <a:txBody>
                    <a:bodyPr/>
                    <a:lstStyle/>
                    <a:p>
                      <a:r>
                        <a:rPr lang="en-US" sz="1200" dirty="0">
                          <a:latin typeface="Arial" panose="020B0604020202020204" pitchFamily="34" charset="0"/>
                          <a:cs typeface="Arial" panose="020B0604020202020204" pitchFamily="34" charset="0"/>
                        </a:rPr>
                        <a:t>Stationery</a:t>
                      </a:r>
                    </a:p>
                  </a:txBody>
                  <a:tcPr/>
                </a:tc>
                <a:tc>
                  <a:txBody>
                    <a:bodyPr/>
                    <a:lstStyle/>
                    <a:p>
                      <a:r>
                        <a:rPr lang="en-US" sz="1200" dirty="0">
                          <a:latin typeface="Arial" panose="020B0604020202020204" pitchFamily="34" charset="0"/>
                          <a:cs typeface="Arial" panose="020B0604020202020204" pitchFamily="34" charset="0"/>
                        </a:rPr>
                        <a:t>Quarterly food mop </a:t>
                      </a:r>
                      <a:r>
                        <a:rPr lang="en-US" sz="1200" dirty="0" smtClean="0">
                          <a:latin typeface="Arial" panose="020B0604020202020204" pitchFamily="34" charset="0"/>
                          <a:cs typeface="Arial" panose="020B0604020202020204" pitchFamily="34" charset="0"/>
                        </a:rPr>
                        <a:t>up</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MoHCC - Environmental</a:t>
                      </a:r>
                      <a:r>
                        <a:rPr lang="en-US" sz="1200" baseline="0" dirty="0" smtClean="0">
                          <a:latin typeface="Arial" panose="020B0604020202020204" pitchFamily="34" charset="0"/>
                          <a:cs typeface="Arial" panose="020B0604020202020204" pitchFamily="34" charset="0"/>
                        </a:rPr>
                        <a:t> Health</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288975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004179950"/>
              </p:ext>
            </p:extLst>
          </p:nvPr>
        </p:nvGraphicFramePr>
        <p:xfrm>
          <a:off x="193183" y="267283"/>
          <a:ext cx="11809928" cy="6590719"/>
        </p:xfrm>
        <a:graphic>
          <a:graphicData uri="http://schemas.openxmlformats.org/drawingml/2006/table">
            <a:tbl>
              <a:tblPr firstRow="1" bandRow="1">
                <a:tableStyleId>{5C22544A-7EE6-4342-B048-85BDC9FD1C3A}</a:tableStyleId>
              </a:tblPr>
              <a:tblGrid>
                <a:gridCol w="1129095">
                  <a:extLst>
                    <a:ext uri="{9D8B030D-6E8A-4147-A177-3AD203B41FA5}">
                      <a16:colId xmlns:a16="http://schemas.microsoft.com/office/drawing/2014/main" val="20000"/>
                    </a:ext>
                  </a:extLst>
                </a:gridCol>
                <a:gridCol w="1954519">
                  <a:extLst>
                    <a:ext uri="{9D8B030D-6E8A-4147-A177-3AD203B41FA5}">
                      <a16:colId xmlns:a16="http://schemas.microsoft.com/office/drawing/2014/main" val="20001"/>
                    </a:ext>
                  </a:extLst>
                </a:gridCol>
                <a:gridCol w="1258843">
                  <a:extLst>
                    <a:ext uri="{9D8B030D-6E8A-4147-A177-3AD203B41FA5}">
                      <a16:colId xmlns:a16="http://schemas.microsoft.com/office/drawing/2014/main" val="20002"/>
                    </a:ext>
                  </a:extLst>
                </a:gridCol>
                <a:gridCol w="3055983">
                  <a:extLst>
                    <a:ext uri="{9D8B030D-6E8A-4147-A177-3AD203B41FA5}">
                      <a16:colId xmlns:a16="http://schemas.microsoft.com/office/drawing/2014/main" val="20003"/>
                    </a:ext>
                  </a:extLst>
                </a:gridCol>
                <a:gridCol w="1470496">
                  <a:extLst>
                    <a:ext uri="{9D8B030D-6E8A-4147-A177-3AD203B41FA5}">
                      <a16:colId xmlns:a16="http://schemas.microsoft.com/office/drawing/2014/main" val="20004"/>
                    </a:ext>
                  </a:extLst>
                </a:gridCol>
                <a:gridCol w="1595721">
                  <a:extLst>
                    <a:ext uri="{9D8B030D-6E8A-4147-A177-3AD203B41FA5}">
                      <a16:colId xmlns:a16="http://schemas.microsoft.com/office/drawing/2014/main" val="20005"/>
                    </a:ext>
                  </a:extLst>
                </a:gridCol>
                <a:gridCol w="1345271">
                  <a:extLst>
                    <a:ext uri="{9D8B030D-6E8A-4147-A177-3AD203B41FA5}">
                      <a16:colId xmlns:a16="http://schemas.microsoft.com/office/drawing/2014/main" val="20006"/>
                    </a:ext>
                  </a:extLst>
                </a:gridCol>
              </a:tblGrid>
              <a:tr h="409684">
                <a:tc>
                  <a:txBody>
                    <a:bodyPr/>
                    <a:lstStyle/>
                    <a:p>
                      <a:pPr algn="l" fontAlgn="b"/>
                      <a:r>
                        <a:rPr lang="en-US" sz="1200" u="none" strike="noStrike" dirty="0">
                          <a:effectLst/>
                          <a:latin typeface="Arial" panose="020B0604020202020204" pitchFamily="34" charset="0"/>
                          <a:cs typeface="Arial" panose="020B0604020202020204" pitchFamily="34" charset="0"/>
                        </a:rPr>
                        <a:t>Key Result </a:t>
                      </a:r>
                      <a:r>
                        <a:rPr lang="en-US" sz="1200" u="none" strike="noStrike" dirty="0" smtClean="0">
                          <a:effectLst/>
                          <a:latin typeface="Arial" panose="020B0604020202020204" pitchFamily="34" charset="0"/>
                          <a:cs typeface="Arial" panose="020B0604020202020204" pitchFamily="34" charset="0"/>
                        </a:rPr>
                        <a:t>Area`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Activity</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Target</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Process Indicator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Resources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Timeline</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Lead Agency</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extLst>
                  <a:ext uri="{0D108BD9-81ED-4DB2-BD59-A6C34878D82A}">
                    <a16:rowId xmlns:a16="http://schemas.microsoft.com/office/drawing/2014/main" val="10000"/>
                  </a:ext>
                </a:extLst>
              </a:tr>
              <a:tr h="1469713">
                <a:tc rowSpan="4">
                  <a:txBody>
                    <a:bodyPr/>
                    <a:lstStyle/>
                    <a:p>
                      <a:pPr algn="ctr"/>
                      <a:r>
                        <a:rPr lang="en-US" sz="1200" b="1" dirty="0" smtClean="0">
                          <a:latin typeface="Arial" panose="020B0604020202020204" pitchFamily="34" charset="0"/>
                          <a:cs typeface="Arial" panose="020B0604020202020204" pitchFamily="34" charset="0"/>
                        </a:rPr>
                        <a:t>KRA</a:t>
                      </a:r>
                      <a:r>
                        <a:rPr lang="en-US" sz="1200" b="1" baseline="0" dirty="0" smtClean="0">
                          <a:latin typeface="Arial" panose="020B0604020202020204" pitchFamily="34" charset="0"/>
                          <a:cs typeface="Arial" panose="020B0604020202020204" pitchFamily="34" charset="0"/>
                        </a:rPr>
                        <a:t> 4: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Food Safety, Quality and Standards</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txBody>
                  <a:tcPr marL="6593" marR="6593" marT="6593" marB="0" anchor="ct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Investigation of </a:t>
                      </a:r>
                      <a:r>
                        <a:rPr lang="en-US" sz="1200" kern="100" dirty="0" err="1">
                          <a:effectLst/>
                          <a:latin typeface="Arial" panose="020B0604020202020204" pitchFamily="34" charset="0"/>
                          <a:ea typeface="Calibri" panose="020F0502020204030204" pitchFamily="34" charset="0"/>
                          <a:cs typeface="Arial" panose="020B0604020202020204" pitchFamily="34" charset="0"/>
                        </a:rPr>
                        <a:t>R</a:t>
                      </a:r>
                      <a:r>
                        <a:rPr lang="en-US" sz="1200" kern="100" dirty="0" err="1" smtClean="0">
                          <a:effectLst/>
                          <a:latin typeface="Arial" panose="020B0604020202020204" pitchFamily="34" charset="0"/>
                          <a:ea typeface="Calibri" panose="020F0502020204030204" pitchFamily="34" charset="0"/>
                          <a:cs typeface="Arial" panose="020B0604020202020204" pitchFamily="34" charset="0"/>
                        </a:rPr>
                        <a:t>umours</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dirty="0">
                          <a:effectLst/>
                          <a:latin typeface="Arial" panose="020B0604020202020204" pitchFamily="34" charset="0"/>
                          <a:ea typeface="Calibri" panose="020F0502020204030204" pitchFamily="34" charset="0"/>
                          <a:cs typeface="Arial" panose="020B0604020202020204" pitchFamily="34" charset="0"/>
                        </a:rPr>
                        <a:t>and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Any Food </a:t>
                      </a:r>
                      <a:r>
                        <a:rPr lang="en-US" sz="1200" kern="100" dirty="0">
                          <a:effectLst/>
                          <a:latin typeface="Arial" panose="020B0604020202020204" pitchFamily="34" charset="0"/>
                          <a:ea typeface="Calibri" panose="020F0502020204030204" pitchFamily="34" charset="0"/>
                          <a:cs typeface="Arial" panose="020B0604020202020204" pitchFamily="34" charset="0"/>
                        </a:rPr>
                        <a:t>P</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oisoning Report</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100%</a:t>
                      </a:r>
                      <a:r>
                        <a:rPr lang="en-US" sz="1200" baseline="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reports </a:t>
                      </a:r>
                      <a:r>
                        <a:rPr lang="en-US" sz="1200" dirty="0">
                          <a:latin typeface="Arial" panose="020B0604020202020204" pitchFamily="34" charset="0"/>
                          <a:cs typeface="Arial" panose="020B0604020202020204" pitchFamily="34" charset="0"/>
                        </a:rPr>
                        <a:t>of food poisoning to be investigated</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 of reported cases of poisoning adequately investigated with written reports</a:t>
                      </a:r>
                    </a:p>
                  </a:txBody>
                  <a:tcPr/>
                </a:tc>
                <a:tc>
                  <a:txBody>
                    <a:bodyPr/>
                    <a:lstStyle/>
                    <a:p>
                      <a:r>
                        <a:rPr lang="en-US" sz="1200" dirty="0">
                          <a:latin typeface="Arial" panose="020B0604020202020204" pitchFamily="34" charset="0"/>
                          <a:cs typeface="Arial" panose="020B0604020202020204" pitchFamily="34" charset="0"/>
                        </a:rPr>
                        <a:t>Fuel and </a:t>
                      </a:r>
                      <a:r>
                        <a:rPr lang="en-US" sz="1200" dirty="0" smtClean="0">
                          <a:latin typeface="Arial" panose="020B0604020202020204" pitchFamily="34" charset="0"/>
                          <a:cs typeface="Arial" panose="020B0604020202020204" pitchFamily="34" charset="0"/>
                        </a:rPr>
                        <a:t>DSA </a:t>
                      </a:r>
                      <a:r>
                        <a:rPr lang="en-US" sz="1200" dirty="0">
                          <a:latin typeface="Arial" panose="020B0604020202020204" pitchFamily="34" charset="0"/>
                          <a:cs typeface="Arial" panose="020B0604020202020204" pitchFamily="34" charset="0"/>
                        </a:rPr>
                        <a:t>for staff</a:t>
                      </a:r>
                    </a:p>
                  </a:txBody>
                  <a:tcPr/>
                </a:tc>
                <a:tc>
                  <a:txBody>
                    <a:bodyPr/>
                    <a:lstStyle/>
                    <a:p>
                      <a:r>
                        <a:rPr lang="en-US" sz="1200" dirty="0" smtClean="0">
                          <a:latin typeface="Arial" panose="020B0604020202020204" pitchFamily="34" charset="0"/>
                          <a:cs typeface="Arial" panose="020B0604020202020204" pitchFamily="34" charset="0"/>
                        </a:rPr>
                        <a:t>31 </a:t>
                      </a:r>
                      <a:r>
                        <a:rPr lang="en-US" sz="1200" dirty="0" smtClean="0">
                          <a:latin typeface="Arial" panose="020B0604020202020204" pitchFamily="34" charset="0"/>
                          <a:cs typeface="Arial" panose="020B0604020202020204" pitchFamily="34" charset="0"/>
                        </a:rPr>
                        <a:t>Dec </a:t>
                      </a:r>
                      <a:r>
                        <a:rPr lang="en-US" sz="1200" dirty="0" smtClean="0">
                          <a:latin typeface="Arial" panose="020B0604020202020204" pitchFamily="34" charset="0"/>
                          <a:cs typeface="Arial" panose="020B0604020202020204" pitchFamily="34" charset="0"/>
                        </a:rPr>
                        <a:t>2025</a:t>
                      </a:r>
                      <a:endParaRPr lang="en-US" sz="1200" dirty="0">
                        <a:latin typeface="Arial" panose="020B0604020202020204" pitchFamily="34" charset="0"/>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latin typeface="Arial" panose="020B0604020202020204" pitchFamily="34" charset="0"/>
                          <a:cs typeface="Arial" panose="020B0604020202020204" pitchFamily="34" charset="0"/>
                        </a:rPr>
                        <a:t>MoHCC – Environmental Health</a:t>
                      </a:r>
                      <a:endParaRPr lang="en-US" sz="1200" dirty="0" smtClean="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308933">
                <a:tc vMerge="1">
                  <a:txBody>
                    <a:bodyPr/>
                    <a:lstStyle/>
                    <a:p>
                      <a:endParaRPr lang="en-US"/>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Prosecution of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Offenders </a:t>
                      </a:r>
                      <a:r>
                        <a:rPr lang="en-US" sz="1200" kern="100" dirty="0">
                          <a:effectLst/>
                          <a:latin typeface="Arial" panose="020B0604020202020204" pitchFamily="34" charset="0"/>
                          <a:ea typeface="Calibri" panose="020F0502020204030204" pitchFamily="34" charset="0"/>
                          <a:cs typeface="Arial" panose="020B0604020202020204" pitchFamily="34" charset="0"/>
                        </a:rPr>
                        <a:t>and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Destroying </a:t>
                      </a:r>
                      <a:r>
                        <a:rPr lang="en-US" sz="1200" kern="100" dirty="0">
                          <a:effectLst/>
                          <a:latin typeface="Arial" panose="020B0604020202020204" pitchFamily="34" charset="0"/>
                          <a:ea typeface="Calibri" panose="020F0502020204030204" pitchFamily="34" charset="0"/>
                          <a:cs typeface="Arial" panose="020B0604020202020204" pitchFamily="34" charset="0"/>
                        </a:rPr>
                        <a:t>U</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nwholesome </a:t>
                      </a:r>
                      <a:r>
                        <a:rPr lang="en-US" sz="1200" kern="100" dirty="0">
                          <a:effectLst/>
                          <a:latin typeface="Arial" panose="020B0604020202020204" pitchFamily="34" charset="0"/>
                          <a:ea typeface="Calibri" panose="020F0502020204030204" pitchFamily="34" charset="0"/>
                          <a:cs typeface="Arial" panose="020B0604020202020204" pitchFamily="34" charset="0"/>
                        </a:rPr>
                        <a:t>F</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ood </a:t>
                      </a:r>
                      <a:r>
                        <a:rPr lang="en-US" sz="1200" kern="100" dirty="0">
                          <a:effectLst/>
                          <a:latin typeface="Arial" panose="020B0604020202020204" pitchFamily="34" charset="0"/>
                          <a:ea typeface="Calibri" panose="020F0502020204030204" pitchFamily="34" charset="0"/>
                          <a:cs typeface="Arial" panose="020B0604020202020204" pitchFamily="34" charset="0"/>
                        </a:rPr>
                        <a:t>S</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tuffs</a:t>
                      </a:r>
                      <a:r>
                        <a:rPr lang="en-US" sz="1200" kern="100" dirty="0">
                          <a:effectLst/>
                          <a:latin typeface="Arial" panose="020B0604020202020204" pitchFamily="34" charset="0"/>
                          <a:ea typeface="Calibri" panose="020F0502020204030204" pitchFamily="34" charset="0"/>
                          <a:cs typeface="Arial" panose="020B0604020202020204" pitchFamily="34" charset="0"/>
                        </a:rPr>
                        <a:t>.</a:t>
                      </a:r>
                    </a:p>
                  </a:txBody>
                  <a:tcPr/>
                </a:tc>
                <a:tc>
                  <a:txBody>
                    <a:bodyPr/>
                    <a:lstStyle/>
                    <a:p>
                      <a:r>
                        <a:rPr lang="en-US" sz="1200" dirty="0" smtClean="0">
                          <a:latin typeface="Arial" panose="020B0604020202020204" pitchFamily="34" charset="0"/>
                          <a:cs typeface="Arial" panose="020B0604020202020204" pitchFamily="34" charset="0"/>
                        </a:rPr>
                        <a:t>100%</a:t>
                      </a:r>
                      <a:r>
                        <a:rPr lang="en-US" sz="1200" baseline="0" dirty="0" smtClean="0">
                          <a:latin typeface="Arial" panose="020B0604020202020204" pitchFamily="34" charset="0"/>
                          <a:cs typeface="Arial" panose="020B0604020202020204" pitchFamily="34" charset="0"/>
                        </a:rPr>
                        <a:t> of all prosecutions with</a:t>
                      </a:r>
                      <a:r>
                        <a:rPr lang="en-US" sz="1200" dirty="0" smtClean="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written reports</a:t>
                      </a: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Proportion of reports with prosecution reports made.</a:t>
                      </a: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 </a:t>
                      </a:r>
                    </a:p>
                  </a:txBody>
                  <a:tcPr/>
                </a:tc>
                <a:tc>
                  <a:txBody>
                    <a:bodyPr/>
                    <a:lstStyle/>
                    <a:p>
                      <a:r>
                        <a:rPr lang="en-US" sz="1200" dirty="0">
                          <a:latin typeface="Arial" panose="020B0604020202020204" pitchFamily="34" charset="0"/>
                          <a:cs typeface="Arial" panose="020B0604020202020204" pitchFamily="34" charset="0"/>
                        </a:rPr>
                        <a:t>Prosecution </a:t>
                      </a:r>
                      <a:r>
                        <a:rPr lang="en-US" sz="1200" dirty="0" smtClean="0">
                          <a:latin typeface="Arial" panose="020B0604020202020204" pitchFamily="34" charset="0"/>
                          <a:cs typeface="Arial" panose="020B0604020202020204" pitchFamily="34" charset="0"/>
                        </a:rPr>
                        <a:t>Forms </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31 </a:t>
                      </a:r>
                      <a:r>
                        <a:rPr lang="en-US" sz="1200" dirty="0" smtClean="0">
                          <a:latin typeface="Arial" panose="020B0604020202020204" pitchFamily="34" charset="0"/>
                          <a:cs typeface="Arial" panose="020B0604020202020204" pitchFamily="34" charset="0"/>
                        </a:rPr>
                        <a:t>Mar </a:t>
                      </a:r>
                      <a:r>
                        <a:rPr lang="en-US" sz="1200" dirty="0" smtClean="0">
                          <a:latin typeface="Arial" panose="020B0604020202020204" pitchFamily="34" charset="0"/>
                          <a:cs typeface="Arial" panose="020B0604020202020204" pitchFamily="34" charset="0"/>
                        </a:rPr>
                        <a:t>2025</a:t>
                      </a:r>
                      <a:endParaRPr lang="en-US" sz="1200" dirty="0">
                        <a:latin typeface="Arial" panose="020B0604020202020204" pitchFamily="34" charset="0"/>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latin typeface="Arial" panose="020B0604020202020204" pitchFamily="34" charset="0"/>
                          <a:cs typeface="Arial" panose="020B0604020202020204" pitchFamily="34" charset="0"/>
                        </a:rPr>
                        <a:t>MoHCC – Environmental Health, ZRP</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1898379">
                <a:tc vMerge="1">
                  <a:txBody>
                    <a:bodyPr/>
                    <a:lstStyle/>
                    <a:p>
                      <a:endParaRPr lang="en-US" dirty="0"/>
                    </a:p>
                  </a:txBody>
                  <a:tcPr marL="6593" marR="6593" marT="6593" marB="0" anchor="b"/>
                </a:tc>
                <a:tc>
                  <a:txBody>
                    <a:bodyPr/>
                    <a:lstStyle/>
                    <a:p>
                      <a:pPr marL="0" marR="0" indent="0" algn="l" defTabSz="914400" rtl="0" eaLnBrk="1" fontAlgn="auto" latinLnBrk="0" hangingPunct="1">
                        <a:lnSpc>
                          <a:spcPct val="107000"/>
                        </a:lnSpc>
                        <a:spcBef>
                          <a:spcPts val="0"/>
                        </a:spcBef>
                        <a:spcAft>
                          <a:spcPts val="800"/>
                        </a:spcAft>
                        <a:buClrTx/>
                        <a:buSzTx/>
                        <a:buFontTx/>
                        <a:buNone/>
                        <a:tabLst/>
                        <a:defRPr/>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Introduce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Food Security Screening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at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Borders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to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Prevent Food Related Risks</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Ensure Compliance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with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Regulations</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a:t>
                      </a:r>
                    </a:p>
                    <a:p>
                      <a:pPr marL="0" marR="0" algn="l">
                        <a:lnSpc>
                          <a:spcPct val="107000"/>
                        </a:lnSpc>
                        <a:spcBef>
                          <a:spcPts val="0"/>
                        </a:spcBef>
                        <a:spcAft>
                          <a:spcPts val="800"/>
                        </a:spcAft>
                      </a:pP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2  border posts</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baseline="0" dirty="0" err="1" smtClean="0">
                          <a:effectLst/>
                          <a:latin typeface="Arial" panose="020B0604020202020204" pitchFamily="34" charset="0"/>
                          <a:ea typeface="Calibri" panose="020F0502020204030204" pitchFamily="34" charset="0"/>
                          <a:cs typeface="Arial" panose="020B0604020202020204" pitchFamily="34" charset="0"/>
                        </a:rPr>
                        <a:t>Kanyemba</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and </a:t>
                      </a:r>
                      <a:r>
                        <a:rPr lang="en-US" sz="1200" kern="100" baseline="0" dirty="0" err="1" smtClean="0">
                          <a:effectLst/>
                          <a:latin typeface="Arial" panose="020B0604020202020204" pitchFamily="34" charset="0"/>
                          <a:ea typeface="Calibri" panose="020F0502020204030204" pitchFamily="34" charset="0"/>
                          <a:cs typeface="Arial" panose="020B0604020202020204" pitchFamily="34" charset="0"/>
                        </a:rPr>
                        <a:t>Mukumbura</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Number of border posts with food security screening</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Prosecution and </a:t>
                      </a:r>
                      <a:r>
                        <a:rPr lang="en-US" sz="1200" dirty="0" smtClean="0">
                          <a:latin typeface="Arial" panose="020B0604020202020204" pitchFamily="34" charset="0"/>
                          <a:cs typeface="Arial" panose="020B0604020202020204" pitchFamily="34" charset="0"/>
                        </a:rPr>
                        <a:t>Detention Forms</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30 June 2025</a:t>
                      </a:r>
                      <a:endParaRPr lang="en-US" sz="1200" dirty="0">
                        <a:latin typeface="Arial" panose="020B0604020202020204" pitchFamily="34" charset="0"/>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latin typeface="Arial" panose="020B0604020202020204" pitchFamily="34" charset="0"/>
                          <a:cs typeface="Arial" panose="020B0604020202020204" pitchFamily="34" charset="0"/>
                        </a:rPr>
                        <a:t>MoHCC – Environmental Health, ZIMRA</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r h="1504010">
                <a:tc vMerge="1">
                  <a:txBody>
                    <a:bodyPr/>
                    <a:lstStyle/>
                    <a:p>
                      <a:endParaRPr lang="en-US" dirty="0"/>
                    </a:p>
                  </a:txBody>
                  <a:tcPr marL="6593" marR="6593" marT="6593" marB="0" anchor="b"/>
                </a:tc>
                <a:tc>
                  <a:txBody>
                    <a:bodyPr/>
                    <a:lstStyle/>
                    <a:p>
                      <a:pPr marL="0" marR="0" algn="l">
                        <a:lnSpc>
                          <a:spcPct val="107000"/>
                        </a:lnSpc>
                        <a:spcBef>
                          <a:spcPts val="0"/>
                        </a:spcBef>
                        <a:spcAft>
                          <a:spcPts val="800"/>
                        </a:spcAft>
                      </a:pPr>
                      <a:r>
                        <a:rPr lang="en-US" sz="1200" b="0" kern="100" dirty="0">
                          <a:effectLst/>
                          <a:latin typeface="Arial" panose="020B0604020202020204" pitchFamily="34" charset="0"/>
                          <a:ea typeface="Calibri" panose="020F0502020204030204" pitchFamily="34" charset="0"/>
                          <a:cs typeface="Arial" panose="020B0604020202020204" pitchFamily="34" charset="0"/>
                        </a:rPr>
                        <a:t>Train </a:t>
                      </a:r>
                      <a:r>
                        <a:rPr lang="en-US" sz="1200" b="0" kern="100" dirty="0" smtClean="0">
                          <a:effectLst/>
                          <a:latin typeface="Arial" panose="020B0604020202020204" pitchFamily="34" charset="0"/>
                          <a:ea typeface="Calibri" panose="020F0502020204030204" pitchFamily="34" charset="0"/>
                          <a:cs typeface="Arial" panose="020B0604020202020204" pitchFamily="34" charset="0"/>
                        </a:rPr>
                        <a:t>Households </a:t>
                      </a:r>
                      <a:r>
                        <a:rPr lang="en-US" sz="1200" b="0" kern="100" dirty="0">
                          <a:effectLst/>
                          <a:latin typeface="Arial" panose="020B0604020202020204" pitchFamily="34" charset="0"/>
                          <a:ea typeface="Calibri" panose="020F0502020204030204" pitchFamily="34" charset="0"/>
                          <a:cs typeface="Arial" panose="020B0604020202020204" pitchFamily="34" charset="0"/>
                        </a:rPr>
                        <a:t>to </a:t>
                      </a:r>
                      <a:r>
                        <a:rPr lang="en-US" sz="1200" b="0" kern="100" dirty="0" smtClean="0">
                          <a:effectLst/>
                          <a:latin typeface="Arial" panose="020B0604020202020204" pitchFamily="34" charset="0"/>
                          <a:ea typeface="Calibri" panose="020F0502020204030204" pitchFamily="34" charset="0"/>
                          <a:cs typeface="Arial" panose="020B0604020202020204" pitchFamily="34" charset="0"/>
                        </a:rPr>
                        <a:t>Build </a:t>
                      </a:r>
                      <a:r>
                        <a:rPr lang="en-US" sz="1200" b="0" kern="100" dirty="0">
                          <a:effectLst/>
                          <a:latin typeface="Arial" panose="020B0604020202020204" pitchFamily="34" charset="0"/>
                          <a:ea typeface="Calibri" panose="020F0502020204030204" pitchFamily="34" charset="0"/>
                          <a:cs typeface="Arial" panose="020B0604020202020204" pitchFamily="34" charset="0"/>
                        </a:rPr>
                        <a:t>T</a:t>
                      </a:r>
                      <a:r>
                        <a:rPr lang="en-US" sz="1200" b="0" kern="100" dirty="0" smtClean="0">
                          <a:effectLst/>
                          <a:latin typeface="Arial" panose="020B0604020202020204" pitchFamily="34" charset="0"/>
                          <a:ea typeface="Calibri" panose="020F0502020204030204" pitchFamily="34" charset="0"/>
                          <a:cs typeface="Arial" panose="020B0604020202020204" pitchFamily="34" charset="0"/>
                        </a:rPr>
                        <a:t>ippy </a:t>
                      </a:r>
                      <a:r>
                        <a:rPr lang="en-US" sz="1200" b="0" kern="100" dirty="0">
                          <a:effectLst/>
                          <a:latin typeface="Arial" panose="020B0604020202020204" pitchFamily="34" charset="0"/>
                          <a:ea typeface="Calibri" panose="020F0502020204030204" pitchFamily="34" charset="0"/>
                          <a:cs typeface="Arial" panose="020B0604020202020204" pitchFamily="34" charset="0"/>
                        </a:rPr>
                        <a:t>T</a:t>
                      </a:r>
                      <a:r>
                        <a:rPr lang="en-US" sz="1200" b="0" kern="100" dirty="0" smtClean="0">
                          <a:effectLst/>
                          <a:latin typeface="Arial" panose="020B0604020202020204" pitchFamily="34" charset="0"/>
                          <a:ea typeface="Calibri" panose="020F0502020204030204" pitchFamily="34" charset="0"/>
                          <a:cs typeface="Arial" panose="020B0604020202020204" pitchFamily="34" charset="0"/>
                        </a:rPr>
                        <a:t>aps </a:t>
                      </a:r>
                      <a:r>
                        <a:rPr lang="en-US" sz="1200" b="0" kern="100" dirty="0">
                          <a:effectLst/>
                          <a:latin typeface="Arial" panose="020B0604020202020204" pitchFamily="34" charset="0"/>
                          <a:ea typeface="Calibri" panose="020F0502020204030204" pitchFamily="34" charset="0"/>
                          <a:cs typeface="Arial" panose="020B0604020202020204" pitchFamily="34" charset="0"/>
                        </a:rPr>
                        <a:t>(hand washing facilities)</a:t>
                      </a:r>
                    </a:p>
                  </a:txBody>
                  <a:tcPr/>
                </a:tc>
                <a:tc>
                  <a:txBody>
                    <a:bodyPr/>
                    <a:lstStyle/>
                    <a:p>
                      <a:r>
                        <a:rPr lang="en-US" sz="1200" b="0" dirty="0" smtClean="0">
                          <a:latin typeface="Arial" panose="020B0604020202020204" pitchFamily="34" charset="0"/>
                          <a:cs typeface="Arial" panose="020B0604020202020204" pitchFamily="34" charset="0"/>
                        </a:rPr>
                        <a:t>5000 households</a:t>
                      </a:r>
                      <a:endParaRPr lang="en-US" sz="1200" b="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0" kern="100" dirty="0">
                          <a:effectLst/>
                          <a:latin typeface="Arial" panose="020B0604020202020204" pitchFamily="34" charset="0"/>
                          <a:ea typeface="Calibri" panose="020F0502020204030204" pitchFamily="34" charset="0"/>
                          <a:cs typeface="Arial" panose="020B0604020202020204" pitchFamily="34" charset="0"/>
                        </a:rPr>
                        <a:t>Proportion of households</a:t>
                      </a:r>
                    </a:p>
                    <a:p>
                      <a:pPr marL="0" marR="0" algn="l">
                        <a:lnSpc>
                          <a:spcPct val="107000"/>
                        </a:lnSpc>
                        <a:spcBef>
                          <a:spcPts val="0"/>
                        </a:spcBef>
                        <a:spcAft>
                          <a:spcPts val="800"/>
                        </a:spcAft>
                      </a:pPr>
                      <a:r>
                        <a:rPr lang="en-US" sz="1200" b="0" kern="100" dirty="0">
                          <a:effectLst/>
                          <a:latin typeface="Arial" panose="020B0604020202020204" pitchFamily="34" charset="0"/>
                          <a:ea typeface="Calibri" panose="020F0502020204030204" pitchFamily="34" charset="0"/>
                          <a:cs typeface="Arial" panose="020B0604020202020204" pitchFamily="34" charset="0"/>
                        </a:rPr>
                        <a:t>with hygiene enabling</a:t>
                      </a:r>
                    </a:p>
                    <a:p>
                      <a:pPr marL="0" marR="0" algn="l">
                        <a:lnSpc>
                          <a:spcPct val="107000"/>
                        </a:lnSpc>
                        <a:spcBef>
                          <a:spcPts val="0"/>
                        </a:spcBef>
                        <a:spcAft>
                          <a:spcPts val="800"/>
                        </a:spcAft>
                      </a:pPr>
                      <a:r>
                        <a:rPr lang="en-US" sz="1200" b="0" kern="100" dirty="0">
                          <a:effectLst/>
                          <a:latin typeface="Arial" panose="020B0604020202020204" pitchFamily="34" charset="0"/>
                          <a:ea typeface="Calibri" panose="020F0502020204030204" pitchFamily="34" charset="0"/>
                          <a:cs typeface="Arial" panose="020B0604020202020204" pitchFamily="34" charset="0"/>
                        </a:rPr>
                        <a:t>facilities</a:t>
                      </a:r>
                    </a:p>
                  </a:txBody>
                  <a:tcPr/>
                </a:tc>
                <a:tc>
                  <a:txBody>
                    <a:bodyPr/>
                    <a:lstStyle/>
                    <a:p>
                      <a:r>
                        <a:rPr lang="en-US" sz="1200" b="0" dirty="0" err="1" smtClean="0">
                          <a:latin typeface="Arial" panose="020B0604020202020204" pitchFamily="34" charset="0"/>
                          <a:cs typeface="Arial" panose="020B0604020202020204" pitchFamily="34" charset="0"/>
                        </a:rPr>
                        <a:t>Chigubhu</a:t>
                      </a:r>
                      <a:r>
                        <a:rPr lang="en-US" sz="1200" b="0" dirty="0" smtClean="0">
                          <a:latin typeface="Arial" panose="020B0604020202020204" pitchFamily="34" charset="0"/>
                          <a:cs typeface="Arial" panose="020B0604020202020204" pitchFamily="34" charset="0"/>
                        </a:rPr>
                        <a:t> </a:t>
                      </a:r>
                      <a:r>
                        <a:rPr lang="en-US" sz="1200" b="0" dirty="0" smtClean="0">
                          <a:latin typeface="Arial" panose="020B0604020202020204" pitchFamily="34" charset="0"/>
                          <a:cs typeface="Arial" panose="020B0604020202020204" pitchFamily="34" charset="0"/>
                        </a:rPr>
                        <a:t>Gear</a:t>
                      </a:r>
                      <a:endParaRPr lang="en-US" sz="1200" b="0" dirty="0" smtClean="0">
                        <a:latin typeface="Arial" panose="020B0604020202020204" pitchFamily="34" charset="0"/>
                        <a:cs typeface="Arial" panose="020B0604020202020204" pitchFamily="34" charset="0"/>
                      </a:endParaRPr>
                    </a:p>
                    <a:p>
                      <a:r>
                        <a:rPr lang="en-US" sz="1200" b="0" dirty="0" smtClean="0">
                          <a:latin typeface="Arial" panose="020B0604020202020204" pitchFamily="34" charset="0"/>
                          <a:cs typeface="Arial" panose="020B0604020202020204" pitchFamily="34" charset="0"/>
                        </a:rPr>
                        <a:t>Cement, </a:t>
                      </a:r>
                      <a:r>
                        <a:rPr lang="en-US" sz="1200" b="0" dirty="0" smtClean="0">
                          <a:latin typeface="Arial" panose="020B0604020202020204" pitchFamily="34" charset="0"/>
                          <a:cs typeface="Arial" panose="020B0604020202020204" pitchFamily="34" charset="0"/>
                        </a:rPr>
                        <a:t>Builders</a:t>
                      </a:r>
                      <a:endParaRPr lang="en-US" sz="1200" b="0" dirty="0">
                        <a:latin typeface="Arial" panose="020B0604020202020204" pitchFamily="34" charset="0"/>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dirty="0" smtClean="0">
                          <a:solidFill>
                            <a:schemeClr val="dk1"/>
                          </a:solidFill>
                          <a:latin typeface="Arial" panose="020B0604020202020204" pitchFamily="34" charset="0"/>
                          <a:ea typeface="+mn-ea"/>
                          <a:cs typeface="Arial" panose="020B0604020202020204" pitchFamily="34" charset="0"/>
                        </a:rPr>
                        <a:t>1 Jan - 31 </a:t>
                      </a:r>
                      <a:r>
                        <a:rPr lang="en-US" sz="1200" b="0" kern="1200" baseline="0" dirty="0" smtClean="0">
                          <a:solidFill>
                            <a:schemeClr val="dk1"/>
                          </a:solidFill>
                          <a:latin typeface="Arial" panose="020B0604020202020204" pitchFamily="34" charset="0"/>
                          <a:ea typeface="+mn-ea"/>
                          <a:cs typeface="Arial" panose="020B0604020202020204" pitchFamily="34" charset="0"/>
                        </a:rPr>
                        <a:t>Dec 2025 </a:t>
                      </a:r>
                      <a:endParaRPr lang="en-US" sz="1200" b="0" kern="1200" dirty="0" smtClean="0">
                        <a:solidFill>
                          <a:schemeClr val="dk1"/>
                        </a:solidFill>
                        <a:latin typeface="Arial" panose="020B0604020202020204" pitchFamily="34" charset="0"/>
                        <a:ea typeface="+mn-ea"/>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latin typeface="Arial" panose="020B0604020202020204" pitchFamily="34" charset="0"/>
                          <a:cs typeface="Arial" panose="020B0604020202020204" pitchFamily="34" charset="0"/>
                        </a:rPr>
                        <a:t>MoHCC – Environmental Health, </a:t>
                      </a:r>
                      <a:r>
                        <a:rPr lang="en-US" sz="1200" b="0" baseline="0" dirty="0" smtClean="0">
                          <a:latin typeface="Arial" panose="020B0604020202020204" pitchFamily="34" charset="0"/>
                          <a:cs typeface="Arial" panose="020B0604020202020204" pitchFamily="34" charset="0"/>
                        </a:rPr>
                        <a:t>RIDA</a:t>
                      </a:r>
                      <a:r>
                        <a:rPr lang="en-US" sz="1200" b="0" baseline="0" dirty="0" smtClean="0">
                          <a:latin typeface="Arial" panose="020B0604020202020204" pitchFamily="34" charset="0"/>
                          <a:cs typeface="Arial" panose="020B0604020202020204" pitchFamily="34" charset="0"/>
                        </a:rPr>
                        <a:t>, Women Affairs</a:t>
                      </a:r>
                      <a:endParaRPr lang="en-US" sz="1200" b="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30200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976562300"/>
              </p:ext>
            </p:extLst>
          </p:nvPr>
        </p:nvGraphicFramePr>
        <p:xfrm>
          <a:off x="-1" y="-194310"/>
          <a:ext cx="12191998" cy="7052310"/>
        </p:xfrm>
        <a:graphic>
          <a:graphicData uri="http://schemas.openxmlformats.org/drawingml/2006/table">
            <a:tbl>
              <a:tblPr firstRow="1" bandRow="1">
                <a:tableStyleId>{5C22544A-7EE6-4342-B048-85BDC9FD1C3A}</a:tableStyleId>
              </a:tblPr>
              <a:tblGrid>
                <a:gridCol w="1741714">
                  <a:extLst>
                    <a:ext uri="{9D8B030D-6E8A-4147-A177-3AD203B41FA5}">
                      <a16:colId xmlns:a16="http://schemas.microsoft.com/office/drawing/2014/main" val="2670346407"/>
                    </a:ext>
                  </a:extLst>
                </a:gridCol>
                <a:gridCol w="1741714">
                  <a:extLst>
                    <a:ext uri="{9D8B030D-6E8A-4147-A177-3AD203B41FA5}">
                      <a16:colId xmlns:a16="http://schemas.microsoft.com/office/drawing/2014/main" val="1596582535"/>
                    </a:ext>
                  </a:extLst>
                </a:gridCol>
                <a:gridCol w="1741714">
                  <a:extLst>
                    <a:ext uri="{9D8B030D-6E8A-4147-A177-3AD203B41FA5}">
                      <a16:colId xmlns:a16="http://schemas.microsoft.com/office/drawing/2014/main" val="876091955"/>
                    </a:ext>
                  </a:extLst>
                </a:gridCol>
                <a:gridCol w="1741714">
                  <a:extLst>
                    <a:ext uri="{9D8B030D-6E8A-4147-A177-3AD203B41FA5}">
                      <a16:colId xmlns:a16="http://schemas.microsoft.com/office/drawing/2014/main" val="1609790451"/>
                    </a:ext>
                  </a:extLst>
                </a:gridCol>
                <a:gridCol w="1741714">
                  <a:extLst>
                    <a:ext uri="{9D8B030D-6E8A-4147-A177-3AD203B41FA5}">
                      <a16:colId xmlns:a16="http://schemas.microsoft.com/office/drawing/2014/main" val="3265929029"/>
                    </a:ext>
                  </a:extLst>
                </a:gridCol>
                <a:gridCol w="1741714">
                  <a:extLst>
                    <a:ext uri="{9D8B030D-6E8A-4147-A177-3AD203B41FA5}">
                      <a16:colId xmlns:a16="http://schemas.microsoft.com/office/drawing/2014/main" val="1937709157"/>
                    </a:ext>
                  </a:extLst>
                </a:gridCol>
                <a:gridCol w="1741714">
                  <a:extLst>
                    <a:ext uri="{9D8B030D-6E8A-4147-A177-3AD203B41FA5}">
                      <a16:colId xmlns:a16="http://schemas.microsoft.com/office/drawing/2014/main" val="80740070"/>
                    </a:ext>
                  </a:extLst>
                </a:gridCol>
              </a:tblGrid>
              <a:tr h="396374">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Key</a:t>
                      </a:r>
                      <a:r>
                        <a:rPr lang="en-US" sz="1200" b="1" kern="100" baseline="0" dirty="0">
                          <a:effectLst/>
                          <a:latin typeface="Arial" panose="020B0604020202020204" pitchFamily="34" charset="0"/>
                          <a:ea typeface="Calibri" panose="020F0502020204030204" pitchFamily="34" charset="0"/>
                          <a:cs typeface="Arial" panose="020B0604020202020204" pitchFamily="34" charset="0"/>
                        </a:rPr>
                        <a:t> Result Area</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Activity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Target</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Process Indicator</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Resources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Timeline</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Lead Agency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extLst>
                  <a:ext uri="{0D108BD9-81ED-4DB2-BD59-A6C34878D82A}">
                    <a16:rowId xmlns:a16="http://schemas.microsoft.com/office/drawing/2014/main" val="3060167577"/>
                  </a:ext>
                </a:extLst>
              </a:tr>
              <a:tr h="2072131">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dirty="0" smtClean="0">
                          <a:latin typeface="Arial" panose="020B0604020202020204" pitchFamily="34" charset="0"/>
                          <a:cs typeface="Arial" panose="020B0604020202020204" pitchFamily="34" charset="0"/>
                        </a:rPr>
                        <a:t>KRA 5:</a:t>
                      </a:r>
                      <a:r>
                        <a:rPr lang="en-US" sz="1200" b="1" baseline="0" dirty="0" smtClean="0">
                          <a:latin typeface="Arial" panose="020B0604020202020204" pitchFamily="34" charset="0"/>
                          <a:cs typeface="Arial" panose="020B0604020202020204" pitchFamily="34" charset="0"/>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Nutrition Security</a:t>
                      </a:r>
                    </a:p>
                    <a:p>
                      <a:pPr algn="ctr"/>
                      <a:endParaRPr lang="en-US" sz="1200" b="1" dirty="0">
                        <a:latin typeface="Arial" panose="020B0604020202020204" pitchFamily="34" charset="0"/>
                        <a:cs typeface="Arial" panose="020B0604020202020204" pitchFamily="34" charset="0"/>
                      </a:endParaRPr>
                    </a:p>
                  </a:txBody>
                  <a:tcPr anchor="ct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Capacitate</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Health Workers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on Integrated Management of Acute Malnutrition(IMAM)</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Train 15 nurses</a:t>
                      </a:r>
                      <a:r>
                        <a:rPr lang="en-US" sz="1200" baseline="0" dirty="0" smtClean="0">
                          <a:latin typeface="Arial" panose="020B0604020202020204" pitchFamily="34" charset="0"/>
                          <a:cs typeface="Arial" panose="020B0604020202020204" pitchFamily="34" charset="0"/>
                        </a:rPr>
                        <a:t> in Centenary on IMAM Outpatient Therapeutic program.</a:t>
                      </a:r>
                    </a:p>
                    <a:p>
                      <a:endParaRPr lang="en-US" sz="1200" baseline="0" dirty="0" smtClean="0">
                        <a:latin typeface="Arial" panose="020B0604020202020204" pitchFamily="34" charset="0"/>
                        <a:cs typeface="Arial" panose="020B0604020202020204" pitchFamily="34" charset="0"/>
                      </a:endParaRPr>
                    </a:p>
                    <a:p>
                      <a:r>
                        <a:rPr lang="en-US" sz="1200" baseline="0" dirty="0" smtClean="0">
                          <a:latin typeface="Arial" panose="020B0604020202020204" pitchFamily="34" charset="0"/>
                          <a:cs typeface="Arial" panose="020B0604020202020204" pitchFamily="34" charset="0"/>
                        </a:rPr>
                        <a:t>Train 20 nurses on IMAM OTP program in </a:t>
                      </a:r>
                      <a:r>
                        <a:rPr lang="en-US" sz="1200" baseline="0" dirty="0" err="1" smtClean="0">
                          <a:latin typeface="Arial" panose="020B0604020202020204" pitchFamily="34" charset="0"/>
                          <a:cs typeface="Arial" panose="020B0604020202020204" pitchFamily="34" charset="0"/>
                        </a:rPr>
                        <a:t>Mbire</a:t>
                      </a:r>
                      <a:r>
                        <a:rPr lang="en-US" sz="1200" baseline="0" dirty="0" smtClean="0">
                          <a:latin typeface="Arial" panose="020B0604020202020204" pitchFamily="34" charset="0"/>
                          <a:cs typeface="Arial" panose="020B0604020202020204" pitchFamily="34" charset="0"/>
                        </a:rPr>
                        <a:t>.</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health</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workers trained on IMAM  OTP program</a:t>
                      </a:r>
                    </a:p>
                    <a:p>
                      <a:pPr marL="0" marR="0" algn="l">
                        <a:lnSpc>
                          <a:spcPct val="107000"/>
                        </a:lnSpc>
                        <a:spcBef>
                          <a:spcPts val="0"/>
                        </a:spcBef>
                        <a:spcAft>
                          <a:spcPts val="800"/>
                        </a:spcAft>
                      </a:pP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Cure rate for acute malnutrition</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IMAM</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Guidelines</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Training Material</a:t>
                      </a:r>
                      <a:r>
                        <a:rPr lang="en-US" sz="1200" baseline="0" dirty="0" smtClean="0">
                          <a:latin typeface="Arial" panose="020B0604020202020204" pitchFamily="34" charset="0"/>
                          <a:cs typeface="Arial" panose="020B0604020202020204" pitchFamily="34" charset="0"/>
                        </a:rPr>
                        <a:t>, DSA for </a:t>
                      </a:r>
                      <a:r>
                        <a:rPr lang="en-US" sz="1200" baseline="0" dirty="0" smtClean="0">
                          <a:latin typeface="Arial" panose="020B0604020202020204" pitchFamily="34" charset="0"/>
                          <a:cs typeface="Arial" panose="020B0604020202020204" pitchFamily="34" charset="0"/>
                        </a:rPr>
                        <a:t>Trainers</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Vehicle </a:t>
                      </a:r>
                      <a:r>
                        <a:rPr lang="en-US" sz="1200" baseline="0" dirty="0" smtClean="0">
                          <a:latin typeface="Arial" panose="020B0604020202020204" pitchFamily="34" charset="0"/>
                          <a:cs typeface="Arial" panose="020B0604020202020204" pitchFamily="34" charset="0"/>
                        </a:rPr>
                        <a:t>and </a:t>
                      </a:r>
                      <a:r>
                        <a:rPr lang="en-US" sz="1200" baseline="0" dirty="0" smtClean="0">
                          <a:latin typeface="Arial" panose="020B0604020202020204" pitchFamily="34" charset="0"/>
                          <a:cs typeface="Arial" panose="020B0604020202020204" pitchFamily="34" charset="0"/>
                        </a:rPr>
                        <a:t>Fuel</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31 </a:t>
                      </a:r>
                      <a:r>
                        <a:rPr lang="en-US" sz="1200" dirty="0" smtClean="0">
                          <a:latin typeface="Arial" panose="020B0604020202020204" pitchFamily="34" charset="0"/>
                          <a:cs typeface="Arial" panose="020B0604020202020204" pitchFamily="34" charset="0"/>
                        </a:rPr>
                        <a:t>Mar </a:t>
                      </a:r>
                      <a:r>
                        <a:rPr lang="en-US" sz="1200" dirty="0" smtClean="0">
                          <a:latin typeface="Arial" panose="020B0604020202020204" pitchFamily="34" charset="0"/>
                          <a:cs typeface="Arial" panose="020B0604020202020204" pitchFamily="34" charset="0"/>
                        </a:rPr>
                        <a:t>2025 </a:t>
                      </a:r>
                      <a:endParaRPr lang="en-US" sz="1200" dirty="0" smtClean="0">
                        <a:latin typeface="Arial" panose="020B0604020202020204" pitchFamily="34" charset="0"/>
                        <a:cs typeface="Arial" panose="020B0604020202020204" pitchFamily="34" charset="0"/>
                      </a:endParaRPr>
                    </a:p>
                    <a:p>
                      <a:endParaRPr lang="en-US" sz="1200" dirty="0" smtClean="0">
                        <a:latin typeface="Arial" panose="020B0604020202020204" pitchFamily="34" charset="0"/>
                        <a:cs typeface="Arial" panose="020B0604020202020204" pitchFamily="34" charset="0"/>
                      </a:endParaRPr>
                    </a:p>
                    <a:p>
                      <a:endParaRPr lang="en-US" sz="1200" dirty="0" smtClean="0">
                        <a:latin typeface="Arial" panose="020B0604020202020204" pitchFamily="34" charset="0"/>
                        <a:cs typeface="Arial" panose="020B0604020202020204" pitchFamily="34" charset="0"/>
                      </a:endParaRPr>
                    </a:p>
                    <a:p>
                      <a:endParaRPr lang="en-US" sz="1200" dirty="0" smtClean="0">
                        <a:latin typeface="Arial" panose="020B0604020202020204" pitchFamily="34" charset="0"/>
                        <a:cs typeface="Arial" panose="020B0604020202020204" pitchFamily="34" charset="0"/>
                      </a:endParaRPr>
                    </a:p>
                    <a:p>
                      <a:endParaRPr lang="en-US" sz="1200" dirty="0" smtClean="0">
                        <a:latin typeface="Arial" panose="020B0604020202020204" pitchFamily="34" charset="0"/>
                        <a:cs typeface="Arial" panose="020B0604020202020204" pitchFamily="34" charset="0"/>
                      </a:endParaRPr>
                    </a:p>
                    <a:p>
                      <a:endParaRPr lang="en-US" sz="1200" dirty="0" smtClean="0">
                        <a:latin typeface="Arial" panose="020B0604020202020204" pitchFamily="34" charset="0"/>
                        <a:cs typeface="Arial" panose="020B0604020202020204" pitchFamily="34" charset="0"/>
                      </a:endParaRPr>
                    </a:p>
                    <a:p>
                      <a:r>
                        <a:rPr lang="en-US" sz="120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31 </a:t>
                      </a:r>
                      <a:r>
                        <a:rPr lang="en-US" sz="1200" dirty="0" smtClean="0">
                          <a:latin typeface="Arial" panose="020B0604020202020204" pitchFamily="34" charset="0"/>
                          <a:cs typeface="Arial" panose="020B0604020202020204" pitchFamily="34" charset="0"/>
                        </a:rPr>
                        <a:t>Oct</a:t>
                      </a:r>
                      <a:r>
                        <a:rPr lang="en-US" sz="1200" baseline="0" dirty="0" smtClean="0">
                          <a:latin typeface="Arial" panose="020B0604020202020204" pitchFamily="34" charset="0"/>
                          <a:cs typeface="Arial" panose="020B0604020202020204" pitchFamily="34" charset="0"/>
                        </a:rPr>
                        <a:t> 2025</a:t>
                      </a:r>
                      <a:endParaRPr lang="en-US" sz="1200" dirty="0">
                        <a:latin typeface="Arial" panose="020B0604020202020204" pitchFamily="34" charset="0"/>
                        <a:cs typeface="Arial" panose="020B0604020202020204" pitchFamily="34"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latin typeface="Arial" panose="020B0604020202020204" pitchFamily="34" charset="0"/>
                          <a:cs typeface="Arial" panose="020B0604020202020204" pitchFamily="34" charset="0"/>
                        </a:rPr>
                        <a:t>MoHCC,</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World Vision </a:t>
                      </a:r>
                      <a:r>
                        <a:rPr lang="en-US" sz="1200" baseline="0" dirty="0" err="1" smtClean="0">
                          <a:latin typeface="Arial" panose="020B0604020202020204" pitchFamily="34" charset="0"/>
                          <a:cs typeface="Arial" panose="020B0604020202020204" pitchFamily="34" charset="0"/>
                        </a:rPr>
                        <a:t>Muzarabani</a:t>
                      </a:r>
                      <a:r>
                        <a:rPr lang="en-US" sz="1200" baseline="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Action</a:t>
                      </a:r>
                      <a:r>
                        <a:rPr lang="en-US" sz="1200" baseline="0" dirty="0" smtClean="0">
                          <a:latin typeface="Arial" panose="020B0604020202020204" pitchFamily="34" charset="0"/>
                          <a:cs typeface="Arial" panose="020B0604020202020204" pitchFamily="34" charset="0"/>
                        </a:rPr>
                        <a:t> for Hunger (ACF), Nutrition Action Zimbabwe (</a:t>
                      </a:r>
                      <a:r>
                        <a:rPr lang="en-US" sz="1200" dirty="0" smtClean="0">
                          <a:latin typeface="Arial" panose="020B0604020202020204" pitchFamily="34" charset="0"/>
                          <a:cs typeface="Arial" panose="020B0604020202020204" pitchFamily="34" charset="0"/>
                        </a:rPr>
                        <a:t>NAZ)</a:t>
                      </a:r>
                      <a:r>
                        <a:rPr lang="en-US" sz="1200" baseline="0" dirty="0" smtClean="0">
                          <a:latin typeface="Arial" panose="020B0604020202020204" pitchFamily="34" charset="0"/>
                          <a:cs typeface="Arial" panose="020B0604020202020204" pitchFamily="34" charset="0"/>
                        </a:rPr>
                        <a:t>, International Medical Corps (I</a:t>
                      </a:r>
                      <a:r>
                        <a:rPr lang="en-US" sz="1200" dirty="0" smtClean="0">
                          <a:latin typeface="Arial" panose="020B0604020202020204" pitchFamily="34" charset="0"/>
                          <a:cs typeface="Arial" panose="020B0604020202020204" pitchFamily="34" charset="0"/>
                        </a:rPr>
                        <a:t>MC)</a:t>
                      </a:r>
                      <a:r>
                        <a:rPr lang="en-US" sz="1200" baseline="0" dirty="0" smtClean="0">
                          <a:latin typeface="Arial" panose="020B0604020202020204" pitchFamily="34" charset="0"/>
                          <a:cs typeface="Arial" panose="020B0604020202020204" pitchFamily="34" charset="0"/>
                        </a:rPr>
                        <a:t> Consortium</a:t>
                      </a:r>
                      <a:endParaRPr lang="en-US" sz="1200" dirty="0" smtClean="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114878847"/>
                  </a:ext>
                </a:extLst>
              </a:tr>
              <a:tr h="1852360">
                <a:tc vMerge="1">
                  <a:txBody>
                    <a:bodyPr/>
                    <a:lstStyle/>
                    <a:p>
                      <a:endParaRPr lang="en-US"/>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Improve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Quality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of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Care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in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Stabilization </a:t>
                      </a:r>
                      <a:r>
                        <a:rPr lang="en-US" sz="1200" kern="100" dirty="0" err="1" smtClean="0">
                          <a:effectLst/>
                          <a:latin typeface="Arial" panose="020B0604020202020204" pitchFamily="34" charset="0"/>
                          <a:ea typeface="Calibri" panose="020F0502020204030204" pitchFamily="34" charset="0"/>
                          <a:cs typeface="Arial" panose="020B0604020202020204" pitchFamily="34" charset="0"/>
                        </a:rPr>
                        <a:t>Centres</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(SC) for IMAM</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Refurbish </a:t>
                      </a:r>
                      <a:r>
                        <a:rPr lang="en-US" sz="1200" dirty="0" err="1" smtClean="0">
                          <a:latin typeface="Arial" panose="020B0604020202020204" pitchFamily="34" charset="0"/>
                          <a:cs typeface="Arial" panose="020B0604020202020204" pitchFamily="34" charset="0"/>
                        </a:rPr>
                        <a:t>Chitsungo</a:t>
                      </a:r>
                      <a:r>
                        <a:rPr lang="en-US" sz="1200" dirty="0" smtClean="0">
                          <a:latin typeface="Arial" panose="020B0604020202020204" pitchFamily="34" charset="0"/>
                          <a:cs typeface="Arial" panose="020B0604020202020204" pitchFamily="34" charset="0"/>
                        </a:rPr>
                        <a:t> mission</a:t>
                      </a:r>
                      <a:r>
                        <a:rPr lang="en-US" sz="1200" baseline="0" dirty="0" smtClean="0">
                          <a:latin typeface="Arial" panose="020B0604020202020204" pitchFamily="34" charset="0"/>
                          <a:cs typeface="Arial" panose="020B0604020202020204" pitchFamily="34" charset="0"/>
                        </a:rPr>
                        <a:t> hospital stabilization Centre</a:t>
                      </a:r>
                    </a:p>
                    <a:p>
                      <a:endParaRPr lang="en-US" sz="1200" baseline="0" dirty="0" smtClean="0">
                        <a:latin typeface="Arial" panose="020B0604020202020204" pitchFamily="34" charset="0"/>
                        <a:cs typeface="Arial" panose="020B0604020202020204" pitchFamily="34" charset="0"/>
                      </a:endParaRPr>
                    </a:p>
                    <a:p>
                      <a:r>
                        <a:rPr lang="en-US" sz="1200" baseline="0" dirty="0" smtClean="0">
                          <a:latin typeface="Arial" panose="020B0604020202020204" pitchFamily="34" charset="0"/>
                          <a:cs typeface="Arial" panose="020B0604020202020204" pitchFamily="34" charset="0"/>
                        </a:rPr>
                        <a:t>Train 5 </a:t>
                      </a:r>
                      <a:r>
                        <a:rPr lang="en-US" sz="1200" baseline="0" dirty="0" smtClean="0">
                          <a:latin typeface="Arial" panose="020B0604020202020204" pitchFamily="34" charset="0"/>
                          <a:cs typeface="Arial" panose="020B0604020202020204" pitchFamily="34" charset="0"/>
                        </a:rPr>
                        <a:t>Stabilization </a:t>
                      </a:r>
                      <a:r>
                        <a:rPr lang="en-US" sz="1200" baseline="0" dirty="0" err="1" smtClean="0">
                          <a:latin typeface="Arial" panose="020B0604020202020204" pitchFamily="34" charset="0"/>
                          <a:cs typeface="Arial" panose="020B0604020202020204" pitchFamily="34" charset="0"/>
                        </a:rPr>
                        <a:t>centre</a:t>
                      </a:r>
                      <a:r>
                        <a:rPr lang="en-US" sz="1200" baseline="0" dirty="0" smtClean="0">
                          <a:latin typeface="Arial" panose="020B0604020202020204" pitchFamily="34" charset="0"/>
                          <a:cs typeface="Arial" panose="020B0604020202020204" pitchFamily="34" charset="0"/>
                        </a:rPr>
                        <a:t> staff (doctors and nurses on IMAM SC)</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Number of</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IMAM stabilization </a:t>
                      </a:r>
                      <a:r>
                        <a:rPr lang="en-US" sz="1200" kern="100" baseline="0" dirty="0" err="1" smtClean="0">
                          <a:effectLst/>
                          <a:latin typeface="Arial" panose="020B0604020202020204" pitchFamily="34" charset="0"/>
                          <a:ea typeface="Calibri" panose="020F0502020204030204" pitchFamily="34" charset="0"/>
                          <a:cs typeface="Arial" panose="020B0604020202020204" pitchFamily="34" charset="0"/>
                        </a:rPr>
                        <a:t>centres</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refurbished</a:t>
                      </a:r>
                    </a:p>
                    <a:p>
                      <a:pPr marL="0" marR="0" algn="l">
                        <a:lnSpc>
                          <a:spcPct val="107000"/>
                        </a:lnSpc>
                        <a:spcBef>
                          <a:spcPts val="0"/>
                        </a:spcBef>
                        <a:spcAft>
                          <a:spcPts val="800"/>
                        </a:spcAft>
                      </a:pP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Number of SC staff trained on IMAM OTP</a:t>
                      </a:r>
                    </a:p>
                    <a:p>
                      <a:pPr marL="0" marR="0" algn="l">
                        <a:lnSpc>
                          <a:spcPct val="107000"/>
                        </a:lnSpc>
                        <a:spcBef>
                          <a:spcPts val="0"/>
                        </a:spcBef>
                        <a:spcAft>
                          <a:spcPts val="800"/>
                        </a:spcAft>
                      </a:pP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Number of children successfully stabilized/cured in SC</a:t>
                      </a:r>
                    </a:p>
                  </a:txBody>
                  <a:tcPr/>
                </a:tc>
                <a:tc>
                  <a:txBody>
                    <a:bodyPr/>
                    <a:lstStyle/>
                    <a:p>
                      <a:r>
                        <a:rPr lang="en-US" sz="1200" dirty="0" smtClean="0">
                          <a:latin typeface="Arial" panose="020B0604020202020204" pitchFamily="34" charset="0"/>
                          <a:cs typeface="Arial" panose="020B0604020202020204" pitchFamily="34" charset="0"/>
                        </a:rPr>
                        <a:t>SC </a:t>
                      </a:r>
                      <a:r>
                        <a:rPr lang="en-US" sz="1200" dirty="0" smtClean="0">
                          <a:latin typeface="Arial" panose="020B0604020202020204" pitchFamily="34" charset="0"/>
                          <a:cs typeface="Arial" panose="020B0604020202020204" pitchFamily="34" charset="0"/>
                        </a:rPr>
                        <a:t>Centre Requirements</a:t>
                      </a:r>
                      <a:r>
                        <a:rPr lang="en-US" sz="120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Equipment</a:t>
                      </a:r>
                      <a:r>
                        <a:rPr lang="en-US" sz="120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Medicines </a:t>
                      </a:r>
                      <a:r>
                        <a:rPr lang="en-US" sz="1200" dirty="0" smtClean="0">
                          <a:latin typeface="Arial" panose="020B0604020202020204" pitchFamily="34" charset="0"/>
                          <a:cs typeface="Arial" panose="020B0604020202020204" pitchFamily="34" charset="0"/>
                        </a:rPr>
                        <a:t>and </a:t>
                      </a:r>
                      <a:r>
                        <a:rPr lang="en-US" sz="1200" dirty="0" smtClean="0">
                          <a:latin typeface="Arial" panose="020B0604020202020204" pitchFamily="34" charset="0"/>
                          <a:cs typeface="Arial" panose="020B0604020202020204" pitchFamily="34" charset="0"/>
                        </a:rPr>
                        <a:t>Supplies</a:t>
                      </a:r>
                      <a:r>
                        <a:rPr lang="en-US" sz="120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Utensils </a:t>
                      </a:r>
                      <a:r>
                        <a:rPr lang="en-US" sz="1200" dirty="0" err="1" smtClean="0">
                          <a:latin typeface="Arial" panose="020B0604020202020204" pitchFamily="34" charset="0"/>
                          <a:cs typeface="Arial" panose="020B0604020202020204" pitchFamily="34" charset="0"/>
                        </a:rPr>
                        <a:t>etc</a:t>
                      </a:r>
                      <a:r>
                        <a:rPr lang="en-US" sz="1200" dirty="0" smtClean="0">
                          <a:latin typeface="Arial" panose="020B0604020202020204" pitchFamily="34" charset="0"/>
                          <a:cs typeface="Arial" panose="020B0604020202020204" pitchFamily="34" charset="0"/>
                        </a:rPr>
                        <a:t>)</a:t>
                      </a:r>
                    </a:p>
                    <a:p>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31</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Oct 2025</a:t>
                      </a:r>
                      <a:endParaRPr lang="en-US" sz="1200" baseline="0" dirty="0" smtClean="0">
                        <a:latin typeface="Arial" panose="020B0604020202020204" pitchFamily="34" charset="0"/>
                        <a:cs typeface="Arial" panose="020B0604020202020204" pitchFamily="34" charset="0"/>
                      </a:endParaRPr>
                    </a:p>
                    <a:p>
                      <a:endParaRPr lang="en-US" sz="1200" baseline="0" dirty="0" smtClean="0">
                        <a:latin typeface="Arial" panose="020B0604020202020204" pitchFamily="34" charset="0"/>
                        <a:cs typeface="Arial" panose="020B0604020202020204" pitchFamily="34" charset="0"/>
                      </a:endParaRPr>
                    </a:p>
                    <a:p>
                      <a:endParaRPr lang="en-US" sz="1200" baseline="0" dirty="0" smtClean="0">
                        <a:latin typeface="Arial" panose="020B0604020202020204" pitchFamily="34" charset="0"/>
                        <a:cs typeface="Arial" panose="020B0604020202020204" pitchFamily="34" charset="0"/>
                      </a:endParaRPr>
                    </a:p>
                    <a:p>
                      <a:endParaRPr lang="en-US" sz="1200" baseline="0" dirty="0" smtClean="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MoHCC, </a:t>
                      </a:r>
                      <a:endParaRPr lang="en-US" sz="1200" dirty="0" smtClean="0">
                        <a:latin typeface="Arial" panose="020B0604020202020204" pitchFamily="34" charset="0"/>
                        <a:cs typeface="Arial" panose="020B0604020202020204" pitchFamily="34" charset="0"/>
                      </a:endParaRPr>
                    </a:p>
                    <a:p>
                      <a:r>
                        <a:rPr lang="en-US" sz="1200" dirty="0" smtClean="0">
                          <a:latin typeface="Arial" panose="020B0604020202020204" pitchFamily="34" charset="0"/>
                          <a:cs typeface="Arial" panose="020B0604020202020204" pitchFamily="34" charset="0"/>
                        </a:rPr>
                        <a:t>Action</a:t>
                      </a:r>
                      <a:r>
                        <a:rPr lang="en-US" sz="1200" baseline="0" dirty="0" smtClean="0">
                          <a:latin typeface="Arial" panose="020B0604020202020204" pitchFamily="34" charset="0"/>
                          <a:cs typeface="Arial" panose="020B0604020202020204" pitchFamily="34" charset="0"/>
                        </a:rPr>
                        <a:t> for Hunger (ACF), Nutrition Action Zimbabwe (</a:t>
                      </a:r>
                      <a:r>
                        <a:rPr lang="en-US" sz="1200" dirty="0" smtClean="0">
                          <a:latin typeface="Arial" panose="020B0604020202020204" pitchFamily="34" charset="0"/>
                          <a:cs typeface="Arial" panose="020B0604020202020204" pitchFamily="34" charset="0"/>
                        </a:rPr>
                        <a:t>NAZ)</a:t>
                      </a:r>
                      <a:r>
                        <a:rPr lang="en-US" sz="1200" baseline="0" dirty="0" smtClean="0">
                          <a:latin typeface="Arial" panose="020B0604020202020204" pitchFamily="34" charset="0"/>
                          <a:cs typeface="Arial" panose="020B0604020202020204" pitchFamily="34" charset="0"/>
                        </a:rPr>
                        <a:t>, International Medical Corps (I</a:t>
                      </a:r>
                      <a:r>
                        <a:rPr lang="en-US" sz="1200" dirty="0" smtClean="0">
                          <a:latin typeface="Arial" panose="020B0604020202020204" pitchFamily="34" charset="0"/>
                          <a:cs typeface="Arial" panose="020B0604020202020204" pitchFamily="34" charset="0"/>
                        </a:rPr>
                        <a:t>MC)</a:t>
                      </a:r>
                      <a:r>
                        <a:rPr lang="en-US" sz="1200" baseline="0" dirty="0" smtClean="0">
                          <a:latin typeface="Arial" panose="020B0604020202020204" pitchFamily="34" charset="0"/>
                          <a:cs typeface="Arial" panose="020B0604020202020204" pitchFamily="34" charset="0"/>
                        </a:rPr>
                        <a:t> Consortium</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2731445">
                <a:tc vMerge="1">
                  <a:txBody>
                    <a:bodyPr/>
                    <a:lstStyle/>
                    <a:p>
                      <a:endParaRPr lang="en-US" b="1" dirty="0"/>
                    </a:p>
                  </a:txBody>
                  <a:tcPr/>
                </a:tc>
                <a:tc>
                  <a:txBody>
                    <a:bodyPr/>
                    <a:lstStyle/>
                    <a:p>
                      <a:pPr marL="0" marR="0" algn="just">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Strengthen</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Capacity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of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Community Health Workers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to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Identify and Refer Malnutrition Cases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in the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Community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 </a:t>
                      </a:r>
                    </a:p>
                  </a:txBody>
                  <a:tcPr/>
                </a:tc>
                <a:tc>
                  <a:txBody>
                    <a:bodyPr/>
                    <a:lstStyle/>
                    <a:p>
                      <a:r>
                        <a:rPr lang="en-US" sz="1200" dirty="0" smtClean="0">
                          <a:latin typeface="Arial" panose="020B0604020202020204" pitchFamily="34" charset="0"/>
                          <a:cs typeface="Arial" panose="020B0604020202020204" pitchFamily="34" charset="0"/>
                        </a:rPr>
                        <a:t>Support</a:t>
                      </a:r>
                      <a:r>
                        <a:rPr lang="en-US" sz="1200" baseline="0" dirty="0" smtClean="0">
                          <a:latin typeface="Arial" panose="020B0604020202020204" pitchFamily="34" charset="0"/>
                          <a:cs typeface="Arial" panose="020B0604020202020204" pitchFamily="34" charset="0"/>
                        </a:rPr>
                        <a:t> 296 Village health workers in </a:t>
                      </a:r>
                      <a:r>
                        <a:rPr lang="en-US" sz="1200" baseline="0" dirty="0" err="1" smtClean="0">
                          <a:latin typeface="Arial" panose="020B0604020202020204" pitchFamily="34" charset="0"/>
                          <a:cs typeface="Arial" panose="020B0604020202020204" pitchFamily="34" charset="0"/>
                        </a:rPr>
                        <a:t>Shamva</a:t>
                      </a:r>
                      <a:r>
                        <a:rPr lang="en-US" sz="1200" baseline="0" dirty="0" smtClean="0">
                          <a:latin typeface="Arial" panose="020B0604020202020204" pitchFamily="34" charset="0"/>
                          <a:cs typeface="Arial" panose="020B0604020202020204" pitchFamily="34" charset="0"/>
                        </a:rPr>
                        <a:t> and 266 Village Health workers in </a:t>
                      </a:r>
                      <a:r>
                        <a:rPr lang="en-US" sz="1200" baseline="0" dirty="0" err="1" smtClean="0">
                          <a:latin typeface="Arial" panose="020B0604020202020204" pitchFamily="34" charset="0"/>
                          <a:cs typeface="Arial" panose="020B0604020202020204" pitchFamily="34" charset="0"/>
                        </a:rPr>
                        <a:t>Rushinga</a:t>
                      </a:r>
                      <a:r>
                        <a:rPr lang="en-US" sz="1200" baseline="0" dirty="0" smtClean="0">
                          <a:latin typeface="Arial" panose="020B0604020202020204" pitchFamily="34" charset="0"/>
                          <a:cs typeface="Arial" panose="020B0604020202020204" pitchFamily="34" charset="0"/>
                        </a:rPr>
                        <a:t> on Mid-Upper Arm Circumference screening program.</a:t>
                      </a:r>
                    </a:p>
                    <a:p>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Number of Village Health</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Workers received supported on MUAC screening program.</a:t>
                      </a:r>
                    </a:p>
                    <a:p>
                      <a:pPr marL="0" marR="0" algn="l">
                        <a:lnSpc>
                          <a:spcPct val="107000"/>
                        </a:lnSpc>
                        <a:spcBef>
                          <a:spcPts val="0"/>
                        </a:spcBef>
                        <a:spcAft>
                          <a:spcPts val="800"/>
                        </a:spcAft>
                      </a:pP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Number of children reached with active screening </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2</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Vehicles</a:t>
                      </a:r>
                      <a:r>
                        <a:rPr lang="en-US" sz="1200" baseline="0" dirty="0" smtClean="0">
                          <a:latin typeface="Arial" panose="020B0604020202020204" pitchFamily="34" charset="0"/>
                          <a:cs typeface="Arial" panose="020B0604020202020204" pitchFamily="34" charset="0"/>
                        </a:rPr>
                        <a:t>( 1 </a:t>
                      </a:r>
                      <a:r>
                        <a:rPr lang="en-US" sz="1200" baseline="0" dirty="0" smtClean="0">
                          <a:latin typeface="Arial" panose="020B0604020202020204" pitchFamily="34" charset="0"/>
                          <a:cs typeface="Arial" panose="020B0604020202020204" pitchFamily="34" charset="0"/>
                        </a:rPr>
                        <a:t>Provincial </a:t>
                      </a:r>
                      <a:r>
                        <a:rPr lang="en-US" sz="1200" baseline="0" dirty="0" smtClean="0">
                          <a:latin typeface="Arial" panose="020B0604020202020204" pitchFamily="34" charset="0"/>
                          <a:cs typeface="Arial" panose="020B0604020202020204" pitchFamily="34" charset="0"/>
                        </a:rPr>
                        <a:t>and 1 </a:t>
                      </a:r>
                      <a:r>
                        <a:rPr lang="en-US" sz="1200" baseline="0" dirty="0" smtClean="0">
                          <a:latin typeface="Arial" panose="020B0604020202020204" pitchFamily="34" charset="0"/>
                          <a:cs typeface="Arial" panose="020B0604020202020204" pitchFamily="34" charset="0"/>
                        </a:rPr>
                        <a:t>District), </a:t>
                      </a:r>
                      <a:r>
                        <a:rPr lang="en-US" sz="1200" baseline="0" dirty="0" smtClean="0">
                          <a:latin typeface="Arial" panose="020B0604020202020204" pitchFamily="34" charset="0"/>
                          <a:cs typeface="Arial" panose="020B0604020202020204" pitchFamily="34" charset="0"/>
                        </a:rPr>
                        <a:t>DSA for 3 </a:t>
                      </a:r>
                      <a:r>
                        <a:rPr lang="en-US" sz="1200" baseline="0" dirty="0" smtClean="0">
                          <a:latin typeface="Arial" panose="020B0604020202020204" pitchFamily="34" charset="0"/>
                          <a:cs typeface="Arial" panose="020B0604020202020204" pitchFamily="34" charset="0"/>
                        </a:rPr>
                        <a:t>Provincial Cadres </a:t>
                      </a:r>
                      <a:r>
                        <a:rPr lang="en-US" sz="1200" baseline="0" dirty="0" smtClean="0">
                          <a:latin typeface="Arial" panose="020B0604020202020204" pitchFamily="34" charset="0"/>
                          <a:cs typeface="Arial" panose="020B0604020202020204" pitchFamily="34" charset="0"/>
                        </a:rPr>
                        <a:t>for 5 </a:t>
                      </a:r>
                      <a:r>
                        <a:rPr lang="en-US" sz="1200" baseline="0" dirty="0" smtClean="0">
                          <a:latin typeface="Arial" panose="020B0604020202020204" pitchFamily="34" charset="0"/>
                          <a:cs typeface="Arial" panose="020B0604020202020204" pitchFamily="34" charset="0"/>
                        </a:rPr>
                        <a:t>Days </a:t>
                      </a:r>
                      <a:r>
                        <a:rPr lang="en-US" sz="1200" baseline="0" dirty="0" smtClean="0">
                          <a:latin typeface="Arial" panose="020B0604020202020204" pitchFamily="34" charset="0"/>
                          <a:cs typeface="Arial" panose="020B0604020202020204" pitchFamily="34" charset="0"/>
                        </a:rPr>
                        <a:t>per </a:t>
                      </a:r>
                      <a:r>
                        <a:rPr lang="en-US" sz="1200" baseline="0" dirty="0" smtClean="0">
                          <a:latin typeface="Arial" panose="020B0604020202020204" pitchFamily="34" charset="0"/>
                          <a:cs typeface="Arial" panose="020B0604020202020204" pitchFamily="34" charset="0"/>
                        </a:rPr>
                        <a:t>Month</a:t>
                      </a:r>
                      <a:r>
                        <a:rPr lang="en-US" sz="1200" baseline="0" dirty="0" smtClean="0">
                          <a:latin typeface="Arial" panose="020B0604020202020204" pitchFamily="34" charset="0"/>
                          <a:cs typeface="Arial" panose="020B0604020202020204" pitchFamily="34" charset="0"/>
                        </a:rPr>
                        <a:t>, DSA for 4 </a:t>
                      </a:r>
                      <a:r>
                        <a:rPr lang="en-US" sz="1200" baseline="0" dirty="0" smtClean="0">
                          <a:latin typeface="Arial" panose="020B0604020202020204" pitchFamily="34" charset="0"/>
                          <a:cs typeface="Arial" panose="020B0604020202020204" pitchFamily="34" charset="0"/>
                        </a:rPr>
                        <a:t>District Cadres </a:t>
                      </a:r>
                      <a:r>
                        <a:rPr lang="en-US" sz="1200" baseline="0" dirty="0" smtClean="0">
                          <a:latin typeface="Arial" panose="020B0604020202020204" pitchFamily="34" charset="0"/>
                          <a:cs typeface="Arial" panose="020B0604020202020204" pitchFamily="34" charset="0"/>
                        </a:rPr>
                        <a:t>for 10 </a:t>
                      </a:r>
                      <a:r>
                        <a:rPr lang="en-US" sz="1200" baseline="0" dirty="0" smtClean="0">
                          <a:latin typeface="Arial" panose="020B0604020202020204" pitchFamily="34" charset="0"/>
                          <a:cs typeface="Arial" panose="020B0604020202020204" pitchFamily="34" charset="0"/>
                        </a:rPr>
                        <a:t>Days </a:t>
                      </a:r>
                      <a:r>
                        <a:rPr lang="en-US" sz="1200" baseline="0" dirty="0" smtClean="0">
                          <a:latin typeface="Arial" panose="020B0604020202020204" pitchFamily="34" charset="0"/>
                          <a:cs typeface="Arial" panose="020B0604020202020204" pitchFamily="34" charset="0"/>
                        </a:rPr>
                        <a:t>per </a:t>
                      </a:r>
                      <a:r>
                        <a:rPr lang="en-US" sz="1200" baseline="0" dirty="0" smtClean="0">
                          <a:latin typeface="Arial" panose="020B0604020202020204" pitchFamily="34" charset="0"/>
                          <a:cs typeface="Arial" panose="020B0604020202020204" pitchFamily="34" charset="0"/>
                        </a:rPr>
                        <a:t>Month</a:t>
                      </a:r>
                      <a:r>
                        <a:rPr lang="en-US" sz="1200" baseline="0" dirty="0" smtClean="0">
                          <a:latin typeface="Arial" panose="020B0604020202020204" pitchFamily="34" charset="0"/>
                          <a:cs typeface="Arial" panose="020B0604020202020204" pitchFamily="34" charset="0"/>
                        </a:rPr>
                        <a:t>, 2100 Litres of Diesel ,MUAC tapes, $10 airtime for 7 </a:t>
                      </a:r>
                      <a:r>
                        <a:rPr lang="en-US" sz="1200" baseline="0" dirty="0" smtClean="0">
                          <a:latin typeface="Arial" panose="020B0604020202020204" pitchFamily="34" charset="0"/>
                          <a:cs typeface="Arial" panose="020B0604020202020204" pitchFamily="34" charset="0"/>
                        </a:rPr>
                        <a:t>People </a:t>
                      </a:r>
                      <a:r>
                        <a:rPr lang="en-US" sz="1200" baseline="0" dirty="0" smtClean="0">
                          <a:latin typeface="Arial" panose="020B0604020202020204" pitchFamily="34" charset="0"/>
                          <a:cs typeface="Arial" panose="020B0604020202020204" pitchFamily="34" charset="0"/>
                        </a:rPr>
                        <a:t>per </a:t>
                      </a:r>
                      <a:r>
                        <a:rPr lang="en-US" sz="1200" baseline="0" dirty="0" smtClean="0">
                          <a:latin typeface="Arial" panose="020B0604020202020204" pitchFamily="34" charset="0"/>
                          <a:cs typeface="Arial" panose="020B0604020202020204" pitchFamily="34" charset="0"/>
                        </a:rPr>
                        <a:t>Month</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31 </a:t>
                      </a:r>
                      <a:r>
                        <a:rPr lang="en-US" sz="1200" dirty="0" smtClean="0">
                          <a:latin typeface="Arial" panose="020B0604020202020204" pitchFamily="34" charset="0"/>
                          <a:cs typeface="Arial" panose="020B0604020202020204" pitchFamily="34" charset="0"/>
                        </a:rPr>
                        <a:t>Mar</a:t>
                      </a:r>
                      <a:r>
                        <a:rPr lang="en-US" sz="1200" baseline="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2025</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MoHCC</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82146392"/>
                  </a:ext>
                </a:extLst>
              </a:tr>
            </a:tbl>
          </a:graphicData>
        </a:graphic>
      </p:graphicFrame>
    </p:spTree>
    <p:extLst>
      <p:ext uri="{BB962C8B-B14F-4D97-AF65-F5344CB8AC3E}">
        <p14:creationId xmlns:p14="http://schemas.microsoft.com/office/powerpoint/2010/main" val="662704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512760656"/>
              </p:ext>
            </p:extLst>
          </p:nvPr>
        </p:nvGraphicFramePr>
        <p:xfrm>
          <a:off x="116983" y="190008"/>
          <a:ext cx="11809928" cy="5401553"/>
        </p:xfrm>
        <a:graphic>
          <a:graphicData uri="http://schemas.openxmlformats.org/drawingml/2006/table">
            <a:tbl>
              <a:tblPr firstRow="1" bandRow="1">
                <a:tableStyleId>{5C22544A-7EE6-4342-B048-85BDC9FD1C3A}</a:tableStyleId>
              </a:tblPr>
              <a:tblGrid>
                <a:gridCol w="1129095">
                  <a:extLst>
                    <a:ext uri="{9D8B030D-6E8A-4147-A177-3AD203B41FA5}">
                      <a16:colId xmlns:a16="http://schemas.microsoft.com/office/drawing/2014/main" val="20000"/>
                    </a:ext>
                  </a:extLst>
                </a:gridCol>
                <a:gridCol w="1954519">
                  <a:extLst>
                    <a:ext uri="{9D8B030D-6E8A-4147-A177-3AD203B41FA5}">
                      <a16:colId xmlns:a16="http://schemas.microsoft.com/office/drawing/2014/main" val="20001"/>
                    </a:ext>
                  </a:extLst>
                </a:gridCol>
                <a:gridCol w="1258843">
                  <a:extLst>
                    <a:ext uri="{9D8B030D-6E8A-4147-A177-3AD203B41FA5}">
                      <a16:colId xmlns:a16="http://schemas.microsoft.com/office/drawing/2014/main" val="20002"/>
                    </a:ext>
                  </a:extLst>
                </a:gridCol>
                <a:gridCol w="3055983">
                  <a:extLst>
                    <a:ext uri="{9D8B030D-6E8A-4147-A177-3AD203B41FA5}">
                      <a16:colId xmlns:a16="http://schemas.microsoft.com/office/drawing/2014/main" val="20003"/>
                    </a:ext>
                  </a:extLst>
                </a:gridCol>
                <a:gridCol w="1470496">
                  <a:extLst>
                    <a:ext uri="{9D8B030D-6E8A-4147-A177-3AD203B41FA5}">
                      <a16:colId xmlns:a16="http://schemas.microsoft.com/office/drawing/2014/main" val="20004"/>
                    </a:ext>
                  </a:extLst>
                </a:gridCol>
                <a:gridCol w="1470496">
                  <a:extLst>
                    <a:ext uri="{9D8B030D-6E8A-4147-A177-3AD203B41FA5}">
                      <a16:colId xmlns:a16="http://schemas.microsoft.com/office/drawing/2014/main" val="20005"/>
                    </a:ext>
                  </a:extLst>
                </a:gridCol>
                <a:gridCol w="1470496">
                  <a:extLst>
                    <a:ext uri="{9D8B030D-6E8A-4147-A177-3AD203B41FA5}">
                      <a16:colId xmlns:a16="http://schemas.microsoft.com/office/drawing/2014/main" val="20006"/>
                    </a:ext>
                  </a:extLst>
                </a:gridCol>
              </a:tblGrid>
              <a:tr h="360953">
                <a:tc>
                  <a:txBody>
                    <a:bodyPr/>
                    <a:lstStyle/>
                    <a:p>
                      <a:pPr algn="l" fontAlgn="b"/>
                      <a:r>
                        <a:rPr lang="en-US" sz="1200" u="none" strike="noStrike" dirty="0">
                          <a:effectLst/>
                          <a:latin typeface="Arial" panose="020B0604020202020204" pitchFamily="34" charset="0"/>
                          <a:cs typeface="Arial" panose="020B0604020202020204" pitchFamily="34" charset="0"/>
                        </a:rPr>
                        <a:t>Key Result Area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Activity</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Target</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Process Indicator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Resources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Timeline</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Lead Agency</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extLst>
                  <a:ext uri="{0D108BD9-81ED-4DB2-BD59-A6C34878D82A}">
                    <a16:rowId xmlns:a16="http://schemas.microsoft.com/office/drawing/2014/main" val="10000"/>
                  </a:ext>
                </a:extLst>
              </a:tr>
              <a:tr h="601590">
                <a:tc row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dirty="0" smtClean="0">
                          <a:latin typeface="Arial" panose="020B0604020202020204" pitchFamily="34" charset="0"/>
                          <a:cs typeface="Arial" panose="020B0604020202020204" pitchFamily="34" charset="0"/>
                        </a:rPr>
                        <a:t>KRA 5:</a:t>
                      </a:r>
                      <a:r>
                        <a:rPr lang="en-US" sz="1200" b="1" baseline="0" dirty="0" smtClean="0">
                          <a:latin typeface="Arial" panose="020B0604020202020204" pitchFamily="34" charset="0"/>
                          <a:cs typeface="Arial" panose="020B0604020202020204" pitchFamily="34" charset="0"/>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Nutrition Security</a:t>
                      </a:r>
                    </a:p>
                    <a:p>
                      <a:endParaRPr lang="en-US" sz="1200" dirty="0">
                        <a:latin typeface="Arial" panose="020B0604020202020204" pitchFamily="34" charset="0"/>
                        <a:cs typeface="Arial" panose="020B0604020202020204" pitchFamily="34" charset="0"/>
                      </a:endParaRPr>
                    </a:p>
                  </a:txBody>
                  <a:tcPr marL="6593" marR="6593" marT="6593" marB="0" anchor="ctr"/>
                </a:tc>
                <a:tc>
                  <a:txBody>
                    <a:bodyPr/>
                    <a:lstStyle/>
                    <a:p>
                      <a:pPr marL="0" marR="0" algn="just">
                        <a:lnSpc>
                          <a:spcPct val="107000"/>
                        </a:lnSpc>
                        <a:spcBef>
                          <a:spcPts val="0"/>
                        </a:spcBef>
                        <a:spcAft>
                          <a:spcPts val="800"/>
                        </a:spcAft>
                      </a:pPr>
                      <a:r>
                        <a:rPr lang="en-US" sz="1200" b="0" kern="1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Support</a:t>
                      </a:r>
                      <a:r>
                        <a:rPr lang="en-US" sz="1200" b="0" kern="100" baseline="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and </a:t>
                      </a:r>
                      <a:r>
                        <a:rPr lang="en-US" sz="1200" b="0" kern="100" baseline="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Supervise Districts </a:t>
                      </a:r>
                      <a:r>
                        <a:rPr lang="en-US" sz="1200" b="0" kern="100" baseline="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on </a:t>
                      </a:r>
                      <a:r>
                        <a:rPr lang="en-US" sz="1200" b="0" kern="100" baseline="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Implementation </a:t>
                      </a:r>
                      <a:r>
                        <a:rPr lang="en-US" sz="1200" b="0" kern="100" baseline="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of </a:t>
                      </a:r>
                      <a:r>
                        <a:rPr lang="en-US" sz="1200" b="0" kern="100" baseline="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Care Groups </a:t>
                      </a:r>
                      <a:r>
                        <a:rPr lang="en-US" sz="1200" b="0" kern="100" baseline="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and Infant and Young Child Feeding support groups</a:t>
                      </a:r>
                      <a:endParaRPr lang="en-US" sz="1200" b="0" kern="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2</a:t>
                      </a:r>
                      <a:r>
                        <a:rPr lang="en-US" sz="1200" b="0" baseline="0" dirty="0" smtClean="0">
                          <a:solidFill>
                            <a:schemeClr val="tx1"/>
                          </a:solidFill>
                          <a:latin typeface="Arial" panose="020B0604020202020204" pitchFamily="34" charset="0"/>
                          <a:cs typeface="Arial" panose="020B0604020202020204" pitchFamily="34" charset="0"/>
                        </a:rPr>
                        <a:t> districts visited and supported on care groups and IYCF support groups per </a:t>
                      </a:r>
                      <a:r>
                        <a:rPr lang="en-US" sz="1200" b="0" baseline="0" dirty="0" smtClean="0">
                          <a:solidFill>
                            <a:schemeClr val="tx1"/>
                          </a:solidFill>
                          <a:latin typeface="Arial" panose="020B0604020202020204" pitchFamily="34" charset="0"/>
                          <a:cs typeface="Arial" panose="020B0604020202020204" pitchFamily="34" charset="0"/>
                        </a:rPr>
                        <a:t>Quarter</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0" kern="100" dirty="0">
                          <a:solidFill>
                            <a:schemeClr val="tx1"/>
                          </a:solidFill>
                          <a:effectLst/>
                          <a:latin typeface="Arial" panose="020B0604020202020204" pitchFamily="34" charset="0"/>
                          <a:ea typeface="Calibri" panose="020F0502020204030204" pitchFamily="34" charset="0"/>
                          <a:cs typeface="Arial" panose="020B0604020202020204" pitchFamily="34" charset="0"/>
                        </a:rPr>
                        <a:t>Number of </a:t>
                      </a:r>
                      <a:r>
                        <a:rPr lang="en-US" sz="1200" b="0" kern="10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districts</a:t>
                      </a:r>
                      <a:r>
                        <a:rPr lang="en-US" sz="1200" b="0" kern="100" baseline="0" dirty="0" smtClean="0">
                          <a:solidFill>
                            <a:schemeClr val="tx1"/>
                          </a:solidFill>
                          <a:effectLst/>
                          <a:latin typeface="Arial" panose="020B0604020202020204" pitchFamily="34" charset="0"/>
                          <a:ea typeface="Calibri" panose="020F0502020204030204" pitchFamily="34" charset="0"/>
                          <a:cs typeface="Arial" panose="020B0604020202020204" pitchFamily="34" charset="0"/>
                        </a:rPr>
                        <a:t> implementing care groups and IYCF support groups</a:t>
                      </a:r>
                      <a:endParaRPr lang="en-US" sz="1200" b="0" kern="100" dirty="0">
                        <a:solidFill>
                          <a:schemeClr val="tx1"/>
                        </a:solidFill>
                        <a:effectLst/>
                        <a:latin typeface="Arial" panose="020B060402020202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800"/>
                        </a:spcAft>
                      </a:pPr>
                      <a:r>
                        <a:rPr lang="en-US" sz="1200" b="0" kern="100" dirty="0">
                          <a:solidFill>
                            <a:schemeClr val="tx1"/>
                          </a:solidFill>
                          <a:effectLst/>
                          <a:latin typeface="Arial" panose="020B0604020202020204" pitchFamily="34" charset="0"/>
                          <a:ea typeface="Calibri" panose="020F0502020204030204" pitchFamily="34" charset="0"/>
                          <a:cs typeface="Arial" panose="020B0604020202020204" pitchFamily="34" charset="0"/>
                        </a:rPr>
                        <a:t> </a:t>
                      </a: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Vehicle</a:t>
                      </a:r>
                      <a:r>
                        <a:rPr lang="en-US" sz="1200" b="0" baseline="0" dirty="0" smtClean="0">
                          <a:solidFill>
                            <a:schemeClr val="tx1"/>
                          </a:solidFill>
                          <a:latin typeface="Arial" panose="020B0604020202020204" pitchFamily="34" charset="0"/>
                          <a:cs typeface="Arial" panose="020B0604020202020204" pitchFamily="34" charset="0"/>
                        </a:rPr>
                        <a:t> and </a:t>
                      </a:r>
                      <a:r>
                        <a:rPr lang="en-US" sz="1200" b="0" baseline="0" dirty="0" smtClean="0">
                          <a:solidFill>
                            <a:schemeClr val="tx1"/>
                          </a:solidFill>
                          <a:latin typeface="Arial" panose="020B0604020202020204" pitchFamily="34" charset="0"/>
                          <a:cs typeface="Arial" panose="020B0604020202020204" pitchFamily="34" charset="0"/>
                        </a:rPr>
                        <a:t>Fuel </a:t>
                      </a:r>
                      <a:r>
                        <a:rPr lang="en-US" sz="1200" b="0" baseline="0" dirty="0" smtClean="0">
                          <a:solidFill>
                            <a:schemeClr val="tx1"/>
                          </a:solidFill>
                          <a:latin typeface="Arial" panose="020B0604020202020204" pitchFamily="34" charset="0"/>
                          <a:cs typeface="Arial" panose="020B0604020202020204" pitchFamily="34" charset="0"/>
                        </a:rPr>
                        <a:t>(800litres of diesel), DSA for supervisors</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Quarterly</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MoHCC – Nutrition </a:t>
                      </a:r>
                      <a:endParaRPr lang="en-US" sz="1200" b="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601590">
                <a:tc vMerge="1">
                  <a:txBody>
                    <a:bodyPr/>
                    <a:lstStyle/>
                    <a:p>
                      <a:endParaRPr lang="en-US"/>
                    </a:p>
                  </a:txBody>
                  <a:tcPr/>
                </a:tc>
                <a:tc>
                  <a:txBody>
                    <a:bodyPr/>
                    <a:lstStyle/>
                    <a:p>
                      <a:pPr marL="0" marR="0" algn="just">
                        <a:lnSpc>
                          <a:spcPct val="107000"/>
                        </a:lnSpc>
                        <a:spcBef>
                          <a:spcPts val="0"/>
                        </a:spcBef>
                        <a:spcAft>
                          <a:spcPts val="800"/>
                        </a:spcAft>
                      </a:pP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Support districts on nutrition supply chain management</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3 districts visited quarterly to check on availability, quantity and expiry dates of nutrition commodities at district level.</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 Number of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districts</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supported on nutrition supply chain management.</a:t>
                      </a:r>
                    </a:p>
                    <a:p>
                      <a:pPr marL="0" marR="0" algn="l">
                        <a:lnSpc>
                          <a:spcPct val="107000"/>
                        </a:lnSpc>
                        <a:spcBef>
                          <a:spcPts val="0"/>
                        </a:spcBef>
                        <a:spcAft>
                          <a:spcPts val="800"/>
                        </a:spcAft>
                      </a:pP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Number of districts reporting no stock outs or expiries of nutrition commodities.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Vehicle,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Lunch Allowance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and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mn-ea"/>
                          <a:cs typeface="Arial" panose="020B0604020202020204" pitchFamily="34" charset="0"/>
                        </a:rPr>
                        <a:t>Fuel</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Quarterly</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MoHCC - </a:t>
                      </a:r>
                      <a:r>
                        <a:rPr lang="en-US" sz="1200" baseline="0" dirty="0" smtClean="0">
                          <a:latin typeface="Arial" panose="020B0604020202020204" pitchFamily="34" charset="0"/>
                          <a:cs typeface="Arial" panose="020B0604020202020204" pitchFamily="34" charset="0"/>
                        </a:rPr>
                        <a:t>Nutrition</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601590">
                <a:tc vMerge="1">
                  <a:txBody>
                    <a:bodyPr/>
                    <a:lstStyle/>
                    <a:p>
                      <a:endParaRPr lang="en-US" dirty="0"/>
                    </a:p>
                  </a:txBody>
                  <a:tcPr marL="6593" marR="6593" marT="6593" marB="0" anchor="b"/>
                </a:tc>
                <a:tc>
                  <a:txBody>
                    <a:bodyPr/>
                    <a:lstStyle/>
                    <a:p>
                      <a:pPr marL="0" marR="0" algn="just">
                        <a:lnSpc>
                          <a:spcPct val="107000"/>
                        </a:lnSpc>
                        <a:spcBef>
                          <a:spcPts val="0"/>
                        </a:spcBef>
                        <a:spcAft>
                          <a:spcPts val="800"/>
                        </a:spcAft>
                      </a:pP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marL="0" marR="0" algn="just">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Support implementation</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of school nutrition program</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marL="0" marR="0" algn="just">
                        <a:lnSpc>
                          <a:spcPct val="107000"/>
                        </a:lnSpc>
                        <a:spcBef>
                          <a:spcPts val="0"/>
                        </a:spcBef>
                        <a:spcAft>
                          <a:spcPts val="800"/>
                        </a:spcAft>
                      </a:pP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 1 district</a:t>
                      </a:r>
                      <a:r>
                        <a:rPr lang="en-US" sz="1200" baseline="0" dirty="0" smtClean="0">
                          <a:latin typeface="Arial" panose="020B0604020202020204" pitchFamily="34" charset="0"/>
                          <a:cs typeface="Arial" panose="020B0604020202020204" pitchFamily="34" charset="0"/>
                        </a:rPr>
                        <a:t> (</a:t>
                      </a:r>
                      <a:r>
                        <a:rPr lang="en-US" sz="1200" dirty="0" err="1" smtClean="0">
                          <a:latin typeface="Arial" panose="020B0604020202020204" pitchFamily="34" charset="0"/>
                          <a:cs typeface="Arial" panose="020B0604020202020204" pitchFamily="34" charset="0"/>
                        </a:rPr>
                        <a:t>Rushinga</a:t>
                      </a:r>
                      <a:r>
                        <a:rPr lang="en-US" sz="1200" dirty="0" smtClean="0">
                          <a:latin typeface="Arial" panose="020B0604020202020204" pitchFamily="34" charset="0"/>
                          <a:cs typeface="Arial" panose="020B0604020202020204" pitchFamily="34" charset="0"/>
                        </a:rPr>
                        <a:t>,  </a:t>
                      </a:r>
                      <a:r>
                        <a:rPr lang="en-US" sz="1200" dirty="0" err="1" smtClean="0">
                          <a:latin typeface="Arial" panose="020B0604020202020204" pitchFamily="34" charset="0"/>
                          <a:cs typeface="Arial" panose="020B0604020202020204" pitchFamily="34" charset="0"/>
                        </a:rPr>
                        <a:t>Bindura</a:t>
                      </a:r>
                      <a:r>
                        <a:rPr lang="en-US" sz="1200" baseline="0" dirty="0" smtClean="0">
                          <a:latin typeface="Arial" panose="020B0604020202020204" pitchFamily="34" charset="0"/>
                          <a:cs typeface="Arial" panose="020B0604020202020204" pitchFamily="34" charset="0"/>
                        </a:rPr>
                        <a:t> or Mt Darwin ) visited and supported on school nutrition program per quarter.</a:t>
                      </a:r>
                      <a:endParaRPr lang="en-US" sz="120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Number of districts visited</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and supported on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school nutrition program.</a:t>
                      </a:r>
                    </a:p>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Number of schools</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providing 4 star diet meals.</a:t>
                      </a:r>
                    </a:p>
                    <a:p>
                      <a:pPr marL="0" marR="0" algn="l">
                        <a:lnSpc>
                          <a:spcPct val="107000"/>
                        </a:lnSpc>
                        <a:spcBef>
                          <a:spcPts val="0"/>
                        </a:spcBef>
                        <a:spcAft>
                          <a:spcPts val="800"/>
                        </a:spcAft>
                      </a:pP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Number of schools with </a:t>
                      </a:r>
                      <a:r>
                        <a:rPr lang="en-US" sz="1200" kern="100" baseline="0" dirty="0" err="1" smtClean="0">
                          <a:effectLst/>
                          <a:latin typeface="Arial" panose="020B0604020202020204" pitchFamily="34" charset="0"/>
                          <a:ea typeface="Calibri" panose="020F0502020204030204" pitchFamily="34" charset="0"/>
                          <a:cs typeface="Arial" panose="020B0604020202020204" pitchFamily="34" charset="0"/>
                        </a:rPr>
                        <a:t>tuckshops</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selling healthy foods and snacks.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Vehicle, </a:t>
                      </a:r>
                      <a:r>
                        <a:rPr lang="en-US" sz="1200" dirty="0" smtClean="0">
                          <a:latin typeface="Arial" panose="020B0604020202020204" pitchFamily="34" charset="0"/>
                          <a:cs typeface="Arial" panose="020B0604020202020204" pitchFamily="34" charset="0"/>
                        </a:rPr>
                        <a:t>Lunch Allowance</a:t>
                      </a:r>
                      <a:r>
                        <a:rPr lang="en-US" sz="1200" dirty="0" smtClean="0">
                          <a:latin typeface="Arial" panose="020B0604020202020204" pitchFamily="34" charset="0"/>
                          <a:cs typeface="Arial" panose="020B0604020202020204" pitchFamily="34" charset="0"/>
                        </a:rPr>
                        <a:t>, </a:t>
                      </a:r>
                      <a:r>
                        <a:rPr lang="en-US" sz="1200" dirty="0" smtClean="0">
                          <a:latin typeface="Arial" panose="020B0604020202020204" pitchFamily="34" charset="0"/>
                          <a:cs typeface="Arial" panose="020B0604020202020204" pitchFamily="34" charset="0"/>
                        </a:rPr>
                        <a:t>Fuel</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Quarterly</a:t>
                      </a:r>
                      <a:endParaRPr lang="en-US" sz="1200" dirty="0">
                        <a:latin typeface="Arial" panose="020B0604020202020204" pitchFamily="34" charset="0"/>
                        <a:cs typeface="Arial" panose="020B0604020202020204" pitchFamily="34" charset="0"/>
                      </a:endParaRPr>
                    </a:p>
                  </a:txBody>
                  <a:tcPr/>
                </a:tc>
                <a:tc>
                  <a:txBody>
                    <a:bodyPr/>
                    <a:lstStyle/>
                    <a:p>
                      <a:r>
                        <a:rPr lang="en-US" sz="1200" baseline="0" dirty="0" smtClean="0">
                          <a:latin typeface="Arial" panose="020B0604020202020204" pitchFamily="34" charset="0"/>
                          <a:cs typeface="Arial" panose="020B0604020202020204" pitchFamily="34" charset="0"/>
                        </a:rPr>
                        <a:t>MoHCC -Nutrition/Environmental Health/Nursing</a:t>
                      </a:r>
                      <a:endParaRPr lang="en-US" sz="1200" baseline="0" dirty="0" smtClean="0">
                        <a:latin typeface="Arial" panose="020B0604020202020204" pitchFamily="34" charset="0"/>
                        <a:cs typeface="Arial" panose="020B0604020202020204" pitchFamily="34" charset="0"/>
                      </a:endParaRPr>
                    </a:p>
                    <a:p>
                      <a:endParaRPr lang="en-US" sz="1200" baseline="0" dirty="0" smtClean="0">
                        <a:latin typeface="Arial" panose="020B0604020202020204" pitchFamily="34" charset="0"/>
                        <a:cs typeface="Arial" panose="020B0604020202020204" pitchFamily="34" charset="0"/>
                      </a:endParaRPr>
                    </a:p>
                    <a:p>
                      <a:r>
                        <a:rPr lang="en-US" sz="1200" baseline="0" dirty="0" smtClean="0">
                          <a:latin typeface="Arial" panose="020B0604020202020204" pitchFamily="34" charset="0"/>
                          <a:cs typeface="Arial" panose="020B0604020202020204" pitchFamily="34" charset="0"/>
                        </a:rPr>
                        <a:t>Ministry of Primary and Secondary Education (</a:t>
                      </a:r>
                      <a:r>
                        <a:rPr lang="en-US" sz="1200" baseline="0" dirty="0" err="1" smtClean="0">
                          <a:latin typeface="Arial" panose="020B0604020202020204" pitchFamily="34" charset="0"/>
                          <a:cs typeface="Arial" panose="020B0604020202020204" pitchFamily="34" charset="0"/>
                        </a:rPr>
                        <a:t>MoPSE</a:t>
                      </a:r>
                      <a:r>
                        <a:rPr lang="en-US" sz="1200" baseline="0" dirty="0" smtClean="0">
                          <a:latin typeface="Arial" panose="020B0604020202020204" pitchFamily="34" charset="0"/>
                          <a:cs typeface="Arial" panose="020B0604020202020204" pitchFamily="34" charset="0"/>
                        </a:rPr>
                        <a:t>)</a:t>
                      </a:r>
                    </a:p>
                    <a:p>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8508515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862349154"/>
              </p:ext>
            </p:extLst>
          </p:nvPr>
        </p:nvGraphicFramePr>
        <p:xfrm>
          <a:off x="30480" y="151372"/>
          <a:ext cx="11779448" cy="7750869"/>
        </p:xfrm>
        <a:graphic>
          <a:graphicData uri="http://schemas.openxmlformats.org/drawingml/2006/table">
            <a:tbl>
              <a:tblPr firstRow="1" bandRow="1">
                <a:tableStyleId>{5C22544A-7EE6-4342-B048-85BDC9FD1C3A}</a:tableStyleId>
              </a:tblPr>
              <a:tblGrid>
                <a:gridCol w="1098615">
                  <a:extLst>
                    <a:ext uri="{9D8B030D-6E8A-4147-A177-3AD203B41FA5}">
                      <a16:colId xmlns:a16="http://schemas.microsoft.com/office/drawing/2014/main" val="20000"/>
                    </a:ext>
                  </a:extLst>
                </a:gridCol>
                <a:gridCol w="1954519">
                  <a:extLst>
                    <a:ext uri="{9D8B030D-6E8A-4147-A177-3AD203B41FA5}">
                      <a16:colId xmlns:a16="http://schemas.microsoft.com/office/drawing/2014/main" val="20001"/>
                    </a:ext>
                  </a:extLst>
                </a:gridCol>
                <a:gridCol w="1258843">
                  <a:extLst>
                    <a:ext uri="{9D8B030D-6E8A-4147-A177-3AD203B41FA5}">
                      <a16:colId xmlns:a16="http://schemas.microsoft.com/office/drawing/2014/main" val="20002"/>
                    </a:ext>
                  </a:extLst>
                </a:gridCol>
                <a:gridCol w="3055983">
                  <a:extLst>
                    <a:ext uri="{9D8B030D-6E8A-4147-A177-3AD203B41FA5}">
                      <a16:colId xmlns:a16="http://schemas.microsoft.com/office/drawing/2014/main" val="20003"/>
                    </a:ext>
                  </a:extLst>
                </a:gridCol>
                <a:gridCol w="1470496">
                  <a:extLst>
                    <a:ext uri="{9D8B030D-6E8A-4147-A177-3AD203B41FA5}">
                      <a16:colId xmlns:a16="http://schemas.microsoft.com/office/drawing/2014/main" val="20004"/>
                    </a:ext>
                  </a:extLst>
                </a:gridCol>
                <a:gridCol w="1470496">
                  <a:extLst>
                    <a:ext uri="{9D8B030D-6E8A-4147-A177-3AD203B41FA5}">
                      <a16:colId xmlns:a16="http://schemas.microsoft.com/office/drawing/2014/main" val="20005"/>
                    </a:ext>
                  </a:extLst>
                </a:gridCol>
                <a:gridCol w="1470496">
                  <a:extLst>
                    <a:ext uri="{9D8B030D-6E8A-4147-A177-3AD203B41FA5}">
                      <a16:colId xmlns:a16="http://schemas.microsoft.com/office/drawing/2014/main" val="20006"/>
                    </a:ext>
                  </a:extLst>
                </a:gridCol>
              </a:tblGrid>
              <a:tr h="452912">
                <a:tc>
                  <a:txBody>
                    <a:bodyPr/>
                    <a:lstStyle/>
                    <a:p>
                      <a:pPr algn="l" fontAlgn="b"/>
                      <a:r>
                        <a:rPr lang="en-US" sz="1200" u="none" strike="noStrike" dirty="0">
                          <a:effectLst/>
                          <a:latin typeface="Arial" panose="020B0604020202020204" pitchFamily="34" charset="0"/>
                          <a:cs typeface="Arial" panose="020B0604020202020204" pitchFamily="34" charset="0"/>
                        </a:rPr>
                        <a:t>Key Result Area</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Activity</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Target</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dirty="0">
                          <a:effectLst/>
                          <a:latin typeface="Arial" panose="020B0604020202020204" pitchFamily="34" charset="0"/>
                          <a:cs typeface="Arial" panose="020B0604020202020204" pitchFamily="34" charset="0"/>
                        </a:rPr>
                        <a:t>Process Indicator</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Resources</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Timeline</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tc>
                  <a:txBody>
                    <a:bodyPr/>
                    <a:lstStyle/>
                    <a:p>
                      <a:pPr algn="l" fontAlgn="b"/>
                      <a:r>
                        <a:rPr lang="en-US" sz="1200" u="none" strike="noStrike">
                          <a:effectLst/>
                          <a:latin typeface="Arial" panose="020B0604020202020204" pitchFamily="34" charset="0"/>
                          <a:cs typeface="Arial" panose="020B0604020202020204" pitchFamily="34" charset="0"/>
                        </a:rPr>
                        <a:t>Lead Agency</a:t>
                      </a:r>
                      <a:endParaRPr lang="en-US" sz="1200" b="0" i="0" u="none" strike="noStrike">
                        <a:solidFill>
                          <a:srgbClr val="000000"/>
                        </a:solidFill>
                        <a:effectLst/>
                        <a:latin typeface="Arial" panose="020B0604020202020204" pitchFamily="34" charset="0"/>
                        <a:cs typeface="Arial" panose="020B0604020202020204" pitchFamily="34" charset="0"/>
                      </a:endParaRPr>
                    </a:p>
                  </a:txBody>
                  <a:tcPr marL="6593" marR="6593" marT="6593" marB="0" anchor="b"/>
                </a:tc>
                <a:extLst>
                  <a:ext uri="{0D108BD9-81ED-4DB2-BD59-A6C34878D82A}">
                    <a16:rowId xmlns:a16="http://schemas.microsoft.com/office/drawing/2014/main" val="10000"/>
                  </a:ext>
                </a:extLst>
              </a:tr>
              <a:tr h="2389397">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1" dirty="0" smtClean="0">
                          <a:latin typeface="Arial" panose="020B0604020202020204" pitchFamily="34" charset="0"/>
                          <a:cs typeface="Arial" panose="020B0604020202020204" pitchFamily="34" charset="0"/>
                        </a:rPr>
                        <a:t>KRA 5:</a:t>
                      </a:r>
                      <a:r>
                        <a:rPr lang="en-US" sz="1200" b="1" baseline="0" dirty="0" smtClean="0">
                          <a:latin typeface="Arial" panose="020B0604020202020204" pitchFamily="34" charset="0"/>
                          <a:cs typeface="Arial" panose="020B0604020202020204" pitchFamily="34" charset="0"/>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Nutrition Security</a:t>
                      </a:r>
                    </a:p>
                    <a:p>
                      <a:endParaRPr lang="en-US" sz="1200" dirty="0" smtClean="0">
                        <a:latin typeface="Arial" panose="020B0604020202020204" pitchFamily="34" charset="0"/>
                        <a:cs typeface="Arial" panose="020B0604020202020204" pitchFamily="34" charset="0"/>
                      </a:endParaRPr>
                    </a:p>
                    <a:p>
                      <a:endParaRPr lang="en-US" sz="1200" dirty="0">
                        <a:latin typeface="Arial" panose="020B0604020202020204" pitchFamily="34" charset="0"/>
                        <a:cs typeface="Arial" panose="020B0604020202020204" pitchFamily="34" charset="0"/>
                      </a:endParaRPr>
                    </a:p>
                  </a:txBody>
                  <a:tcPr marL="6593" marR="6593" marT="6593" marB="0" anchor="ctr"/>
                </a:tc>
                <a:tc>
                  <a:txBody>
                    <a:bodyPr/>
                    <a:lstStyle/>
                    <a:p>
                      <a:r>
                        <a:rPr lang="en-US" sz="1200" b="0" dirty="0" smtClean="0">
                          <a:solidFill>
                            <a:schemeClr val="tx1"/>
                          </a:solidFill>
                          <a:latin typeface="Arial" panose="020B0604020202020204" pitchFamily="34" charset="0"/>
                          <a:cs typeface="Arial" panose="020B0604020202020204" pitchFamily="34" charset="0"/>
                        </a:rPr>
                        <a:t>Strengthen </a:t>
                      </a:r>
                      <a:r>
                        <a:rPr lang="en-US" sz="1200" b="0" dirty="0" smtClean="0">
                          <a:solidFill>
                            <a:schemeClr val="tx1"/>
                          </a:solidFill>
                          <a:latin typeface="Arial" panose="020B0604020202020204" pitchFamily="34" charset="0"/>
                          <a:cs typeface="Arial" panose="020B0604020202020204" pitchFamily="34" charset="0"/>
                        </a:rPr>
                        <a:t>Integrated Outreach Activities </a:t>
                      </a:r>
                      <a:r>
                        <a:rPr lang="en-US" sz="1200" b="0" dirty="0" smtClean="0">
                          <a:solidFill>
                            <a:schemeClr val="tx1"/>
                          </a:solidFill>
                          <a:latin typeface="Arial" panose="020B0604020202020204" pitchFamily="34" charset="0"/>
                          <a:cs typeface="Arial" panose="020B0604020202020204" pitchFamily="34" charset="0"/>
                        </a:rPr>
                        <a:t>including </a:t>
                      </a:r>
                      <a:r>
                        <a:rPr lang="en-US" sz="1200" b="0" dirty="0" smtClean="0">
                          <a:solidFill>
                            <a:schemeClr val="tx1"/>
                          </a:solidFill>
                          <a:latin typeface="Arial" panose="020B0604020202020204" pitchFamily="34" charset="0"/>
                          <a:cs typeface="Arial" panose="020B0604020202020204" pitchFamily="34" charset="0"/>
                        </a:rPr>
                        <a:t>Nutrition Activities </a:t>
                      </a:r>
                      <a:r>
                        <a:rPr lang="en-US" sz="1200" b="0" dirty="0" smtClean="0">
                          <a:solidFill>
                            <a:schemeClr val="tx1"/>
                          </a:solidFill>
                          <a:latin typeface="Arial" panose="020B0604020202020204" pitchFamily="34" charset="0"/>
                          <a:cs typeface="Arial" panose="020B0604020202020204" pitchFamily="34" charset="0"/>
                        </a:rPr>
                        <a:t>(Screening for malnutrition, Vitamin</a:t>
                      </a:r>
                      <a:r>
                        <a:rPr lang="en-US" sz="1200" b="0" baseline="0" dirty="0" smtClean="0">
                          <a:solidFill>
                            <a:schemeClr val="tx1"/>
                          </a:solidFill>
                          <a:latin typeface="Arial" panose="020B0604020202020204" pitchFamily="34" charset="0"/>
                          <a:cs typeface="Arial" panose="020B0604020202020204" pitchFamily="34" charset="0"/>
                        </a:rPr>
                        <a:t> A supplementation </a:t>
                      </a:r>
                      <a:r>
                        <a:rPr lang="en-US" sz="1200" b="0" baseline="0" dirty="0" err="1" smtClean="0">
                          <a:solidFill>
                            <a:schemeClr val="tx1"/>
                          </a:solidFill>
                          <a:latin typeface="Arial" panose="020B0604020202020204" pitchFamily="34" charset="0"/>
                          <a:cs typeface="Arial" panose="020B0604020202020204" pitchFamily="34" charset="0"/>
                        </a:rPr>
                        <a:t>etc</a:t>
                      </a:r>
                      <a:r>
                        <a:rPr lang="en-US" sz="1200" b="0" baseline="0" dirty="0" smtClean="0">
                          <a:solidFill>
                            <a:schemeClr val="tx1"/>
                          </a:solidFill>
                          <a:latin typeface="Arial" panose="020B0604020202020204" pitchFamily="34" charset="0"/>
                          <a:cs typeface="Arial" panose="020B0604020202020204" pitchFamily="34" charset="0"/>
                        </a:rPr>
                        <a:t>)</a:t>
                      </a:r>
                      <a:r>
                        <a:rPr lang="en-US" sz="1200" b="0" dirty="0" smtClean="0">
                          <a:solidFill>
                            <a:schemeClr val="tx1"/>
                          </a:solidFill>
                          <a:latin typeface="Arial" panose="020B0604020202020204" pitchFamily="34" charset="0"/>
                          <a:cs typeface="Arial" panose="020B0604020202020204" pitchFamily="34" charset="0"/>
                        </a:rPr>
                        <a:t> for</a:t>
                      </a:r>
                      <a:r>
                        <a:rPr lang="en-US" sz="1200" b="0" baseline="0" dirty="0" smtClean="0">
                          <a:solidFill>
                            <a:schemeClr val="tx1"/>
                          </a:solidFill>
                          <a:latin typeface="Arial" panose="020B0604020202020204" pitchFamily="34" charset="0"/>
                          <a:cs typeface="Arial" panose="020B0604020202020204" pitchFamily="34" charset="0"/>
                        </a:rPr>
                        <a:t> </a:t>
                      </a:r>
                      <a:r>
                        <a:rPr lang="en-US" sz="1200" b="0" baseline="0" dirty="0" smtClean="0">
                          <a:solidFill>
                            <a:schemeClr val="tx1"/>
                          </a:solidFill>
                          <a:latin typeface="Arial" panose="020B0604020202020204" pitchFamily="34" charset="0"/>
                          <a:cs typeface="Arial" panose="020B0604020202020204" pitchFamily="34" charset="0"/>
                        </a:rPr>
                        <a:t>Hard </a:t>
                      </a:r>
                      <a:r>
                        <a:rPr lang="en-US" sz="1200" b="0" baseline="0" dirty="0" smtClean="0">
                          <a:solidFill>
                            <a:schemeClr val="tx1"/>
                          </a:solidFill>
                          <a:latin typeface="Arial" panose="020B0604020202020204" pitchFamily="34" charset="0"/>
                          <a:cs typeface="Arial" panose="020B0604020202020204" pitchFamily="34" charset="0"/>
                        </a:rPr>
                        <a:t>to </a:t>
                      </a:r>
                      <a:r>
                        <a:rPr lang="en-US" sz="1200" b="0" baseline="0" dirty="0" smtClean="0">
                          <a:solidFill>
                            <a:schemeClr val="tx1"/>
                          </a:solidFill>
                          <a:latin typeface="Arial" panose="020B0604020202020204" pitchFamily="34" charset="0"/>
                          <a:cs typeface="Arial" panose="020B0604020202020204" pitchFamily="34" charset="0"/>
                        </a:rPr>
                        <a:t>Reach Areas</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At least 1 district conducting integrated outreach services to hard to reach communities per quarter</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Number of children</a:t>
                      </a:r>
                      <a:r>
                        <a:rPr lang="en-US" sz="1200" b="0" baseline="0" dirty="0" smtClean="0">
                          <a:solidFill>
                            <a:schemeClr val="tx1"/>
                          </a:solidFill>
                          <a:latin typeface="Arial" panose="020B0604020202020204" pitchFamily="34" charset="0"/>
                          <a:cs typeface="Arial" panose="020B0604020202020204" pitchFamily="34" charset="0"/>
                        </a:rPr>
                        <a:t> receiving nutrition services during</a:t>
                      </a:r>
                      <a:r>
                        <a:rPr lang="en-US" sz="1200" b="0" dirty="0" smtClean="0">
                          <a:solidFill>
                            <a:schemeClr val="tx1"/>
                          </a:solidFill>
                          <a:latin typeface="Arial" panose="020B0604020202020204" pitchFamily="34" charset="0"/>
                          <a:cs typeface="Arial" panose="020B0604020202020204" pitchFamily="34" charset="0"/>
                        </a:rPr>
                        <a:t> integrated outreach activities.</a:t>
                      </a:r>
                    </a:p>
                    <a:p>
                      <a:r>
                        <a:rPr lang="en-US" sz="1200" b="0" dirty="0" smtClean="0">
                          <a:solidFill>
                            <a:schemeClr val="tx1"/>
                          </a:solidFill>
                          <a:latin typeface="Arial" panose="020B0604020202020204" pitchFamily="34" charset="0"/>
                          <a:cs typeface="Arial" panose="020B0604020202020204" pitchFamily="34" charset="0"/>
                        </a:rPr>
                        <a:t>Number of integrated outreaches</a:t>
                      </a:r>
                      <a:r>
                        <a:rPr lang="en-US" sz="1200" b="0" baseline="0" dirty="0" smtClean="0">
                          <a:solidFill>
                            <a:schemeClr val="tx1"/>
                          </a:solidFill>
                          <a:latin typeface="Arial" panose="020B0604020202020204" pitchFamily="34" charset="0"/>
                          <a:cs typeface="Arial" panose="020B0604020202020204" pitchFamily="34" charset="0"/>
                        </a:rPr>
                        <a:t> conducted.</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Vehicles, DSAs</a:t>
                      </a:r>
                      <a:r>
                        <a:rPr lang="en-US" sz="1200" b="0" baseline="0" dirty="0" smtClean="0">
                          <a:solidFill>
                            <a:schemeClr val="tx1"/>
                          </a:solidFill>
                          <a:latin typeface="Arial" panose="020B0604020202020204" pitchFamily="34" charset="0"/>
                          <a:cs typeface="Arial" panose="020B0604020202020204" pitchFamily="34" charset="0"/>
                        </a:rPr>
                        <a:t> for outreach teams, </a:t>
                      </a:r>
                      <a:r>
                        <a:rPr lang="en-US" sz="1200" b="0" baseline="0" dirty="0" smtClean="0">
                          <a:solidFill>
                            <a:schemeClr val="tx1"/>
                          </a:solidFill>
                          <a:latin typeface="Arial" panose="020B0604020202020204" pitchFamily="34" charset="0"/>
                          <a:cs typeface="Arial" panose="020B0604020202020204" pitchFamily="34" charset="0"/>
                        </a:rPr>
                        <a:t>Fuel</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Quarterly</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MoHCC</a:t>
                      </a:r>
                      <a:endParaRPr lang="en-US" sz="1200" b="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2689997">
                <a:tc>
                  <a:txBody>
                    <a:bodyPr/>
                    <a:lstStyle/>
                    <a:p>
                      <a:pPr marL="0" marR="0" algn="l">
                        <a:lnSpc>
                          <a:spcPct val="107000"/>
                        </a:lnSpc>
                        <a:spcBef>
                          <a:spcPts val="0"/>
                        </a:spcBef>
                        <a:spcAft>
                          <a:spcPts val="0"/>
                        </a:spcAft>
                      </a:pPr>
                      <a:r>
                        <a:rPr lang="en-US" sz="1200" b="1" dirty="0" smtClean="0">
                          <a:latin typeface="Arial" panose="020B0604020202020204" pitchFamily="34" charset="0"/>
                          <a:cs typeface="Arial" panose="020B0604020202020204" pitchFamily="34" charset="0"/>
                        </a:rPr>
                        <a:t>KRA </a:t>
                      </a:r>
                      <a:r>
                        <a:rPr lang="en-US" sz="1200" b="1" dirty="0" smtClean="0">
                          <a:latin typeface="Arial" panose="020B0604020202020204" pitchFamily="34" charset="0"/>
                          <a:cs typeface="Arial" panose="020B0604020202020204" pitchFamily="34" charset="0"/>
                        </a:rPr>
                        <a:t>6:</a:t>
                      </a:r>
                      <a:r>
                        <a:rPr lang="en-US" sz="1200" b="1" baseline="0" dirty="0" smtClean="0">
                          <a:latin typeface="Arial" panose="020B0604020202020204" pitchFamily="34" charset="0"/>
                          <a:cs typeface="Arial" panose="020B0604020202020204" pitchFamily="34" charset="0"/>
                        </a:rPr>
                        <a:t> </a:t>
                      </a:r>
                    </a:p>
                    <a:p>
                      <a:pPr marL="0" marR="0" algn="l">
                        <a:lnSpc>
                          <a:spcPct val="107000"/>
                        </a:lnSpc>
                        <a:spcBef>
                          <a:spcPts val="0"/>
                        </a:spcBef>
                        <a:spcAft>
                          <a:spcPts val="0"/>
                        </a:spcAft>
                      </a:pPr>
                      <a:r>
                        <a:rPr lang="en-US" sz="1200" b="1" dirty="0" smtClean="0">
                          <a:latin typeface="Arial" panose="020B0604020202020204" pitchFamily="34" charset="0"/>
                          <a:cs typeface="Arial" panose="020B0604020202020204" pitchFamily="34" charset="0"/>
                        </a:rPr>
                        <a:t> </a:t>
                      </a: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Food and Nutrition Information</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0"/>
                        </a:spcAft>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Assessment, Analysis and Early Warning</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algn="ctr"/>
                      <a:endParaRPr lang="en-US" sz="1200" b="1" dirty="0">
                        <a:latin typeface="Arial" panose="020B0604020202020204" pitchFamily="34" charset="0"/>
                        <a:cs typeface="Arial" panose="020B0604020202020204" pitchFamily="34" charset="0"/>
                      </a:endParaRPr>
                    </a:p>
                  </a:txBody>
                  <a:tcPr anchor="ctr"/>
                </a:tc>
                <a:tc>
                  <a:txBody>
                    <a:bodyPr/>
                    <a:lstStyle/>
                    <a:p>
                      <a:pPr marL="0" marR="0" algn="just">
                        <a:lnSpc>
                          <a:spcPct val="150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Participate in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Food</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ct val="150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and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Nutrition Security Data Collection</a:t>
                      </a:r>
                      <a:r>
                        <a:rPr lang="en-US" sz="1200" kern="100" dirty="0">
                          <a:effectLst/>
                          <a:latin typeface="Arial" panose="020B0604020202020204" pitchFamily="34" charset="0"/>
                          <a:ea typeface="Calibri" panose="020F0502020204030204" pitchFamily="34" charset="0"/>
                          <a:cs typeface="Arial" panose="020B0604020202020204" pitchFamily="34" charset="0"/>
                        </a:rPr>
                        <a:t>,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Timely Information Dissemination,</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U</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tilization an</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d F</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eedback</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indent="0">
                        <a:buFontTx/>
                        <a:buNone/>
                      </a:pPr>
                      <a:r>
                        <a:rPr kumimoji="0" lang="en-US" sz="1200" b="0" i="0" u="none" strike="noStrike" kern="1200" cap="none" spc="0" normalizeH="0" baseline="0" noProof="0" dirty="0" smtClean="0">
                          <a:ln>
                            <a:noFill/>
                          </a:ln>
                          <a:solidFill>
                            <a:schemeClr val="dk1"/>
                          </a:solidFill>
                          <a:effectLst/>
                          <a:uLnTx/>
                          <a:uFillTx/>
                          <a:latin typeface="Arial" panose="020B0604020202020204" pitchFamily="34" charset="0"/>
                          <a:cs typeface="Arial" panose="020B0604020202020204" pitchFamily="34" charset="0"/>
                        </a:rPr>
                        <a:t>Extension workers from 8 districts collecting, analyzing , reporting and utilizing information on food and </a:t>
                      </a:r>
                      <a:r>
                        <a:rPr kumimoji="0" lang="en-US" sz="1200" b="0" i="0" u="none" strike="noStrike" kern="1200" cap="none" spc="0" normalizeH="0" baseline="0" noProof="0" smtClean="0">
                          <a:ln>
                            <a:noFill/>
                          </a:ln>
                          <a:solidFill>
                            <a:schemeClr val="dk1"/>
                          </a:solidFill>
                          <a:effectLst/>
                          <a:uLnTx/>
                          <a:uFillTx/>
                          <a:latin typeface="Arial" panose="020B0604020202020204" pitchFamily="34" charset="0"/>
                          <a:cs typeface="Arial" panose="020B0604020202020204" pitchFamily="34" charset="0"/>
                        </a:rPr>
                        <a:t>nutrition security</a:t>
                      </a:r>
                      <a:endPar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of sectors  participating in data collection, analysis,</a:t>
                      </a: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reporting and timely</a:t>
                      </a:r>
                    </a:p>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information dissemination,</a:t>
                      </a:r>
                    </a:p>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utilization </a:t>
                      </a:r>
                      <a:r>
                        <a:rPr lang="en-US" sz="1200" kern="100" dirty="0">
                          <a:effectLst/>
                          <a:latin typeface="Arial" panose="020B0604020202020204" pitchFamily="34" charset="0"/>
                          <a:ea typeface="Calibri" panose="020F0502020204030204" pitchFamily="34" charset="0"/>
                          <a:cs typeface="Arial" panose="020B0604020202020204" pitchFamily="34" charset="0"/>
                        </a:rPr>
                        <a:t>and feedback</a:t>
                      </a:r>
                    </a:p>
                  </a:txBody>
                  <a:tcPr/>
                </a:tc>
                <a:tc>
                  <a:txBody>
                    <a:bodyPr/>
                    <a:lstStyle/>
                    <a:p>
                      <a:r>
                        <a:rPr lang="en-US" sz="1200" dirty="0" smtClean="0">
                          <a:latin typeface="Arial" panose="020B0604020202020204" pitchFamily="34" charset="0"/>
                          <a:cs typeface="Arial" panose="020B0604020202020204" pitchFamily="34" charset="0"/>
                        </a:rPr>
                        <a:t>Vehicles, DSAs, </a:t>
                      </a:r>
                      <a:r>
                        <a:rPr lang="en-US" sz="1200" dirty="0" smtClean="0">
                          <a:latin typeface="Arial" panose="020B0604020202020204" pitchFamily="34" charset="0"/>
                          <a:cs typeface="Arial" panose="020B0604020202020204" pitchFamily="34" charset="0"/>
                        </a:rPr>
                        <a:t>Fuel,</a:t>
                      </a:r>
                      <a:r>
                        <a:rPr lang="en-US" sz="1200" baseline="0" dirty="0" smtClean="0">
                          <a:latin typeface="Arial" panose="020B0604020202020204" pitchFamily="34" charset="0"/>
                          <a:cs typeface="Arial" panose="020B0604020202020204" pitchFamily="34" charset="0"/>
                        </a:rPr>
                        <a:t> Stationery </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Quarterly</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Women Affairs</a:t>
                      </a:r>
                      <a:r>
                        <a:rPr lang="en-US" sz="1200" dirty="0" smtClean="0">
                          <a:latin typeface="Arial" panose="020B0604020202020204" pitchFamily="34" charset="0"/>
                          <a:cs typeface="Arial" panose="020B0604020202020204" pitchFamily="34" charset="0"/>
                        </a:rPr>
                        <a:t>,</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Ministry </a:t>
                      </a:r>
                      <a:r>
                        <a:rPr lang="en-US" sz="1200" baseline="0" dirty="0" smtClean="0">
                          <a:latin typeface="Arial" panose="020B0604020202020204" pitchFamily="34" charset="0"/>
                          <a:cs typeface="Arial" panose="020B0604020202020204" pitchFamily="34" charset="0"/>
                        </a:rPr>
                        <a:t>of </a:t>
                      </a:r>
                      <a:r>
                        <a:rPr lang="en-US" sz="1200" baseline="0" dirty="0" smtClean="0">
                          <a:latin typeface="Arial" panose="020B0604020202020204" pitchFamily="34" charset="0"/>
                          <a:cs typeface="Arial" panose="020B0604020202020204" pitchFamily="34" charset="0"/>
                        </a:rPr>
                        <a:t>Youth </a:t>
                      </a:r>
                      <a:r>
                        <a:rPr lang="en-US" sz="1200" dirty="0" smtClean="0">
                          <a:latin typeface="Arial" panose="020B0604020202020204" pitchFamily="34" charset="0"/>
                          <a:cs typeface="Arial" panose="020B0604020202020204" pitchFamily="34" charset="0"/>
                        </a:rPr>
                        <a:t>Local</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Government</a:t>
                      </a:r>
                      <a:r>
                        <a:rPr lang="en-US" sz="1200" baseline="0" dirty="0" smtClean="0">
                          <a:latin typeface="Arial" panose="020B0604020202020204" pitchFamily="34" charset="0"/>
                          <a:cs typeface="Arial" panose="020B0604020202020204" pitchFamily="34" charset="0"/>
                        </a:rPr>
                        <a:t>, </a:t>
                      </a:r>
                      <a:r>
                        <a:rPr lang="en-US" sz="1200" baseline="0" dirty="0" smtClean="0">
                          <a:latin typeface="Arial" panose="020B0604020202020204" pitchFamily="34" charset="0"/>
                          <a:cs typeface="Arial" panose="020B0604020202020204" pitchFamily="34" charset="0"/>
                        </a:rPr>
                        <a:t>MoHCC, </a:t>
                      </a:r>
                      <a:r>
                        <a:rPr lang="en-US" sz="1200" baseline="0" dirty="0" smtClean="0">
                          <a:latin typeface="Arial" panose="020B0604020202020204" pitchFamily="34" charset="0"/>
                          <a:cs typeface="Arial" panose="020B0604020202020204" pitchFamily="34" charset="0"/>
                        </a:rPr>
                        <a:t>DSD,AGRITEX</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1174323">
                <a:tc>
                  <a:txBody>
                    <a:bodyPr/>
                    <a:lstStyle/>
                    <a:p>
                      <a:pPr algn="ctr"/>
                      <a:r>
                        <a:rPr lang="en-US" sz="1200" b="1" dirty="0" smtClean="0">
                          <a:latin typeface="Arial" panose="020B0604020202020204" pitchFamily="34" charset="0"/>
                          <a:cs typeface="Arial" panose="020B0604020202020204" pitchFamily="34" charset="0"/>
                        </a:rPr>
                        <a:t>KRA 7 : </a:t>
                      </a:r>
                    </a:p>
                    <a:p>
                      <a:pPr marL="0" marR="0" algn="l">
                        <a:lnSpc>
                          <a:spcPct val="107000"/>
                        </a:lnSpc>
                        <a:spcBef>
                          <a:spcPts val="0"/>
                        </a:spcBef>
                        <a:spcAft>
                          <a:spcPts val="0"/>
                        </a:spcAft>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Enhancing and Strengthening Capacities for Food</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0"/>
                        </a:spcAft>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and Nutrition Security</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algn="ctr"/>
                      <a:endParaRPr lang="en-US" sz="1200" b="1" dirty="0">
                        <a:latin typeface="Arial" panose="020B0604020202020204" pitchFamily="34" charset="0"/>
                        <a:cs typeface="Arial" panose="020B0604020202020204" pitchFamily="34" charset="0"/>
                      </a:endParaRPr>
                    </a:p>
                  </a:txBody>
                  <a:tcPr anchor="ct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Joint</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kern="100" baseline="0" dirty="0" smtClean="0">
                          <a:effectLst/>
                          <a:latin typeface="Arial" panose="020B0604020202020204" pitchFamily="34" charset="0"/>
                          <a:ea typeface="Calibri" panose="020F0502020204030204" pitchFamily="34" charset="0"/>
                          <a:cs typeface="Arial" panose="020B0604020202020204" pitchFamily="34" charset="0"/>
                        </a:rPr>
                        <a:t> Water Quality Monitoring Visits</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 </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One water point per District/quater</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kern="100" dirty="0">
                          <a:effectLst/>
                          <a:latin typeface="Arial" panose="020B0604020202020204" pitchFamily="34" charset="0"/>
                          <a:ea typeface="Calibri" panose="020F0502020204030204" pitchFamily="34" charset="0"/>
                          <a:cs typeface="Arial" panose="020B0604020202020204" pitchFamily="34" charset="0"/>
                        </a:rPr>
                        <a:t>Number </a:t>
                      </a:r>
                      <a:r>
                        <a:rPr lang="en-US" sz="1200" kern="100" dirty="0" smtClean="0">
                          <a:effectLst/>
                          <a:latin typeface="Arial" panose="020B0604020202020204" pitchFamily="34" charset="0"/>
                          <a:ea typeface="Calibri" panose="020F0502020204030204" pitchFamily="34" charset="0"/>
                          <a:cs typeface="Arial" panose="020B0604020202020204" pitchFamily="34" charset="0"/>
                        </a:rPr>
                        <a:t>of Districts visited to assess water quality </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lvl="1" algn="l"/>
                      <a:r>
                        <a:rPr lang="en-US" sz="1200" b="0" strike="noStrike" dirty="0" smtClean="0">
                          <a:effectLst/>
                          <a:latin typeface="Arial" panose="020B0604020202020204" pitchFamily="34" charset="0"/>
                          <a:cs typeface="Arial" panose="020B0604020202020204" pitchFamily="34" charset="0"/>
                        </a:rPr>
                        <a:t>Vehicles and </a:t>
                      </a:r>
                      <a:r>
                        <a:rPr lang="en-US" sz="1200" b="0" strike="noStrike" dirty="0" smtClean="0">
                          <a:effectLst/>
                          <a:latin typeface="Arial" panose="020B0604020202020204" pitchFamily="34" charset="0"/>
                          <a:cs typeface="Arial" panose="020B0604020202020204" pitchFamily="34" charset="0"/>
                        </a:rPr>
                        <a:t>Fuels</a:t>
                      </a:r>
                      <a:r>
                        <a:rPr lang="en-US" sz="1200" b="0" strike="noStrike" baseline="0" dirty="0" smtClean="0">
                          <a:effectLst/>
                          <a:latin typeface="Arial" panose="020B0604020202020204" pitchFamily="34" charset="0"/>
                          <a:cs typeface="Arial" panose="020B0604020202020204" pitchFamily="34" charset="0"/>
                        </a:rPr>
                        <a:t> - </a:t>
                      </a:r>
                      <a:r>
                        <a:rPr lang="en-US" sz="1200" b="0" strike="noStrike" dirty="0" smtClean="0">
                          <a:effectLst/>
                          <a:latin typeface="Arial" panose="020B0604020202020204" pitchFamily="34" charset="0"/>
                          <a:cs typeface="Arial" panose="020B0604020202020204" pitchFamily="34" charset="0"/>
                        </a:rPr>
                        <a:t>200 Litres</a:t>
                      </a:r>
                      <a:endParaRPr lang="en-US" sz="1200" b="0" strike="noStrike" dirty="0">
                        <a:effectLst/>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Quarterly</a:t>
                      </a:r>
                    </a:p>
                    <a:p>
                      <a:endParaRPr lang="en-US" sz="1200" dirty="0" smtClean="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RIDA,</a:t>
                      </a:r>
                    </a:p>
                    <a:p>
                      <a:r>
                        <a:rPr lang="en-US" sz="1200" dirty="0" smtClean="0">
                          <a:latin typeface="Arial" panose="020B0604020202020204" pitchFamily="34" charset="0"/>
                          <a:cs typeface="Arial" panose="020B0604020202020204" pitchFamily="34" charset="0"/>
                        </a:rPr>
                        <a:t>MoHCC</a:t>
                      </a:r>
                      <a:endParaRPr lang="en-US" sz="12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76547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804180819"/>
              </p:ext>
            </p:extLst>
          </p:nvPr>
        </p:nvGraphicFramePr>
        <p:xfrm>
          <a:off x="142741" y="280160"/>
          <a:ext cx="11728174" cy="5111308"/>
        </p:xfrm>
        <a:graphic>
          <a:graphicData uri="http://schemas.openxmlformats.org/drawingml/2006/table">
            <a:tbl>
              <a:tblPr firstRow="1" bandRow="1">
                <a:tableStyleId>{5C22544A-7EE6-4342-B048-85BDC9FD1C3A}</a:tableStyleId>
              </a:tblPr>
              <a:tblGrid>
                <a:gridCol w="1462539">
                  <a:extLst>
                    <a:ext uri="{9D8B030D-6E8A-4147-A177-3AD203B41FA5}">
                      <a16:colId xmlns:a16="http://schemas.microsoft.com/office/drawing/2014/main" val="20000"/>
                    </a:ext>
                  </a:extLst>
                </a:gridCol>
                <a:gridCol w="2403901">
                  <a:extLst>
                    <a:ext uri="{9D8B030D-6E8A-4147-A177-3AD203B41FA5}">
                      <a16:colId xmlns:a16="http://schemas.microsoft.com/office/drawing/2014/main" val="20001"/>
                    </a:ext>
                  </a:extLst>
                </a:gridCol>
                <a:gridCol w="1653268">
                  <a:extLst>
                    <a:ext uri="{9D8B030D-6E8A-4147-A177-3AD203B41FA5}">
                      <a16:colId xmlns:a16="http://schemas.microsoft.com/office/drawing/2014/main" val="20002"/>
                    </a:ext>
                  </a:extLst>
                </a:gridCol>
                <a:gridCol w="1653268">
                  <a:extLst>
                    <a:ext uri="{9D8B030D-6E8A-4147-A177-3AD203B41FA5}">
                      <a16:colId xmlns:a16="http://schemas.microsoft.com/office/drawing/2014/main" val="20003"/>
                    </a:ext>
                  </a:extLst>
                </a:gridCol>
                <a:gridCol w="1444250">
                  <a:extLst>
                    <a:ext uri="{9D8B030D-6E8A-4147-A177-3AD203B41FA5}">
                      <a16:colId xmlns:a16="http://schemas.microsoft.com/office/drawing/2014/main" val="20004"/>
                    </a:ext>
                  </a:extLst>
                </a:gridCol>
                <a:gridCol w="1311965">
                  <a:extLst>
                    <a:ext uri="{9D8B030D-6E8A-4147-A177-3AD203B41FA5}">
                      <a16:colId xmlns:a16="http://schemas.microsoft.com/office/drawing/2014/main" val="20005"/>
                    </a:ext>
                  </a:extLst>
                </a:gridCol>
                <a:gridCol w="1798983">
                  <a:extLst>
                    <a:ext uri="{9D8B030D-6E8A-4147-A177-3AD203B41FA5}">
                      <a16:colId xmlns:a16="http://schemas.microsoft.com/office/drawing/2014/main" val="20006"/>
                    </a:ext>
                  </a:extLst>
                </a:gridCol>
              </a:tblGrid>
              <a:tr h="530397">
                <a:tc>
                  <a:txBody>
                    <a:bodyPr/>
                    <a:lstStyle/>
                    <a:p>
                      <a:pPr marL="0" marR="0" algn="l">
                        <a:lnSpc>
                          <a:spcPct val="107000"/>
                        </a:lnSpc>
                        <a:spcBef>
                          <a:spcPts val="0"/>
                        </a:spcBef>
                        <a:spcAft>
                          <a:spcPts val="800"/>
                        </a:spcAft>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Key</a:t>
                      </a:r>
                      <a:r>
                        <a:rPr lang="en-US" sz="1200" b="1" kern="100" baseline="0" dirty="0" smtClean="0">
                          <a:effectLst/>
                          <a:latin typeface="Arial" panose="020B0604020202020204" pitchFamily="34" charset="0"/>
                          <a:ea typeface="Calibri" panose="020F0502020204030204" pitchFamily="34" charset="0"/>
                          <a:cs typeface="Arial" panose="020B0604020202020204" pitchFamily="34" charset="0"/>
                        </a:rPr>
                        <a:t> Result Area</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Activity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Target</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Process Indicator</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Resources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0" kern="100" dirty="0">
                          <a:effectLst/>
                          <a:latin typeface="Arial" panose="020B0604020202020204" pitchFamily="34" charset="0"/>
                          <a:ea typeface="Calibri" panose="020F0502020204030204" pitchFamily="34" charset="0"/>
                          <a:cs typeface="Arial" panose="020B0604020202020204" pitchFamily="34" charset="0"/>
                        </a:rPr>
                        <a:t>Timeline</a:t>
                      </a: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Lead Agency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extLst>
                  <a:ext uri="{0D108BD9-81ED-4DB2-BD59-A6C34878D82A}">
                    <a16:rowId xmlns:a16="http://schemas.microsoft.com/office/drawing/2014/main" val="10000"/>
                  </a:ext>
                </a:extLst>
              </a:tr>
              <a:tr h="370840">
                <a:tc rowSpan="3">
                  <a:txBody>
                    <a:bodyPr/>
                    <a:lstStyle/>
                    <a:p>
                      <a:pPr algn="l"/>
                      <a:r>
                        <a:rPr lang="en-US" sz="1200" b="1" dirty="0" smtClean="0">
                          <a:latin typeface="Arial" panose="020B0604020202020204" pitchFamily="34" charset="0"/>
                          <a:cs typeface="Arial" panose="020B0604020202020204" pitchFamily="34" charset="0"/>
                        </a:rPr>
                        <a:t>KRA 7 : </a:t>
                      </a:r>
                    </a:p>
                    <a:p>
                      <a:pPr marL="0" marR="0" algn="l">
                        <a:lnSpc>
                          <a:spcPct val="107000"/>
                        </a:lnSpc>
                        <a:spcBef>
                          <a:spcPts val="0"/>
                        </a:spcBef>
                        <a:spcAft>
                          <a:spcPts val="0"/>
                        </a:spcAft>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Enhancing and Strengthening Capacities for Food</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marL="0" marR="0" algn="l">
                        <a:lnSpc>
                          <a:spcPct val="107000"/>
                        </a:lnSpc>
                        <a:spcBef>
                          <a:spcPts val="0"/>
                        </a:spcBef>
                        <a:spcAft>
                          <a:spcPts val="0"/>
                        </a:spcAft>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and Nutrition Security</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algn="ctr"/>
                      <a:endParaRPr lang="en-US" sz="1200" b="1" dirty="0" smtClean="0">
                        <a:latin typeface="Arial" panose="020B0604020202020204" pitchFamily="34" charset="0"/>
                        <a:cs typeface="Arial" panose="020B0604020202020204" pitchFamily="34" charset="0"/>
                      </a:endParaRPr>
                    </a:p>
                    <a:p>
                      <a:pPr algn="ctr"/>
                      <a:endParaRPr lang="en-US" sz="1200" b="1" dirty="0">
                        <a:latin typeface="Arial" panose="020B0604020202020204" pitchFamily="34" charset="0"/>
                        <a:cs typeface="Arial" panose="020B0604020202020204" pitchFamily="34" charset="0"/>
                      </a:endParaRPr>
                    </a:p>
                  </a:txBody>
                  <a:tcPr anchor="ctr"/>
                </a:tc>
                <a:tc>
                  <a:txBody>
                    <a:bodyPr/>
                    <a:lstStyle/>
                    <a:p>
                      <a:r>
                        <a:rPr lang="en-US" sz="1200" b="0" dirty="0" smtClean="0">
                          <a:solidFill>
                            <a:schemeClr val="tx1"/>
                          </a:solidFill>
                          <a:latin typeface="Arial" panose="020B0604020202020204" pitchFamily="34" charset="0"/>
                          <a:cs typeface="Arial" panose="020B0604020202020204" pitchFamily="34" charset="0"/>
                        </a:rPr>
                        <a:t>Strengthen Provincial Food</a:t>
                      </a:r>
                      <a:r>
                        <a:rPr lang="en-US" sz="1200" b="0" baseline="0" dirty="0" smtClean="0">
                          <a:solidFill>
                            <a:schemeClr val="tx1"/>
                          </a:solidFill>
                          <a:latin typeface="Arial" panose="020B0604020202020204" pitchFamily="34" charset="0"/>
                          <a:cs typeface="Arial" panose="020B0604020202020204" pitchFamily="34" charset="0"/>
                        </a:rPr>
                        <a:t> and Nutrition Security committee coordination</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Provincial food</a:t>
                      </a:r>
                      <a:r>
                        <a:rPr lang="en-US" sz="1200" b="0" baseline="0" dirty="0" smtClean="0">
                          <a:solidFill>
                            <a:schemeClr val="tx1"/>
                          </a:solidFill>
                          <a:latin typeface="Arial" panose="020B0604020202020204" pitchFamily="34" charset="0"/>
                          <a:cs typeface="Arial" panose="020B0604020202020204" pitchFamily="34" charset="0"/>
                        </a:rPr>
                        <a:t> and nutrition security committee quarterly meetings</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Number of PFNSC meetings conducted.</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Lunches</a:t>
                      </a:r>
                      <a:r>
                        <a:rPr lang="en-US" sz="1200" b="0" baseline="0" dirty="0" smtClean="0">
                          <a:solidFill>
                            <a:schemeClr val="tx1"/>
                          </a:solidFill>
                          <a:latin typeface="Arial" panose="020B0604020202020204" pitchFamily="34" charset="0"/>
                          <a:cs typeface="Arial" panose="020B0604020202020204" pitchFamily="34" charset="0"/>
                        </a:rPr>
                        <a:t> and </a:t>
                      </a:r>
                      <a:r>
                        <a:rPr lang="en-US" sz="1200" b="0" baseline="0" dirty="0" smtClean="0">
                          <a:solidFill>
                            <a:schemeClr val="tx1"/>
                          </a:solidFill>
                          <a:latin typeface="Arial" panose="020B0604020202020204" pitchFamily="34" charset="0"/>
                          <a:cs typeface="Arial" panose="020B0604020202020204" pitchFamily="34" charset="0"/>
                        </a:rPr>
                        <a:t>Refreshments</a:t>
                      </a:r>
                      <a:r>
                        <a:rPr lang="en-US" sz="1200" b="0" baseline="0" dirty="0" smtClean="0">
                          <a:solidFill>
                            <a:schemeClr val="tx1"/>
                          </a:solidFill>
                          <a:latin typeface="Arial" panose="020B0604020202020204" pitchFamily="34" charset="0"/>
                          <a:cs typeface="Arial" panose="020B0604020202020204" pitchFamily="34" charset="0"/>
                        </a:rPr>
                        <a:t>, </a:t>
                      </a:r>
                      <a:r>
                        <a:rPr lang="en-US" sz="1200" b="0" baseline="0" dirty="0" smtClean="0">
                          <a:solidFill>
                            <a:schemeClr val="tx1"/>
                          </a:solidFill>
                          <a:latin typeface="Arial" panose="020B0604020202020204" pitchFamily="34" charset="0"/>
                          <a:cs typeface="Arial" panose="020B0604020202020204" pitchFamily="34" charset="0"/>
                        </a:rPr>
                        <a:t>Projector</a:t>
                      </a:r>
                      <a:r>
                        <a:rPr lang="en-US" sz="1200" b="0" baseline="0" dirty="0" smtClean="0">
                          <a:solidFill>
                            <a:schemeClr val="tx1"/>
                          </a:solidFill>
                          <a:latin typeface="Arial" panose="020B0604020202020204" pitchFamily="34" charset="0"/>
                          <a:cs typeface="Arial" panose="020B0604020202020204" pitchFamily="34" charset="0"/>
                        </a:rPr>
                        <a:t>, Stationery, </a:t>
                      </a:r>
                      <a:r>
                        <a:rPr lang="en-US" sz="1200" b="0" baseline="0" dirty="0" smtClean="0">
                          <a:solidFill>
                            <a:schemeClr val="tx1"/>
                          </a:solidFill>
                          <a:latin typeface="Arial" panose="020B0604020202020204" pitchFamily="34" charset="0"/>
                          <a:cs typeface="Arial" panose="020B0604020202020204" pitchFamily="34" charset="0"/>
                        </a:rPr>
                        <a:t>Printer </a:t>
                      </a:r>
                      <a:r>
                        <a:rPr lang="en-US" sz="1200" b="0" baseline="0" dirty="0" smtClean="0">
                          <a:solidFill>
                            <a:schemeClr val="tx1"/>
                          </a:solidFill>
                          <a:latin typeface="Arial" panose="020B0604020202020204" pitchFamily="34" charset="0"/>
                          <a:cs typeface="Arial" panose="020B0604020202020204" pitchFamily="34" charset="0"/>
                        </a:rPr>
                        <a:t>and </a:t>
                      </a:r>
                      <a:r>
                        <a:rPr lang="en-US" sz="1200" b="0" baseline="0" dirty="0" smtClean="0">
                          <a:solidFill>
                            <a:schemeClr val="tx1"/>
                          </a:solidFill>
                          <a:latin typeface="Arial" panose="020B0604020202020204" pitchFamily="34" charset="0"/>
                          <a:cs typeface="Arial" panose="020B0604020202020204" pitchFamily="34" charset="0"/>
                        </a:rPr>
                        <a:t>Laptop</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Quarterly</a:t>
                      </a:r>
                      <a:endParaRPr lang="en-US" sz="1200" b="0" dirty="0">
                        <a:solidFill>
                          <a:schemeClr val="tx1"/>
                        </a:solidFill>
                        <a:latin typeface="Arial" panose="020B0604020202020204" pitchFamily="34" charset="0"/>
                        <a:cs typeface="Arial" panose="020B0604020202020204" pitchFamily="34" charset="0"/>
                      </a:endParaRPr>
                    </a:p>
                  </a:txBody>
                  <a:tcPr/>
                </a:tc>
                <a:tc>
                  <a:txBody>
                    <a:bodyPr/>
                    <a:lstStyle/>
                    <a:p>
                      <a:r>
                        <a:rPr lang="en-US" sz="1200" b="0" dirty="0" smtClean="0">
                          <a:solidFill>
                            <a:schemeClr val="tx1"/>
                          </a:solidFill>
                          <a:latin typeface="Arial" panose="020B0604020202020204" pitchFamily="34" charset="0"/>
                          <a:cs typeface="Arial" panose="020B0604020202020204" pitchFamily="34" charset="0"/>
                        </a:rPr>
                        <a:t>All PFNSC members,</a:t>
                      </a:r>
                      <a:r>
                        <a:rPr lang="en-US" sz="1200" b="0" baseline="0" dirty="0" smtClean="0">
                          <a:solidFill>
                            <a:schemeClr val="tx1"/>
                          </a:solidFill>
                          <a:latin typeface="Arial" panose="020B0604020202020204" pitchFamily="34" charset="0"/>
                          <a:cs typeface="Arial" panose="020B0604020202020204" pitchFamily="34" charset="0"/>
                        </a:rPr>
                        <a:t> ACF consortium, CTDO and </a:t>
                      </a:r>
                      <a:r>
                        <a:rPr lang="en-US" sz="1200" b="0" baseline="0" dirty="0" smtClean="0">
                          <a:solidFill>
                            <a:schemeClr val="tx1"/>
                          </a:solidFill>
                          <a:latin typeface="Arial" panose="020B0604020202020204" pitchFamily="34" charset="0"/>
                          <a:cs typeface="Arial" panose="020B0604020202020204" pitchFamily="34" charset="0"/>
                        </a:rPr>
                        <a:t>Other Partners </a:t>
                      </a:r>
                      <a:r>
                        <a:rPr lang="en-US" sz="1200" b="0" baseline="0" dirty="0" smtClean="0">
                          <a:solidFill>
                            <a:schemeClr val="tx1"/>
                          </a:solidFill>
                          <a:latin typeface="Arial" panose="020B0604020202020204" pitchFamily="34" charset="0"/>
                          <a:cs typeface="Arial" panose="020B0604020202020204" pitchFamily="34" charset="0"/>
                        </a:rPr>
                        <a:t>in the </a:t>
                      </a:r>
                      <a:r>
                        <a:rPr lang="en-US" sz="1200" b="0" baseline="0" dirty="0" smtClean="0">
                          <a:solidFill>
                            <a:schemeClr val="tx1"/>
                          </a:solidFill>
                          <a:latin typeface="Arial" panose="020B0604020202020204" pitchFamily="34" charset="0"/>
                          <a:cs typeface="Arial" panose="020B0604020202020204" pitchFamily="34" charset="0"/>
                        </a:rPr>
                        <a:t>Province</a:t>
                      </a:r>
                      <a:endParaRPr lang="en-US" sz="1200" b="0" dirty="0">
                        <a:solidFill>
                          <a:schemeClr val="tx1"/>
                        </a:solidFill>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r h="1963123">
                <a:tc vMerge="1">
                  <a:txBody>
                    <a:bodyPr/>
                    <a:lstStyle/>
                    <a:p>
                      <a:pPr algn="ctr"/>
                      <a:endParaRPr lang="en-US" sz="1100" b="1" dirty="0"/>
                    </a:p>
                  </a:txBody>
                  <a:tcPr anchor="ctr"/>
                </a:tc>
                <a:tc>
                  <a:txBody>
                    <a:bodyPr/>
                    <a:lstStyle/>
                    <a:p>
                      <a:pPr marL="0" marR="0" algn="just">
                        <a:lnSpc>
                          <a:spcPct val="107000"/>
                        </a:lnSpc>
                        <a:spcBef>
                          <a:spcPts val="0"/>
                        </a:spcBef>
                        <a:spcAft>
                          <a:spcPts val="800"/>
                        </a:spcAft>
                      </a:pPr>
                      <a:r>
                        <a:rPr lang="en-US" sz="1200" b="0" kern="100" dirty="0">
                          <a:effectLst/>
                          <a:latin typeface="Arial" panose="020B0604020202020204" pitchFamily="34" charset="0"/>
                          <a:ea typeface="Calibri" panose="020F0502020204030204" pitchFamily="34" charset="0"/>
                          <a:cs typeface="Arial" panose="020B0604020202020204" pitchFamily="34" charset="0"/>
                        </a:rPr>
                        <a:t>Conduct Monitoring Visits to </a:t>
                      </a:r>
                      <a:r>
                        <a:rPr lang="en-US" sz="1200" b="0" kern="100" dirty="0" smtClean="0">
                          <a:effectLst/>
                          <a:latin typeface="Arial" panose="020B0604020202020204" pitchFamily="34" charset="0"/>
                          <a:ea typeface="Calibri" panose="020F0502020204030204" pitchFamily="34" charset="0"/>
                          <a:cs typeface="Arial" panose="020B0604020202020204" pitchFamily="34" charset="0"/>
                        </a:rPr>
                        <a:t>Community</a:t>
                      </a:r>
                      <a:r>
                        <a:rPr lang="en-US" sz="1200" b="0" kern="100" baseline="0" dirty="0" smtClean="0">
                          <a:effectLst/>
                          <a:latin typeface="Arial" panose="020B0604020202020204" pitchFamily="34" charset="0"/>
                          <a:ea typeface="Calibri" panose="020F0502020204030204" pitchFamily="34" charset="0"/>
                          <a:cs typeface="Arial" panose="020B0604020202020204" pitchFamily="34" charset="0"/>
                        </a:rPr>
                        <a:t> and </a:t>
                      </a:r>
                      <a:r>
                        <a:rPr lang="en-US" sz="1200" b="0" kern="100" baseline="0" dirty="0" smtClean="0">
                          <a:effectLst/>
                          <a:latin typeface="Arial" panose="020B0604020202020204" pitchFamily="34" charset="0"/>
                          <a:ea typeface="Calibri" panose="020F0502020204030204" pitchFamily="34" charset="0"/>
                          <a:cs typeface="Arial" panose="020B0604020202020204" pitchFamily="34" charset="0"/>
                        </a:rPr>
                        <a:t>Nutritional Gardens</a:t>
                      </a:r>
                      <a:r>
                        <a:rPr lang="en-US" sz="1200" b="0" kern="100" baseline="0" dirty="0" smtClean="0">
                          <a:effectLst/>
                          <a:latin typeface="Arial" panose="020B0604020202020204" pitchFamily="34" charset="0"/>
                          <a:ea typeface="Calibri" panose="020F0502020204030204" pitchFamily="34" charset="0"/>
                          <a:cs typeface="Arial" panose="020B0604020202020204" pitchFamily="34" charset="0"/>
                        </a:rPr>
                        <a:t>/ </a:t>
                      </a:r>
                      <a:r>
                        <a:rPr lang="en-US" sz="1200" b="0" kern="100" baseline="0" dirty="0" smtClean="0">
                          <a:effectLst/>
                          <a:latin typeface="Arial" panose="020B0604020202020204" pitchFamily="34" charset="0"/>
                          <a:ea typeface="Calibri" panose="020F0502020204030204" pitchFamily="34" charset="0"/>
                          <a:cs typeface="Arial" panose="020B0604020202020204" pitchFamily="34" charset="0"/>
                        </a:rPr>
                        <a:t>Projects </a:t>
                      </a:r>
                      <a:endParaRPr lang="en-US" sz="1200" b="0" kern="100" dirty="0">
                        <a:effectLst/>
                        <a:latin typeface="Arial" panose="020B0604020202020204" pitchFamily="34" charset="0"/>
                        <a:ea typeface="Calibri" panose="020F0502020204030204" pitchFamily="34" charset="0"/>
                        <a:cs typeface="Arial" panose="020B0604020202020204" pitchFamily="34" charset="0"/>
                      </a:endParaRPr>
                    </a:p>
                    <a:p>
                      <a:pPr marL="0" marR="0" algn="just">
                        <a:lnSpc>
                          <a:spcPct val="107000"/>
                        </a:lnSpc>
                        <a:spcBef>
                          <a:spcPts val="0"/>
                        </a:spcBef>
                        <a:spcAft>
                          <a:spcPts val="800"/>
                        </a:spcAft>
                      </a:pPr>
                      <a:r>
                        <a:rPr lang="en-US" sz="1200" b="0" kern="100" dirty="0">
                          <a:effectLst/>
                          <a:latin typeface="Arial" panose="020B0604020202020204" pitchFamily="34" charset="0"/>
                          <a:ea typeface="Calibri" panose="020F0502020204030204" pitchFamily="34" charset="0"/>
                          <a:cs typeface="Arial" panose="020B0604020202020204" pitchFamily="34" charset="0"/>
                        </a:rPr>
                        <a:t> </a:t>
                      </a:r>
                    </a:p>
                  </a:txBody>
                  <a:tcPr/>
                </a:tc>
                <a:tc>
                  <a:txBody>
                    <a:bodyPr/>
                    <a:lstStyle/>
                    <a:p>
                      <a:r>
                        <a:rPr lang="en-US" sz="1200" b="0" dirty="0" smtClean="0">
                          <a:latin typeface="Arial" panose="020B0604020202020204" pitchFamily="34" charset="0"/>
                          <a:cs typeface="Arial" panose="020B0604020202020204" pitchFamily="34" charset="0"/>
                        </a:rPr>
                        <a:t>8</a:t>
                      </a:r>
                      <a:r>
                        <a:rPr lang="en-US" sz="1200" b="0" baseline="0" dirty="0" smtClean="0">
                          <a:latin typeface="Arial" panose="020B0604020202020204" pitchFamily="34" charset="0"/>
                          <a:cs typeface="Arial" panose="020B0604020202020204" pitchFamily="34" charset="0"/>
                        </a:rPr>
                        <a:t> community gardens per quarter</a:t>
                      </a:r>
                      <a:endParaRPr lang="en-US" sz="1200" b="0" dirty="0">
                        <a:latin typeface="Arial" panose="020B060402020202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0" kern="100" dirty="0">
                          <a:effectLst/>
                          <a:latin typeface="Arial" panose="020B0604020202020204" pitchFamily="34" charset="0"/>
                          <a:ea typeface="Calibri" panose="020F0502020204030204" pitchFamily="34" charset="0"/>
                          <a:cs typeface="Arial" panose="020B0604020202020204" pitchFamily="34" charset="0"/>
                        </a:rPr>
                        <a:t>Proportion of  Joint monitoring of FNS projects at </a:t>
                      </a:r>
                      <a:r>
                        <a:rPr lang="en-US" sz="1200" b="0" kern="100" dirty="0" smtClean="0">
                          <a:effectLst/>
                          <a:latin typeface="Arial" panose="020B0604020202020204" pitchFamily="34" charset="0"/>
                          <a:ea typeface="Calibri" panose="020F0502020204030204" pitchFamily="34" charset="0"/>
                          <a:cs typeface="Arial" panose="020B0604020202020204" pitchFamily="34" charset="0"/>
                        </a:rPr>
                        <a:t>provincial </a:t>
                      </a:r>
                      <a:r>
                        <a:rPr lang="en-US" sz="1200" b="0" kern="100" dirty="0">
                          <a:effectLst/>
                          <a:latin typeface="Arial" panose="020B0604020202020204" pitchFamily="34" charset="0"/>
                          <a:ea typeface="Calibri" panose="020F0502020204030204" pitchFamily="34" charset="0"/>
                          <a:cs typeface="Arial" panose="020B0604020202020204" pitchFamily="34" charset="0"/>
                        </a:rPr>
                        <a:t>level</a:t>
                      </a:r>
                    </a:p>
                  </a:txBody>
                  <a:tcPr/>
                </a:tc>
                <a:tc>
                  <a:txBody>
                    <a:bodyPr/>
                    <a:lstStyle/>
                    <a:p>
                      <a:r>
                        <a:rPr lang="en-US" sz="1200" b="0" baseline="0" dirty="0" smtClean="0">
                          <a:latin typeface="Arial" panose="020B0604020202020204" pitchFamily="34" charset="0"/>
                          <a:cs typeface="Arial" panose="020B0604020202020204" pitchFamily="34" charset="0"/>
                        </a:rPr>
                        <a:t> </a:t>
                      </a:r>
                      <a:r>
                        <a:rPr lang="en-US" sz="1200" b="0" baseline="0" dirty="0" smtClean="0">
                          <a:latin typeface="Arial" panose="020B0604020202020204" pitchFamily="34" charset="0"/>
                          <a:cs typeface="Arial" panose="020B0604020202020204" pitchFamily="34" charset="0"/>
                        </a:rPr>
                        <a:t>DSA, Vehicle, Fuel </a:t>
                      </a:r>
                      <a:endParaRPr lang="en-US" sz="1200" b="0" dirty="0">
                        <a:latin typeface="Arial" panose="020B0604020202020204" pitchFamily="34" charset="0"/>
                        <a:cs typeface="Arial" panose="020B0604020202020204" pitchFamily="34" charset="0"/>
                      </a:endParaRPr>
                    </a:p>
                  </a:txBody>
                  <a:tcPr/>
                </a:tc>
                <a:tc>
                  <a:txBody>
                    <a:bodyPr/>
                    <a:lstStyle/>
                    <a:p>
                      <a:r>
                        <a:rPr lang="en-US" sz="1200" b="0" dirty="0" smtClean="0">
                          <a:latin typeface="Arial" panose="020B0604020202020204" pitchFamily="34" charset="0"/>
                          <a:cs typeface="Arial" panose="020B0604020202020204" pitchFamily="34" charset="0"/>
                        </a:rPr>
                        <a:t>1 Jan – 31 Dec 2025</a:t>
                      </a:r>
                      <a:endParaRPr lang="en-US" sz="1200" b="0" dirty="0">
                        <a:latin typeface="Arial" panose="020B0604020202020204" pitchFamily="34" charset="0"/>
                        <a:cs typeface="Arial" panose="020B0604020202020204" pitchFamily="34" charset="0"/>
                      </a:endParaRPr>
                    </a:p>
                  </a:txBody>
                  <a:tcPr/>
                </a:tc>
                <a:tc>
                  <a:txBody>
                    <a:bodyPr/>
                    <a:lstStyle/>
                    <a:p>
                      <a:r>
                        <a:rPr lang="en-US" sz="1200" b="0" dirty="0" err="1" smtClean="0">
                          <a:latin typeface="Arial" panose="020B0604020202020204" pitchFamily="34" charset="0"/>
                          <a:cs typeface="Arial" panose="020B0604020202020204" pitchFamily="34" charset="0"/>
                        </a:rPr>
                        <a:t>Agritex</a:t>
                      </a:r>
                      <a:r>
                        <a:rPr lang="en-US" sz="1200" b="0" baseline="0" dirty="0" smtClean="0">
                          <a:latin typeface="Arial" panose="020B0604020202020204" pitchFamily="34" charset="0"/>
                          <a:cs typeface="Arial" panose="020B0604020202020204" pitchFamily="34" charset="0"/>
                        </a:rPr>
                        <a:t> , women affairs, </a:t>
                      </a:r>
                      <a:r>
                        <a:rPr lang="en-US" sz="1200" b="0" baseline="0" dirty="0" smtClean="0">
                          <a:latin typeface="Arial" panose="020B0604020202020204" pitchFamily="34" charset="0"/>
                          <a:cs typeface="Arial" panose="020B0604020202020204" pitchFamily="34" charset="0"/>
                        </a:rPr>
                        <a:t>MoHCC</a:t>
                      </a:r>
                      <a:endParaRPr lang="en-US" sz="1200" b="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2"/>
                  </a:ext>
                </a:extLst>
              </a:tr>
              <a:tr h="370840">
                <a:tc vMerge="1">
                  <a:txBody>
                    <a:bodyPr/>
                    <a:lstStyle/>
                    <a:p>
                      <a:pPr algn="ctr"/>
                      <a:endParaRPr lang="en-US" sz="1800" b="1" dirty="0"/>
                    </a:p>
                  </a:txBody>
                  <a:tcPr anchor="ctr"/>
                </a:tc>
                <a:tc>
                  <a:txBody>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1.</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Ward Extension </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Staff Capacity Building</a:t>
                      </a:r>
                      <a:endPar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2.Capacity </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Building </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on Citizen Journalism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-119 Ward Youth Coordinators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- 34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Junior Member of Parliament</a:t>
                      </a:r>
                      <a:endPar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- 232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Junior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Councilors</a:t>
                      </a:r>
                    </a:p>
                  </a:txBody>
                  <a:tcPr/>
                </a:tc>
                <a:tc>
                  <a:txBody>
                    <a:bodyPr/>
                    <a:lstStyle/>
                    <a:p>
                      <a:pPr marL="0" marR="0" algn="l">
                        <a:lnSpc>
                          <a:spcPct val="107000"/>
                        </a:lnSpc>
                        <a:spcBef>
                          <a:spcPts val="0"/>
                        </a:spcBef>
                        <a:spcAft>
                          <a:spcPts val="800"/>
                        </a:spcAft>
                      </a:pPr>
                      <a:r>
                        <a:rPr lang="en-US" sz="1200" kern="100" dirty="0" smtClean="0">
                          <a:effectLst/>
                          <a:latin typeface="Arial" panose="020B0604020202020204" pitchFamily="34" charset="0"/>
                          <a:ea typeface="Calibri" panose="020F0502020204030204" pitchFamily="34" charset="0"/>
                          <a:cs typeface="Arial" panose="020B0604020202020204" pitchFamily="34" charset="0"/>
                        </a:rPr>
                        <a:t>-</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Number of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Ward Youth Coordinators</a:t>
                      </a:r>
                    </a:p>
                    <a:p>
                      <a:pPr marL="0" marR="0" algn="l">
                        <a:lnSpc>
                          <a:spcPct val="107000"/>
                        </a:lnSpc>
                        <a:spcBef>
                          <a:spcPts val="0"/>
                        </a:spcBef>
                        <a:spcAft>
                          <a:spcPts val="800"/>
                        </a:spcAft>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Number of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Jnr MPs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Number of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Jnr Councilors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endParaRPr>
                    </a:p>
                    <a:p>
                      <a:pPr marL="0" marR="0" algn="l">
                        <a:lnSpc>
                          <a:spcPct val="107000"/>
                        </a:lnSpc>
                        <a:spcBef>
                          <a:spcPts val="0"/>
                        </a:spcBef>
                        <a:spcAft>
                          <a:spcPts val="800"/>
                        </a:spcAft>
                      </a:pP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Food and refreshments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-Stationary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-Allowance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-Transport</a:t>
                      </a:r>
                    </a:p>
                    <a:p>
                      <a:r>
                        <a:rPr lang="en-US" sz="1200" dirty="0" smtClean="0">
                          <a:latin typeface="Arial" panose="020B0604020202020204" pitchFamily="34" charset="0"/>
                          <a:cs typeface="Arial" panose="020B0604020202020204" pitchFamily="34" charset="0"/>
                        </a:rPr>
                        <a:t>-Bus fares </a:t>
                      </a:r>
                    </a:p>
                    <a:p>
                      <a:r>
                        <a:rPr lang="en-US" sz="1200" dirty="0" smtClean="0">
                          <a:latin typeface="Arial" panose="020B0604020202020204" pitchFamily="34" charset="0"/>
                          <a:cs typeface="Arial" panose="020B0604020202020204" pitchFamily="34" charset="0"/>
                        </a:rPr>
                        <a:t>-Accommodation</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1 Mar –  31 Aug 2025</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Ministry of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Youth,</a:t>
                      </a:r>
                      <a:endPar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Zimbabwe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Youth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Council, Vocational </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Training </a:t>
                      </a:r>
                      <a:r>
                        <a:rPr kumimoji="0" lang="en-US" sz="1200" b="0" i="0" u="none" strike="noStrike" kern="1200" cap="none" spc="0" normalizeH="0" baseline="0" noProof="0" dirty="0" err="1" smtClean="0">
                          <a:ln>
                            <a:noFill/>
                          </a:ln>
                          <a:solidFill>
                            <a:prstClr val="black"/>
                          </a:solidFill>
                          <a:effectLst/>
                          <a:uLnTx/>
                          <a:uFillTx/>
                          <a:latin typeface="Arial" panose="020B0604020202020204" pitchFamily="34" charset="0"/>
                          <a:cs typeface="Arial" panose="020B0604020202020204" pitchFamily="34" charset="0"/>
                        </a:rPr>
                        <a:t>Centres</a:t>
                      </a: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 ARDAS, MOPSE</a:t>
                      </a:r>
                      <a:endPar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57647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882558032"/>
              </p:ext>
            </p:extLst>
          </p:nvPr>
        </p:nvGraphicFramePr>
        <p:xfrm>
          <a:off x="256309" y="0"/>
          <a:ext cx="11728174" cy="1770425"/>
        </p:xfrm>
        <a:graphic>
          <a:graphicData uri="http://schemas.openxmlformats.org/drawingml/2006/table">
            <a:tbl>
              <a:tblPr firstRow="1" bandRow="1">
                <a:tableStyleId>{5C22544A-7EE6-4342-B048-85BDC9FD1C3A}</a:tableStyleId>
              </a:tblPr>
              <a:tblGrid>
                <a:gridCol w="2213172">
                  <a:extLst>
                    <a:ext uri="{9D8B030D-6E8A-4147-A177-3AD203B41FA5}">
                      <a16:colId xmlns:a16="http://schemas.microsoft.com/office/drawing/2014/main" val="20000"/>
                    </a:ext>
                  </a:extLst>
                </a:gridCol>
                <a:gridCol w="1653268">
                  <a:extLst>
                    <a:ext uri="{9D8B030D-6E8A-4147-A177-3AD203B41FA5}">
                      <a16:colId xmlns:a16="http://schemas.microsoft.com/office/drawing/2014/main" val="20001"/>
                    </a:ext>
                  </a:extLst>
                </a:gridCol>
                <a:gridCol w="1653268">
                  <a:extLst>
                    <a:ext uri="{9D8B030D-6E8A-4147-A177-3AD203B41FA5}">
                      <a16:colId xmlns:a16="http://schemas.microsoft.com/office/drawing/2014/main" val="20002"/>
                    </a:ext>
                  </a:extLst>
                </a:gridCol>
                <a:gridCol w="1653268">
                  <a:extLst>
                    <a:ext uri="{9D8B030D-6E8A-4147-A177-3AD203B41FA5}">
                      <a16:colId xmlns:a16="http://schemas.microsoft.com/office/drawing/2014/main" val="20003"/>
                    </a:ext>
                  </a:extLst>
                </a:gridCol>
                <a:gridCol w="1444250">
                  <a:extLst>
                    <a:ext uri="{9D8B030D-6E8A-4147-A177-3AD203B41FA5}">
                      <a16:colId xmlns:a16="http://schemas.microsoft.com/office/drawing/2014/main" val="20004"/>
                    </a:ext>
                  </a:extLst>
                </a:gridCol>
                <a:gridCol w="1311965">
                  <a:extLst>
                    <a:ext uri="{9D8B030D-6E8A-4147-A177-3AD203B41FA5}">
                      <a16:colId xmlns:a16="http://schemas.microsoft.com/office/drawing/2014/main" val="20005"/>
                    </a:ext>
                  </a:extLst>
                </a:gridCol>
                <a:gridCol w="1798983">
                  <a:extLst>
                    <a:ext uri="{9D8B030D-6E8A-4147-A177-3AD203B41FA5}">
                      <a16:colId xmlns:a16="http://schemas.microsoft.com/office/drawing/2014/main" val="20006"/>
                    </a:ext>
                  </a:extLst>
                </a:gridCol>
              </a:tblGrid>
              <a:tr h="530397">
                <a:tc>
                  <a:txBody>
                    <a:bodyPr/>
                    <a:lstStyle/>
                    <a:p>
                      <a:pPr marL="0" marR="0" algn="l">
                        <a:lnSpc>
                          <a:spcPct val="107000"/>
                        </a:lnSpc>
                        <a:spcBef>
                          <a:spcPts val="0"/>
                        </a:spcBef>
                        <a:spcAft>
                          <a:spcPts val="800"/>
                        </a:spcAft>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Key</a:t>
                      </a:r>
                      <a:r>
                        <a:rPr lang="en-US" sz="1200" b="1" kern="100" baseline="0" dirty="0" smtClean="0">
                          <a:effectLst/>
                          <a:latin typeface="Arial" panose="020B0604020202020204" pitchFamily="34" charset="0"/>
                          <a:ea typeface="Calibri" panose="020F0502020204030204" pitchFamily="34" charset="0"/>
                          <a:cs typeface="Arial" panose="020B0604020202020204" pitchFamily="34" charset="0"/>
                        </a:rPr>
                        <a:t> Result Area</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Activity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Target</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Process Indicator</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Resources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algn="l">
                        <a:lnSpc>
                          <a:spcPct val="107000"/>
                        </a:lnSpc>
                        <a:spcBef>
                          <a:spcPts val="0"/>
                        </a:spcBef>
                        <a:spcAft>
                          <a:spcPts val="800"/>
                        </a:spcAft>
                      </a:pPr>
                      <a:r>
                        <a:rPr lang="en-US" sz="1200" b="0" kern="100" dirty="0">
                          <a:effectLst/>
                          <a:latin typeface="Arial" panose="020B0604020202020204" pitchFamily="34" charset="0"/>
                          <a:ea typeface="Calibri" panose="020F0502020204030204" pitchFamily="34" charset="0"/>
                          <a:cs typeface="Arial" panose="020B0604020202020204" pitchFamily="34" charset="0"/>
                        </a:rPr>
                        <a:t>Timeline</a:t>
                      </a:r>
                    </a:p>
                  </a:txBody>
                  <a:tcPr/>
                </a:tc>
                <a:tc>
                  <a:txBody>
                    <a:bodyPr/>
                    <a:lstStyle/>
                    <a:p>
                      <a:pPr marL="0" marR="0" algn="l">
                        <a:lnSpc>
                          <a:spcPct val="107000"/>
                        </a:lnSpc>
                        <a:spcBef>
                          <a:spcPts val="0"/>
                        </a:spcBef>
                        <a:spcAft>
                          <a:spcPts val="800"/>
                        </a:spcAft>
                      </a:pPr>
                      <a:r>
                        <a:rPr lang="en-US" sz="1200" b="1" kern="100" dirty="0">
                          <a:effectLst/>
                          <a:latin typeface="Arial" panose="020B0604020202020204" pitchFamily="34" charset="0"/>
                          <a:ea typeface="Calibri" panose="020F0502020204030204" pitchFamily="34" charset="0"/>
                          <a:cs typeface="Arial" panose="020B0604020202020204" pitchFamily="34" charset="0"/>
                        </a:rPr>
                        <a:t>Lead Agency</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extLst>
                  <a:ext uri="{0D108BD9-81ED-4DB2-BD59-A6C34878D82A}">
                    <a16:rowId xmlns:a16="http://schemas.microsoft.com/office/drawing/2014/main" val="10000"/>
                  </a:ext>
                </a:extLst>
              </a:tr>
              <a:tr h="370840">
                <a:tc>
                  <a:txBody>
                    <a:bodyPr/>
                    <a:lstStyle/>
                    <a:p>
                      <a:pPr algn="ctr"/>
                      <a:r>
                        <a:rPr lang="en-US" sz="1200" b="1" dirty="0" smtClean="0">
                          <a:latin typeface="Arial" panose="020B0604020202020204" pitchFamily="34" charset="0"/>
                          <a:cs typeface="Arial" panose="020B0604020202020204" pitchFamily="34" charset="0"/>
                        </a:rPr>
                        <a:t>KRA 7 : </a:t>
                      </a:r>
                    </a:p>
                    <a:p>
                      <a:pPr marL="0" marR="0" algn="ctr">
                        <a:lnSpc>
                          <a:spcPct val="107000"/>
                        </a:lnSpc>
                        <a:spcBef>
                          <a:spcPts val="0"/>
                        </a:spcBef>
                        <a:spcAft>
                          <a:spcPts val="0"/>
                        </a:spcAft>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Enhancing and Strengthening Capacities for Food</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marL="0" marR="0" algn="ctr">
                        <a:lnSpc>
                          <a:spcPct val="107000"/>
                        </a:lnSpc>
                        <a:spcBef>
                          <a:spcPts val="0"/>
                        </a:spcBef>
                        <a:spcAft>
                          <a:spcPts val="0"/>
                        </a:spcAft>
                      </a:pPr>
                      <a:r>
                        <a:rPr lang="en-US" sz="1200" b="1" kern="100" dirty="0" smtClean="0">
                          <a:effectLst/>
                          <a:latin typeface="Arial" panose="020B0604020202020204" pitchFamily="34" charset="0"/>
                          <a:ea typeface="Calibri" panose="020F0502020204030204" pitchFamily="34" charset="0"/>
                          <a:cs typeface="Arial" panose="020B0604020202020204" pitchFamily="34" charset="0"/>
                        </a:rPr>
                        <a:t>and Nutrition Security</a:t>
                      </a:r>
                      <a:endParaRPr lang="en-US" sz="1200" kern="100" dirty="0" smtClean="0">
                        <a:effectLst/>
                        <a:latin typeface="Arial" panose="020B0604020202020204" pitchFamily="34" charset="0"/>
                        <a:ea typeface="Calibri" panose="020F0502020204030204" pitchFamily="34" charset="0"/>
                        <a:cs typeface="Arial" panose="020B0604020202020204" pitchFamily="34" charset="0"/>
                      </a:endParaRPr>
                    </a:p>
                    <a:p>
                      <a:pPr marL="0" marR="0" indent="0" algn="ctr" defTabSz="914400" rtl="0" eaLnBrk="1" fontAlgn="auto" latinLnBrk="0" hangingPunct="1">
                        <a:lnSpc>
                          <a:spcPct val="100000"/>
                        </a:lnSpc>
                        <a:spcBef>
                          <a:spcPts val="0"/>
                        </a:spcBef>
                        <a:spcAft>
                          <a:spcPts val="0"/>
                        </a:spcAft>
                        <a:buClrTx/>
                        <a:buSzTx/>
                        <a:buFontTx/>
                        <a:buNone/>
                        <a:tabLst/>
                        <a:defRPr/>
                      </a:pPr>
                      <a:endParaRPr lang="en-US" sz="1200" b="1" dirty="0" smtClean="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Promote </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Production</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Preservation </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and </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Utilization </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of </a:t>
                      </a:r>
                      <a:r>
                        <a:rPr kumimoji="0" lang="en-US" sz="1200" b="0" i="0" u="none" strike="noStrike" kern="100" cap="none" spc="0" normalizeH="0" baseline="0" noProof="0" dirty="0" smtClean="0">
                          <a:ln>
                            <a:noFill/>
                          </a:ln>
                          <a:solidFill>
                            <a:prstClr val="black"/>
                          </a:solidFill>
                          <a:effectLst/>
                          <a:uLnTx/>
                          <a:uFillTx/>
                          <a:latin typeface="Arial" panose="020B0604020202020204" pitchFamily="34" charset="0"/>
                          <a:ea typeface="Calibri" panose="020F0502020204030204" pitchFamily="34" charset="0"/>
                          <a:cs typeface="Arial" panose="020B0604020202020204" pitchFamily="34" charset="0"/>
                        </a:rPr>
                        <a:t>Locally Available Nutritious Foods</a:t>
                      </a:r>
                      <a:endParaRPr lang="en-US" sz="1200" kern="100" dirty="0">
                        <a:effectLst/>
                        <a:latin typeface="Arial" panose="020B0604020202020204" pitchFamily="34" charset="0"/>
                        <a:ea typeface="Calibri" panose="020F050202020403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Conduct 1 cooking contest or food fair per quarter</a:t>
                      </a:r>
                    </a:p>
                  </a:txBody>
                  <a:tcPr/>
                </a:tc>
                <a:tc>
                  <a:txBody>
                    <a:bodyPr/>
                    <a:lstStyle/>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US" sz="1200" b="0" i="0" u="none" strike="noStrike" kern="100" cap="none" spc="0" normalizeH="0" baseline="0" noProof="0" dirty="0" smtClean="0">
                          <a:ln>
                            <a:noFill/>
                          </a:ln>
                          <a:solidFill>
                            <a:srgbClr val="000000"/>
                          </a:solidFill>
                          <a:effectLst/>
                          <a:uLnTx/>
                          <a:uFillTx/>
                          <a:latin typeface="Arial" panose="020B0604020202020204" pitchFamily="34" charset="0"/>
                          <a:ea typeface="Times New Roman" panose="02020603050405020304" pitchFamily="18" charset="0"/>
                          <a:cs typeface="Arial" panose="020B0604020202020204" pitchFamily="34" charset="0"/>
                        </a:rPr>
                        <a:t>Number of cooking competitions and food  fairs conducted</a:t>
                      </a:r>
                    </a:p>
                  </a:txBody>
                  <a:tcPr/>
                </a:tc>
                <a:tc>
                  <a:txBody>
                    <a:bodyPr/>
                    <a:lstStyle/>
                    <a:p>
                      <a:r>
                        <a:rPr lang="en-US" sz="1200" dirty="0" smtClean="0">
                          <a:latin typeface="Arial" panose="020B0604020202020204" pitchFamily="34" charset="0"/>
                          <a:cs typeface="Arial" panose="020B0604020202020204" pitchFamily="34" charset="0"/>
                        </a:rPr>
                        <a:t>Food</a:t>
                      </a:r>
                      <a:r>
                        <a:rPr lang="en-US" sz="1200" baseline="0" dirty="0" smtClean="0">
                          <a:latin typeface="Arial" panose="020B0604020202020204" pitchFamily="34" charset="0"/>
                          <a:cs typeface="Arial" panose="020B0604020202020204" pitchFamily="34" charset="0"/>
                        </a:rPr>
                        <a:t> items, utensils, prices, fuel for cooking, venues</a:t>
                      </a:r>
                      <a:endParaRPr lang="en-US" sz="1200" dirty="0">
                        <a:latin typeface="Arial" panose="020B0604020202020204" pitchFamily="34" charset="0"/>
                        <a:cs typeface="Arial" panose="020B0604020202020204" pitchFamily="34" charset="0"/>
                      </a:endParaRPr>
                    </a:p>
                  </a:txBody>
                  <a:tcPr/>
                </a:tc>
                <a:tc>
                  <a:txBody>
                    <a:bodyPr/>
                    <a:lstStyle/>
                    <a:p>
                      <a:r>
                        <a:rPr lang="en-US" sz="1200" dirty="0" smtClean="0">
                          <a:latin typeface="Arial" panose="020B0604020202020204" pitchFamily="34" charset="0"/>
                          <a:cs typeface="Arial" panose="020B0604020202020204" pitchFamily="34" charset="0"/>
                        </a:rPr>
                        <a:t>On going</a:t>
                      </a:r>
                      <a:endParaRPr lang="en-US" sz="1200" dirty="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rPr>
                        <a:t>MYEDVT, ZYC, ARDAS, MoHCC, MWACSMED, MOPSE, VTCs</a:t>
                      </a:r>
                      <a:endParaRPr kumimoji="0" lang="en-US" sz="1200" b="0" i="0" u="none" strike="noStrike" kern="1200" cap="none" spc="0" normalizeH="0" baseline="0" noProof="0" dirty="0" smtClean="0">
                        <a:ln>
                          <a:noFill/>
                        </a:ln>
                        <a:solidFill>
                          <a:prstClr val="black"/>
                        </a:solidFill>
                        <a:effectLst/>
                        <a:uLnTx/>
                        <a:uFillTx/>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830068109"/>
      </p:ext>
    </p:extLst>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themeOverride>
</file>

<file path=docProps/app.xml><?xml version="1.0" encoding="utf-8"?>
<Properties xmlns="http://schemas.openxmlformats.org/officeDocument/2006/extended-properties" xmlns:vt="http://schemas.openxmlformats.org/officeDocument/2006/docPropsVTypes">
  <TotalTime>2357</TotalTime>
  <Words>3148</Words>
  <Application>Microsoft Office PowerPoint</Application>
  <PresentationFormat>Widescreen</PresentationFormat>
  <Paragraphs>638</Paragraphs>
  <Slides>21</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21</vt:i4>
      </vt:variant>
    </vt:vector>
  </HeadingPairs>
  <TitlesOfParts>
    <vt:vector size="30" baseType="lpstr">
      <vt:lpstr>Arial</vt:lpstr>
      <vt:lpstr>Calibri</vt:lpstr>
      <vt:lpstr>Calibri Light</vt:lpstr>
      <vt:lpstr>Times New Roman</vt:lpstr>
      <vt:lpstr>Tw Cen MT</vt:lpstr>
      <vt:lpstr>Wingdings</vt:lpstr>
      <vt:lpstr>Wingdings 2</vt:lpstr>
      <vt:lpstr>Office Theme</vt:lpstr>
      <vt:lpstr>Median</vt:lpstr>
      <vt:lpstr>Mashonaland central participatory multi-sectoral food and nutrition security plan for 2025</vt:lpstr>
      <vt:lpstr>Preamble</vt:lpstr>
      <vt:lpstr>Acknowledgements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87</cp:revision>
  <dcterms:created xsi:type="dcterms:W3CDTF">2025-01-22T07:48:32Z</dcterms:created>
  <dcterms:modified xsi:type="dcterms:W3CDTF">2025-02-13T14:20:20Z</dcterms:modified>
</cp:coreProperties>
</file>