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7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43AF-A206-7C35-1FD7-0EA653A9F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4F82C-BCE5-28DE-3FC1-774FBAA11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9258-069B-8E53-A0A2-5716B7A6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A34C9-AF4D-EB9E-A0C8-C2D387D3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78E82-050A-76FC-0C5A-332F105C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38649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E08A-7F19-286D-F4A3-BC9F3280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62C61-A17F-F6F7-AB28-97B321843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2959F-04A9-2ED7-DE51-25B3DE1D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85487-425E-0F40-844B-DDFB7F2F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9FC1D-5AA2-6C66-BE47-0A567152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93447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3583-D870-2B88-10D2-B33F64D5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68672-1C8F-7F54-602B-391BF37D6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A3BA1-4797-004B-B47E-D3C36C40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961C5-E41C-930F-2371-2B145B217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6B40D-DBFC-3252-7437-C6556568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57379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9EEFF-B6A4-B9C8-1603-8E109D16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3305-D074-66BC-3B49-07533DD93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5248D-D3B6-4214-4518-E34C9FB35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852B1-6AE6-78F1-C375-9F67D5F8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86471-06E5-0D98-6A50-673FE4CA5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0AE0F-FF93-6172-189C-9712BAF5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77885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4F7DD-0C9A-079D-E6E9-4689E819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C6517-8C8C-5935-2111-43DA9717C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2AE07-FF1E-2ACC-167A-90169BDA3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4113A5-40B7-089B-A6D1-3AA67B32F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6FE9C5-75F1-3E9B-9330-FE40F9A04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2E41C7-1163-E299-3D3F-003AFF65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C9E3B-FD51-71F8-85DE-3F2EB94A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1B528-1680-1BD7-558B-ED3E2C52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17127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D713-40C7-B34A-01CD-28309763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68962-816C-E53E-F451-5CA3F820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183C3-C268-0B7E-4C72-F6B0DA37D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29164-C94B-ECFE-312E-B2494CB5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07912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9E0F9-7798-2617-8B60-5B767428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836720-C326-ADFB-D82A-FC9DE353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63090-A5F1-FCBF-F50A-FC76BF19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09915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807C-DEC8-E51E-43E5-137792DE7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F52FD-9032-571D-8A88-04A803191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6FAC9-F06C-E400-B89A-FDEC8B2F8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E46D3-95D5-D232-7897-C6140E6D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AF51F-C428-DE6F-CCD5-9DC5C871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D8813-2083-EA0C-0F77-134BC13C2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74717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E72D-B32A-DBD8-D9B4-68C847BD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8F970C-A7D1-0BD7-1970-9F5DF94AF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A2E4D-BCD2-037F-4190-CD0040C15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74AC9-85F7-57FA-F084-A08C4D3B7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5CF81-0494-61A9-D0A4-A90AA08F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20D53-64BB-45CC-08EE-7FEB4F5E6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3414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33EB-8BC9-E5F4-D062-81F29CC2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0B64D-9875-589D-D87C-9942A078C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E6AAD-F26C-C3E9-F9D3-3DD7AF8E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DC2B3-62D0-EEA4-7FA4-5BE28478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746DA-4DF7-D2C5-0BB5-7AB69358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941357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D1A72-8F3D-3925-9EBA-BA5BBF2BE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8BB82-887A-F6A7-E674-605EEFE8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76355-6F80-C952-6101-0F11E65E0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65A80-93BB-F25D-C190-F29BE14A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5FBE-5ADB-46EB-1AEE-82939D73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64035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B7772-DA61-9BF7-00F3-F459AAC6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E18D5-7753-F839-9AB6-E6B745C4E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A121D-C9A6-2FAF-782A-80339E4A6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06538-1664-4558-B40F-BF7F406AB4C1}" type="datetimeFigureOut">
              <a:rPr lang="en-ZW" smtClean="0"/>
              <a:t>18/3/2025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C91F9-6AFA-D852-4318-0CBFD6D08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5EE10-09C2-760F-0520-470A68043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3943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A5500-7A0D-05E9-96F6-C3964B456B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W" dirty="0"/>
              <a:t>Midlands Province </a:t>
            </a:r>
            <a:r>
              <a:rPr lang="en-ZW"/>
              <a:t>FNC  Workplan</a:t>
            </a:r>
            <a:br>
              <a:rPr lang="en-ZW"/>
            </a:br>
            <a:r>
              <a:rPr lang="en-ZW"/>
              <a:t>2025</a:t>
            </a:r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357954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05F0B7-CFA7-837F-E409-7E25653DC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44193"/>
              </p:ext>
            </p:extLst>
          </p:nvPr>
        </p:nvGraphicFramePr>
        <p:xfrm>
          <a:off x="286871" y="412376"/>
          <a:ext cx="11528610" cy="640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056">
                  <a:extLst>
                    <a:ext uri="{9D8B030D-6E8A-4147-A177-3AD203B41FA5}">
                      <a16:colId xmlns:a16="http://schemas.microsoft.com/office/drawing/2014/main" val="2588548024"/>
                    </a:ext>
                  </a:extLst>
                </a:gridCol>
                <a:gridCol w="2463862">
                  <a:extLst>
                    <a:ext uri="{9D8B030D-6E8A-4147-A177-3AD203B41FA5}">
                      <a16:colId xmlns:a16="http://schemas.microsoft.com/office/drawing/2014/main" val="1720278049"/>
                    </a:ext>
                  </a:extLst>
                </a:gridCol>
                <a:gridCol w="1017816">
                  <a:extLst>
                    <a:ext uri="{9D8B030D-6E8A-4147-A177-3AD203B41FA5}">
                      <a16:colId xmlns:a16="http://schemas.microsoft.com/office/drawing/2014/main" val="3779660236"/>
                    </a:ext>
                  </a:extLst>
                </a:gridCol>
                <a:gridCol w="2508980">
                  <a:extLst>
                    <a:ext uri="{9D8B030D-6E8A-4147-A177-3AD203B41FA5}">
                      <a16:colId xmlns:a16="http://schemas.microsoft.com/office/drawing/2014/main" val="1674383294"/>
                    </a:ext>
                  </a:extLst>
                </a:gridCol>
                <a:gridCol w="1348165">
                  <a:extLst>
                    <a:ext uri="{9D8B030D-6E8A-4147-A177-3AD203B41FA5}">
                      <a16:colId xmlns:a16="http://schemas.microsoft.com/office/drawing/2014/main" val="3693997720"/>
                    </a:ext>
                  </a:extLst>
                </a:gridCol>
                <a:gridCol w="1467457">
                  <a:extLst>
                    <a:ext uri="{9D8B030D-6E8A-4147-A177-3AD203B41FA5}">
                      <a16:colId xmlns:a16="http://schemas.microsoft.com/office/drawing/2014/main" val="1966653248"/>
                    </a:ext>
                  </a:extLst>
                </a:gridCol>
                <a:gridCol w="2212274">
                  <a:extLst>
                    <a:ext uri="{9D8B030D-6E8A-4147-A177-3AD203B41FA5}">
                      <a16:colId xmlns:a16="http://schemas.microsoft.com/office/drawing/2014/main" val="2086037267"/>
                    </a:ext>
                  </a:extLst>
                </a:gridCol>
              </a:tblGrid>
              <a:tr h="3709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KRA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Activity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Target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Process Indicator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Resources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Timeline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Lead Agency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3278552230"/>
                  </a:ext>
                </a:extLst>
              </a:tr>
              <a:tr h="95671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Facilitate development of Ward FNC  C0MITTEES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100Wards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Number of WARD FNC COMITTEES  Established </a:t>
                      </a:r>
                      <a:endParaRPr lang="en-ZW" sz="10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Fuel, Lunch Allowances </a:t>
                      </a:r>
                      <a:endParaRPr lang="en-ZW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</a:t>
                      </a:r>
                      <a:r>
                        <a:rPr lang="en-US" sz="1000" kern="100" baseline="30000">
                          <a:effectLst/>
                        </a:rPr>
                        <a:t>st</a:t>
                      </a:r>
                      <a:r>
                        <a:rPr lang="en-US" sz="1000" kern="100">
                          <a:effectLst/>
                        </a:rPr>
                        <a:t> Quarter </a:t>
                      </a:r>
                      <a:endParaRPr lang="en-ZW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LOCAL Government ,OPC,ARDAS,MOHCC, Social </a:t>
                      </a:r>
                      <a:r>
                        <a:rPr lang="en-US" sz="1000" kern="100" dirty="0" err="1">
                          <a:effectLst/>
                        </a:rPr>
                        <a:t>Services,Women</a:t>
                      </a:r>
                      <a:r>
                        <a:rPr lang="en-US" sz="1000" kern="100" dirty="0">
                          <a:effectLst/>
                        </a:rPr>
                        <a:t> Affairs, Youth ,development Partners </a:t>
                      </a:r>
                      <a:endParaRPr lang="en-ZW" sz="10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2319673207"/>
                  </a:ext>
                </a:extLst>
              </a:tr>
              <a:tr h="100223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Train district agronomists on wheat production.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 </a:t>
                      </a:r>
                      <a:r>
                        <a:rPr lang="en-US" sz="11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gronomist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Number of district agronomists trained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Fuel, Lunch Allowances bond Paper for fact sheets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April 2025(2</a:t>
                      </a:r>
                      <a:r>
                        <a:rPr lang="en-US" sz="1100" kern="100" baseline="30000" dirty="0">
                          <a:effectLst/>
                        </a:rPr>
                        <a:t>nd</a:t>
                      </a:r>
                      <a:r>
                        <a:rPr lang="en-US" sz="1100" kern="100" dirty="0">
                          <a:effectLst/>
                        </a:rPr>
                        <a:t> quarter)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en-US" sz="1100" kern="100" dirty="0" err="1">
                          <a:effectLst/>
                        </a:rPr>
                        <a:t>ARDAS,Seed</a:t>
                      </a:r>
                      <a:r>
                        <a:rPr lang="en-US" sz="1100" kern="100" dirty="0">
                          <a:effectLst/>
                        </a:rPr>
                        <a:t> houses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2611866523"/>
                  </a:ext>
                </a:extLst>
              </a:tr>
              <a:tr h="73189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Train farmers on (Climate resilient Agriculture, Impact of climate change, Climate resilient practices)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350000 farmers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staff and farmers  trained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 err="1">
                          <a:effectLst/>
                        </a:rPr>
                        <a:t>Fuel,lunch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en-US" sz="1100" kern="100" dirty="0" err="1">
                          <a:effectLst/>
                        </a:rPr>
                        <a:t>allowance,bond</a:t>
                      </a:r>
                      <a:r>
                        <a:rPr lang="en-US" sz="1100" kern="100" dirty="0">
                          <a:effectLst/>
                        </a:rPr>
                        <a:t> paper for fact sheets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ongoing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MLAFWRD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1942623643"/>
                  </a:ext>
                </a:extLst>
              </a:tr>
              <a:tr h="90448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Train district farmers  on climate smart agriculture technology </a:t>
                      </a:r>
                      <a:r>
                        <a:rPr lang="en-US" sz="1100" kern="100" dirty="0" err="1">
                          <a:effectLst/>
                        </a:rPr>
                        <a:t>ie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en-US" sz="1100" kern="100" dirty="0" err="1">
                          <a:effectLst/>
                        </a:rPr>
                        <a:t>Pfumvudza</a:t>
                      </a:r>
                      <a:r>
                        <a:rPr lang="en-US" sz="1100" kern="100" dirty="0">
                          <a:effectLst/>
                        </a:rPr>
                        <a:t>/</a:t>
                      </a:r>
                      <a:r>
                        <a:rPr lang="en-US" sz="1100" kern="100" dirty="0" err="1">
                          <a:effectLst/>
                        </a:rPr>
                        <a:t>Intwasa</a:t>
                      </a:r>
                      <a:r>
                        <a:rPr lang="en-US" sz="1100" kern="100" dirty="0">
                          <a:effectLst/>
                        </a:rPr>
                        <a:t> concept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350000 farmers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Farmers trained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lunch allowance, bond Paper for fact sheets, input packages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ongoing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MLAFWRD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1359270674"/>
                  </a:ext>
                </a:extLst>
              </a:tr>
              <a:tr h="73189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Aquaculture production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8 districts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districts staff and farmers trained  trained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T&amp;S , Stationery, material for pond construction ,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</a:t>
                      </a:r>
                      <a:r>
                        <a:rPr lang="en-US" sz="1100" kern="100" baseline="30000" dirty="0">
                          <a:effectLst/>
                        </a:rPr>
                        <a:t>rd</a:t>
                      </a:r>
                      <a:r>
                        <a:rPr lang="en-US" sz="1100" kern="100" dirty="0">
                          <a:effectLst/>
                        </a:rPr>
                        <a:t> Quarter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 err="1">
                          <a:effectLst/>
                        </a:rPr>
                        <a:t>ARDAS,Development</a:t>
                      </a:r>
                      <a:r>
                        <a:rPr lang="en-US" sz="1100" kern="100" dirty="0">
                          <a:effectLst/>
                        </a:rPr>
                        <a:t> partners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3724263155"/>
                  </a:ext>
                </a:extLst>
              </a:tr>
              <a:tr h="40165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Training on livestock  drought mitigation strategies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8 districts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farmers trained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 , stationery , T&amp;S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2</a:t>
                      </a:r>
                      <a:r>
                        <a:rPr lang="en-US" sz="1100" kern="100" baseline="30000">
                          <a:effectLst/>
                        </a:rPr>
                        <a:t>nd</a:t>
                      </a:r>
                      <a:r>
                        <a:rPr lang="en-US" sz="1100" kern="100">
                          <a:effectLst/>
                        </a:rPr>
                        <a:t> Quarter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 err="1">
                          <a:effectLst/>
                        </a:rPr>
                        <a:t>ARDAs,Developmental</a:t>
                      </a:r>
                      <a:r>
                        <a:rPr lang="en-US" sz="1100" kern="100" dirty="0">
                          <a:effectLst/>
                        </a:rPr>
                        <a:t> Partners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1328101779"/>
                  </a:ext>
                </a:extLst>
              </a:tr>
              <a:tr h="40165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Establishing  Ward Drought Mitigation centers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Number of Drought mitigation centers established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T&amp;S ,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On going process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ZINWA ,VET, LOCAL Government ,OPC,ARDAS,MOHCC ARDA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1130021248"/>
                  </a:ext>
                </a:extLst>
              </a:tr>
              <a:tr h="90448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Establishing Business Units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2500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Business Units established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Fuel ,T&amp;S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On going process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</a:rPr>
                        <a:t>ZINWA,VET,ARDA, LOCAL Government ,OPC,ARDAS,MOHCC ,MINISTRY OF EDUCATION, WOMEN AFFAIRS ,YOUTH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2248091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63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7A5C61-CAF5-BD21-2799-F9153FB48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01366" y="-170643"/>
            <a:ext cx="14714448" cy="62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W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7F01708-FB25-4134-6F92-489139260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200445"/>
              </p:ext>
            </p:extLst>
          </p:nvPr>
        </p:nvGraphicFramePr>
        <p:xfrm>
          <a:off x="349321" y="106533"/>
          <a:ext cx="11466859" cy="6345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68">
                  <a:extLst>
                    <a:ext uri="{9D8B030D-6E8A-4147-A177-3AD203B41FA5}">
                      <a16:colId xmlns:a16="http://schemas.microsoft.com/office/drawing/2014/main" val="1226012302"/>
                    </a:ext>
                  </a:extLst>
                </a:gridCol>
                <a:gridCol w="2661331">
                  <a:extLst>
                    <a:ext uri="{9D8B030D-6E8A-4147-A177-3AD203B41FA5}">
                      <a16:colId xmlns:a16="http://schemas.microsoft.com/office/drawing/2014/main" val="931403592"/>
                    </a:ext>
                  </a:extLst>
                </a:gridCol>
                <a:gridCol w="846942">
                  <a:extLst>
                    <a:ext uri="{9D8B030D-6E8A-4147-A177-3AD203B41FA5}">
                      <a16:colId xmlns:a16="http://schemas.microsoft.com/office/drawing/2014/main" val="2913198228"/>
                    </a:ext>
                  </a:extLst>
                </a:gridCol>
                <a:gridCol w="2075716">
                  <a:extLst>
                    <a:ext uri="{9D8B030D-6E8A-4147-A177-3AD203B41FA5}">
                      <a16:colId xmlns:a16="http://schemas.microsoft.com/office/drawing/2014/main" val="2854080521"/>
                    </a:ext>
                  </a:extLst>
                </a:gridCol>
                <a:gridCol w="1351316">
                  <a:extLst>
                    <a:ext uri="{9D8B030D-6E8A-4147-A177-3AD203B41FA5}">
                      <a16:colId xmlns:a16="http://schemas.microsoft.com/office/drawing/2014/main" val="1877209534"/>
                    </a:ext>
                  </a:extLst>
                </a:gridCol>
                <a:gridCol w="912950">
                  <a:extLst>
                    <a:ext uri="{9D8B030D-6E8A-4147-A177-3AD203B41FA5}">
                      <a16:colId xmlns:a16="http://schemas.microsoft.com/office/drawing/2014/main" val="2119267286"/>
                    </a:ext>
                  </a:extLst>
                </a:gridCol>
                <a:gridCol w="3259536">
                  <a:extLst>
                    <a:ext uri="{9D8B030D-6E8A-4147-A177-3AD203B41FA5}">
                      <a16:colId xmlns:a16="http://schemas.microsoft.com/office/drawing/2014/main" val="1010101249"/>
                    </a:ext>
                  </a:extLst>
                </a:gridCol>
              </a:tblGrid>
              <a:tr h="2753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KRA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Activity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Target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Process Indicator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Resources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Timeline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Lead Agency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extLst>
                  <a:ext uri="{0D108BD9-81ED-4DB2-BD59-A6C34878D82A}">
                    <a16:rowId xmlns:a16="http://schemas.microsoft.com/office/drawing/2014/main" val="20323687"/>
                  </a:ext>
                </a:extLst>
              </a:tr>
              <a:tr h="54570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Training on nursery production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8 districts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Number of farmers trained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Stationery , T&amp;S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On going process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</a:rPr>
                        <a:t>ARDAS, FORESTRY , EMA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2904148471"/>
                  </a:ext>
                </a:extLst>
              </a:tr>
              <a:tr h="54570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Food Fairs Competition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8 districts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competition done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prices , T&amp;S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On going process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>
                          <a:effectLst/>
                        </a:rPr>
                        <a:t>ARDAS,LOCAL GVNT,ARDA, MIN HEALTH, SCHOOLS , WOMEN AFFAIRS ,YOUTH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688055083"/>
                  </a:ext>
                </a:extLst>
              </a:tr>
              <a:tr h="11875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Conduct Monitoring Visits to Food and Nutrition projects </a:t>
                      </a:r>
                      <a:endParaRPr lang="en-ZW" sz="11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 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80%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Reports produced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Fuel, Lunch Allowances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Bond Paper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Checklists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Quartely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DDC, ARDAS, MOHCC</a:t>
                      </a:r>
                      <a:endParaRPr lang="en-ZW" sz="11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Social Services, (Local Development Partner)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1188033819"/>
                  </a:ext>
                </a:extLst>
              </a:tr>
              <a:tr h="9554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Establishing Farmer Field Schools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660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Farmer Field Schools established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 ,T&amp;S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On going process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</a:rPr>
                        <a:t>ZINWA,VET,ARDA, LOCAL Government ,OPC,ARDAS,MOHCC ,MINISTRY OF EDUCATION, WOMEN AFFAIRS ,YOUTH ,Development Partners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3543562299"/>
                  </a:ext>
                </a:extLst>
              </a:tr>
              <a:tr h="54570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Training on horticulture   production (GAPS)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8 districts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staff members and farmers trained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T&amp;S, Stationery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On going process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>
                          <a:effectLst/>
                        </a:rPr>
                        <a:t>ARDAS, ARDA, AMA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2784000684"/>
                  </a:ext>
                </a:extLst>
              </a:tr>
              <a:tr h="120457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6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Participate in  food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nutrition security data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collection, timely information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dissemination, </a:t>
                      </a:r>
                      <a:r>
                        <a:rPr lang="en-US" sz="11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utilisation</a:t>
                      </a: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feedback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 Districts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REPORTS PRODUCED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Oncall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</a:rPr>
                        <a:t>LOCAL Government ,OPC,ARDAS,MOHCC ,MINISTRY OF EDUCATION, WOMEN AFFAIRS ,YOUTH ,Development Partners ,SOCIAL SERVICE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043500"/>
                  </a:ext>
                </a:extLst>
              </a:tr>
              <a:tr h="74883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Carry out monthly and quarterly provincial FNC meetings.</a:t>
                      </a:r>
                      <a:r>
                        <a:rPr lang="en-US" sz="11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Reports Produced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Lunch Allowances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Monthly/QUARTERLY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 Government ,OPC,ARDAS,MOHCC ,MINISTRY OF EDUCATION, WOMEN AFFAIRS ,YOUTH ,Development Partners ,SOCIAL SERVICE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53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16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506C-A287-4A50-A225-2CAF337D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W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BB5438-94F3-405A-BDA1-B8ED6F3DB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642890"/>
              </p:ext>
            </p:extLst>
          </p:nvPr>
        </p:nvGraphicFramePr>
        <p:xfrm>
          <a:off x="267128" y="365125"/>
          <a:ext cx="11517331" cy="588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333">
                  <a:extLst>
                    <a:ext uri="{9D8B030D-6E8A-4147-A177-3AD203B41FA5}">
                      <a16:colId xmlns:a16="http://schemas.microsoft.com/office/drawing/2014/main" val="4153081466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105067613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1533854617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926076173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4109415099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4169376924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3203353077"/>
                    </a:ext>
                  </a:extLst>
                </a:gridCol>
              </a:tblGrid>
              <a:tr h="7106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KRA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Activity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Target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Process Indicator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Resources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Timeline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Lead Agency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extLst>
                  <a:ext uri="{0D108BD9-81ED-4DB2-BD59-A6C34878D82A}">
                    <a16:rowId xmlns:a16="http://schemas.microsoft.com/office/drawing/2014/main" val="2327500771"/>
                  </a:ext>
                </a:extLst>
              </a:tr>
              <a:tr h="222892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Training of health workers on IMAM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240 health workers in 8 Districts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health workers trained on IMAM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DSA for 240 participants @120/day for 3 days= USD 86 400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Conference for 240 ppl @30/day/person =USD 21600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Bus fare for 240 ppl @10/person =USD 2400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Stationery – USD 100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100" kern="100" baseline="30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Quarter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MOHCC, UNICEF, WHO, NAZ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207829"/>
                  </a:ext>
                </a:extLst>
              </a:tr>
              <a:tr h="95549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Curing of malnourished cases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78% cure rate across the province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malnourished cases successfully cured admitted in the IMAM program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RUTF, F75, F100, RESOMAL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Quarterly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MOHCC, UNICEF, WHO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716490"/>
                  </a:ext>
                </a:extLst>
              </a:tr>
              <a:tr h="80117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Vitamin A supplementation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85% coverage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children supplemented with vitamin A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Vitamin A supplements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Bi-annually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MOHCC, UNICEF, WHO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902446"/>
                  </a:ext>
                </a:extLst>
              </a:tr>
              <a:tr h="116330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Implementation of the School Nutrition Program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120 schools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schools implementing the school nutrition program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Iron Folate Supplements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 – 400L @1.7/L = USD680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Quarterly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MOHCC, MOPSE, UNICEF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171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28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86D9-086F-4F86-9F33-4B41C16D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W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5AC1AD4-1644-4FF9-AD72-C0D6FA7CB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6514878"/>
              </p:ext>
            </p:extLst>
          </p:nvPr>
        </p:nvGraphicFramePr>
        <p:xfrm>
          <a:off x="152403" y="29182"/>
          <a:ext cx="11887193" cy="6799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959">
                  <a:extLst>
                    <a:ext uri="{9D8B030D-6E8A-4147-A177-3AD203B41FA5}">
                      <a16:colId xmlns:a16="http://schemas.microsoft.com/office/drawing/2014/main" val="4237089544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3213312988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1889078087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3225683451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1388740493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119122292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3655484749"/>
                    </a:ext>
                  </a:extLst>
                </a:gridCol>
              </a:tblGrid>
              <a:tr h="34419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KRA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Activity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Target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Process Indicator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Resources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Timeline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Lead Agency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extLst>
                  <a:ext uri="{0D108BD9-81ED-4DB2-BD59-A6C34878D82A}">
                    <a16:rowId xmlns:a16="http://schemas.microsoft.com/office/drawing/2014/main" val="48161565"/>
                  </a:ext>
                </a:extLst>
              </a:tr>
              <a:tr h="1462838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new Irrigation  Schemes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 Irrigation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Budget: US$</a:t>
                      </a:r>
                    </a:p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2 086 460.89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OPC; MLAFWRD, LOCAL GVT; CCMT; POWER COMPANIES; DEPT OF MINES; S.WELFARE; PARTNERS; W.AFFAIRS; </a:t>
                      </a:r>
                    </a:p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 of Youth; Min of Health , Communities; </a:t>
                      </a:r>
                      <a:r>
                        <a:rPr lang="en-US" sz="11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etc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034906"/>
                  </a:ext>
                </a:extLst>
              </a:tr>
              <a:tr h="1462838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Irrigation Area Rehabilitated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 Area Maintained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Budget: US$200 000.00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Quarterly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sz="2400" dirty="0"/>
                        <a:t>REFER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365494"/>
                  </a:ext>
                </a:extLst>
              </a:tr>
              <a:tr h="546583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Irrigation Schemes Maintained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Maintained functional Irrigation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Diesel 5000liters; vehicles; DSA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Quarterly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sz="2400" dirty="0"/>
                        <a:t>See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254882"/>
                  </a:ext>
                </a:extLst>
              </a:tr>
              <a:tr h="410966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Planned New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Diesel 800liters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sz="2400" dirty="0"/>
                        <a:t>See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73649"/>
                  </a:ext>
                </a:extLst>
              </a:tr>
              <a:tr h="49869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Planned</a:t>
                      </a:r>
                      <a:r>
                        <a:rPr lang="en-US" sz="1100" spc="-3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New</a:t>
                      </a:r>
                      <a:r>
                        <a:rPr lang="en-US" sz="1100" spc="-1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Project</a:t>
                      </a:r>
                      <a:endParaRPr lang="en-ZW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1100" spc="-2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12No</a:t>
                      </a:r>
                      <a:endParaRPr lang="en-ZW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r>
                        <a:rPr lang="en-US" sz="1100" spc="-3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100" spc="-1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Reports</a:t>
                      </a:r>
                      <a:endParaRPr lang="en-ZW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513631"/>
                  </a:ext>
                </a:extLst>
              </a:tr>
              <a:tr h="575353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Beneficiaries recommended for title deed issuance</a:t>
                      </a:r>
                      <a:endParaRPr lang="en-ZW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</a:t>
                      </a:r>
                      <a:endParaRPr lang="en-ZW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beneficiaries recommended for title deed issuance</a:t>
                      </a:r>
                      <a:endParaRPr lang="en-ZW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959051"/>
                  </a:ext>
                </a:extLst>
              </a:tr>
              <a:tr h="14981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Layouts produced</a:t>
                      </a:r>
                      <a:endParaRPr lang="en-ZW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</a:t>
                      </a:r>
                      <a:endParaRPr lang="en-ZW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A1 and A2 layouts produced </a:t>
                      </a:r>
                      <a:endParaRPr lang="en-ZW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044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98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895</Words>
  <Application>Microsoft Office PowerPoint</Application>
  <PresentationFormat>Widescreen</PresentationFormat>
  <Paragraphs>224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Midlands Province FNC  Workplan 2025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Midlands Province FNC  Workplan</dc:title>
  <dc:creator>Calvin Mangoro</dc:creator>
  <cp:lastModifiedBy>musamahefu@yahoo.com</cp:lastModifiedBy>
  <cp:revision>14</cp:revision>
  <dcterms:created xsi:type="dcterms:W3CDTF">2025-02-19T09:14:43Z</dcterms:created>
  <dcterms:modified xsi:type="dcterms:W3CDTF">2025-03-18T15:25:28Z</dcterms:modified>
</cp:coreProperties>
</file>