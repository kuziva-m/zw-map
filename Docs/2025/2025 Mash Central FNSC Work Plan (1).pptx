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2"/>
  </p:notesMasterIdLst>
  <p:sldIdLst>
    <p:sldId id="261" r:id="rId3"/>
    <p:sldId id="262" r:id="rId4"/>
    <p:sldId id="278" r:id="rId5"/>
    <p:sldId id="263" r:id="rId6"/>
    <p:sldId id="277" r:id="rId7"/>
    <p:sldId id="280" r:id="rId8"/>
    <p:sldId id="281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3" r:id="rId17"/>
    <p:sldId id="274" r:id="rId18"/>
    <p:sldId id="275" r:id="rId19"/>
    <p:sldId id="276" r:id="rId20"/>
    <p:sldId id="27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434" autoAdjust="0"/>
  </p:normalViewPr>
  <p:slideViewPr>
    <p:cSldViewPr snapToGrid="0">
      <p:cViewPr varScale="1">
        <p:scale>
          <a:sx n="74" d="100"/>
          <a:sy n="74" d="100"/>
        </p:scale>
        <p:origin x="57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9170D5-EBD1-49ED-B205-C0E98E949EA5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D5A698-864B-4178-B330-B3A5275E5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8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D5A698-864B-4178-B330-B3A5275E534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6818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E47B1-F038-4BE5-912D-7C6599F8670A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A78FB-09FD-41FF-8B72-A16791823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197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E47B1-F038-4BE5-912D-7C6599F8670A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A78FB-09FD-41FF-8B72-A16791823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485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E47B1-F038-4BE5-912D-7C6599F8670A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A78FB-09FD-41FF-8B72-A16791823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864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E47B1-F038-4BE5-912D-7C6599F8670A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A78FB-09FD-41FF-8B72-A16791823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526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E47B1-F038-4BE5-912D-7C6599F8670A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A78FB-09FD-41FF-8B72-A16791823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47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E47B1-F038-4BE5-912D-7C6599F8670A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A78FB-09FD-41FF-8B72-A16791823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413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E47B1-F038-4BE5-912D-7C6599F8670A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A78FB-09FD-41FF-8B72-A16791823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016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E47B1-F038-4BE5-912D-7C6599F8670A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A78FB-09FD-41FF-8B72-A16791823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366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E47B1-F038-4BE5-912D-7C6599F8670A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A78FB-09FD-41FF-8B72-A16791823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166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E47B1-F038-4BE5-912D-7C6599F8670A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A78FB-09FD-41FF-8B72-A16791823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130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E47B1-F038-4BE5-912D-7C6599F8670A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A78FB-09FD-41FF-8B72-A16791823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8012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white">
          <a:xfrm>
            <a:off x="0" y="5970588"/>
            <a:ext cx="12192000" cy="887412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-12700" y="6053138"/>
            <a:ext cx="3000375" cy="7127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144838" y="6043613"/>
            <a:ext cx="9047162" cy="7143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149600" y="4038600"/>
            <a:ext cx="8636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149600" y="6050037"/>
            <a:ext cx="89408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27"/>
          <p:cNvSpPr>
            <a:spLocks noGrp="1"/>
          </p:cNvSpPr>
          <p:nvPr>
            <p:ph type="dt" sz="half" idx="10"/>
          </p:nvPr>
        </p:nvSpPr>
        <p:spPr>
          <a:xfrm>
            <a:off x="101600" y="6069013"/>
            <a:ext cx="2743200" cy="685800"/>
          </a:xfrm>
        </p:spPr>
        <p:txBody>
          <a:bodyPr>
            <a:noAutofit/>
          </a:bodyPr>
          <a:lstStyle>
            <a:lvl1pPr algn="ctr">
              <a:defRPr sz="2000" smtClean="0">
                <a:solidFill>
                  <a:srgbClr val="FFFFFF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0EE5BA-C90D-4340-8188-3663E78ACD0C}" type="datetimeFigureOut"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2/12/2025</a:t>
            </a:fld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10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781300" y="236538"/>
            <a:ext cx="7823200" cy="365125"/>
          </a:xfrm>
        </p:spPr>
        <p:txBody>
          <a:bodyPr/>
          <a:lstStyle>
            <a:lvl1pPr algn="r">
              <a:defRPr>
                <a:solidFill>
                  <a:srgbClr val="EBDDC3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EBDDC3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11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0668000" y="228600"/>
            <a:ext cx="1117600" cy="381000"/>
          </a:xfrm>
        </p:spPr>
        <p:txBody>
          <a:bodyPr/>
          <a:lstStyle>
            <a:lvl1pPr>
              <a:defRPr smtClean="0">
                <a:solidFill>
                  <a:srgbClr val="EBDDC3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C56552-0839-4ADA-9B06-427B1F9B3955}" type="slidenum"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EBDDC3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EBDDC3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0789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864" y="228600"/>
            <a:ext cx="10871200" cy="990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816864" y="1600200"/>
            <a:ext cx="108712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1E21C8-7015-43F9-88F5-1DBC72860FB9}" type="datetimeFigureOut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775F55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2/12/2025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775F55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775F55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807B72A-84B7-4215-A120-2D8CB0231F15}" type="slidenum"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55368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white">
          <a:xfrm>
            <a:off x="0" y="1524000"/>
            <a:ext cx="12192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1600200"/>
            <a:ext cx="17272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828800" y="1600200"/>
            <a:ext cx="103632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8801" y="2743200"/>
            <a:ext cx="9497484" cy="1673225"/>
          </a:xfrm>
        </p:spPr>
        <p:txBody>
          <a:bodyPr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1600200"/>
            <a:ext cx="1016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AA2512-EC3E-4BED-9B42-97DB9E6A60B1}" type="datetimeFigureOut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775F55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2/12/2025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775F55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8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727200" cy="701675"/>
          </a:xfrm>
        </p:spPr>
        <p:txBody>
          <a:bodyPr>
            <a:noAutofit/>
          </a:bodyPr>
          <a:lstStyle>
            <a:lvl1pPr>
              <a:defRPr sz="2400" smtClean="0">
                <a:solidFill>
                  <a:srgbClr val="FFFFFF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619F766-BF13-4F49-ABC8-124FAB43A1E8}" type="slidenum"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9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775F55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65890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589567"/>
            <a:ext cx="5181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459868" y="1589567"/>
            <a:ext cx="5181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7C3F6F-C8C5-416E-9FBB-EAEC878CE6AF}" type="datetimeFigureOut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775F55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2/12/2025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775F55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D5BB3F-26F3-4C09-B5FC-1C1E39ED2D6D}" type="slidenum"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7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775F55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60887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273050"/>
            <a:ext cx="10871200" cy="8699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812800" y="2438400"/>
            <a:ext cx="5181600" cy="3581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6400800" y="2438400"/>
            <a:ext cx="5181600" cy="3581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812800" y="1752600"/>
            <a:ext cx="51816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6400800" y="1752600"/>
            <a:ext cx="51816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2E409C-C3AF-4D25-89A0-E0D670513F6B}" type="datetimeFigureOut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775F55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2/12/2025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775F55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8" name="Slide Number Placeholder 11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71A787-2EED-4992-B57A-563871ED697A}" type="slidenum"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9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775F55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74339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8E26FE-EB42-4A42-9F1B-813BED01E5D9}" type="datetimeFigureOut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775F55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2/12/2025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775F55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775F55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0A7022-1903-4DDD-A8C9-41783F1400A7}" type="slidenum"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87050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DA1716-F3D0-4319-B058-6CE90ABDE3DD}" type="datetimeFigureOut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775F55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2/12/2025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775F55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775F55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711200" cy="381000"/>
          </a:xfrm>
        </p:spPr>
        <p:txBody>
          <a:bodyPr/>
          <a:lstStyle>
            <a:lvl1pPr>
              <a:defRPr smtClean="0">
                <a:solidFill>
                  <a:srgbClr val="775F55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6334B2-6533-472D-BC74-F46EC349FEFC}" type="slidenum"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775F55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775F55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02540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/>
          <a:lstStyle>
            <a:lvl1pPr algn="l">
              <a:buNone/>
              <a:defRPr sz="4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812800" y="1752600"/>
            <a:ext cx="21336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3149600" y="1752600"/>
            <a:ext cx="8534400" cy="441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1F0FD0-D95C-434A-AAA7-EEB9669C0B4D}" type="datetimeFigureOut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775F55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2/12/2025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775F55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775F55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12C6FD-EC91-4B67-95A1-B42CAA2A428D}" type="slidenum"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97612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white">
          <a:xfrm>
            <a:off x="-12700" y="4572000"/>
            <a:ext cx="12192000" cy="887413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-12700" y="4664075"/>
            <a:ext cx="1951038" cy="712788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060575" y="4654550"/>
            <a:ext cx="10131425" cy="712788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 bwMode="white">
          <a:xfrm>
            <a:off x="1930400" y="0"/>
            <a:ext cx="133350" cy="6867525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33600" y="5486400"/>
            <a:ext cx="97536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4648200"/>
            <a:ext cx="9753600" cy="685800"/>
          </a:xfrm>
        </p:spPr>
        <p:txBody>
          <a:bodyPr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80768" y="0"/>
            <a:ext cx="10111232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Date Placeholder 11"/>
          <p:cNvSpPr>
            <a:spLocks noGrp="1"/>
          </p:cNvSpPr>
          <p:nvPr>
            <p:ph type="dt" sz="half" idx="10"/>
          </p:nvPr>
        </p:nvSpPr>
        <p:spPr>
          <a:xfrm>
            <a:off x="8331200" y="6248400"/>
            <a:ext cx="3556000" cy="365125"/>
          </a:xfrm>
        </p:spPr>
        <p:txBody>
          <a:bodyPr rtlCol="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7BA04B-D31F-4946-802B-C9805EC9E3DE}" type="datetimeFigureOut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775F55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2/12/2025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775F55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10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50"/>
            <a:ext cx="1930400" cy="663575"/>
          </a:xfrm>
        </p:spPr>
        <p:txBody>
          <a:bodyPr rtlCol="0"/>
          <a:lstStyle>
            <a:lvl1pPr>
              <a:defRPr sz="2800" smtClean="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6C6E22D-3CD4-47C6-B073-BBE486F7261D}" type="slidenum"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11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2133600" y="6248400"/>
            <a:ext cx="6096000" cy="365125"/>
          </a:xfrm>
        </p:spPr>
        <p:txBody>
          <a:bodyPr rtlCol="0"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775F55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64255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64EAD8-9551-47AA-BFB6-F91F966A7787}" type="datetimeFigureOut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775F55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2/12/2025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775F55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775F55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5B8767-00EC-4833-9447-FFE1DD59F4FC}" type="slidenum"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685371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white">
          <a:xfrm>
            <a:off x="8128000" y="0"/>
            <a:ext cx="427038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189913" y="609600"/>
            <a:ext cx="3048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189913" y="0"/>
            <a:ext cx="3048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37600" y="609601"/>
            <a:ext cx="2743200" cy="55165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609600"/>
            <a:ext cx="7416800" cy="55165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737600" y="6248400"/>
            <a:ext cx="2946400" cy="365125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E60F2D-8FF4-4745-AF9D-FEE7841C43CA}" type="datetimeFigureOut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775F55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2/12/2025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775F55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248400"/>
            <a:ext cx="7431088" cy="365125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775F55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074819" y="103981"/>
            <a:ext cx="533400" cy="325438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C0EAA5B-10EF-4A81-81CE-38FA9CD3ABCE}" type="slidenum"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63410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7E47B1-F038-4BE5-912D-7C6599F8670A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2A78FB-09FD-41FF-8B72-A16791823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093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21"/>
          <p:cNvSpPr>
            <a:spLocks noGrp="1"/>
          </p:cNvSpPr>
          <p:nvPr>
            <p:ph type="title"/>
          </p:nvPr>
        </p:nvSpPr>
        <p:spPr bwMode="auto">
          <a:xfrm>
            <a:off x="812800" y="228600"/>
            <a:ext cx="108712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3075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817563" y="1600200"/>
            <a:ext cx="108712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128000" y="6248400"/>
            <a:ext cx="3556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 smtClean="0">
                <a:solidFill>
                  <a:srgbClr val="775F55"/>
                </a:solidFill>
                <a:latin typeface="Tw Cen MT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80A542-7C36-4F5B-9756-3853AA99379C}" type="datetimeFigureOut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775F55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2/12/2025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775F55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812800" y="6248400"/>
            <a:ext cx="7227888" cy="365125"/>
          </a:xfrm>
          <a:prstGeom prst="rect">
            <a:avLst/>
          </a:prstGeom>
        </p:spPr>
        <p:txBody>
          <a:bodyPr vert="horz" anchor="ctr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rgbClr val="775F55"/>
                </a:solidFill>
                <a:latin typeface="Tw Cen MT"/>
                <a:cs typeface="+mn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775F55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 bwMode="white">
          <a:xfrm>
            <a:off x="0" y="1235075"/>
            <a:ext cx="12192000" cy="31908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1279525"/>
            <a:ext cx="7112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87400" y="1279525"/>
            <a:ext cx="1140460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1588"/>
            <a:ext cx="711200" cy="244475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 b="1" smtClean="0">
                <a:solidFill>
                  <a:srgbClr val="FFFFFF"/>
                </a:solidFill>
                <a:latin typeface="Tw Cen MT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8C781F-3057-427A-AB01-F1C53E7D2678}" type="slidenum"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4758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anose="020B0602020104020603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anose="020B0602020104020603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anose="020B0602020104020603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anose="020B0602020104020603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anose="020B0602020104020603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anose="020B0602020104020603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anose="020B0602020104020603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anose="020B0602020104020603" pitchFamily="34" charset="0"/>
        </a:defRPr>
      </a:lvl9pPr>
    </p:titleStyle>
    <p:bodyStyle>
      <a:lvl1pPr marL="319088" indent="-319088" algn="l" rtl="0" fontAlgn="base">
        <a:spcBef>
          <a:spcPts val="7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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73050" algn="l" rtl="0" fontAlgn="base">
        <a:spcBef>
          <a:spcPts val="550"/>
        </a:spcBef>
        <a:spcAft>
          <a:spcPct val="0"/>
        </a:spcAft>
        <a:buClr>
          <a:schemeClr val="accent1"/>
        </a:buClr>
        <a:buSzPct val="70000"/>
        <a:buFont typeface="Wingdings 2" panose="05020102010507070707" pitchFamily="18" charset="2"/>
        <a:buChar char="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fontAlgn="base">
        <a:spcBef>
          <a:spcPts val="500"/>
        </a:spcBef>
        <a:spcAft>
          <a:spcPct val="0"/>
        </a:spcAft>
        <a:buClr>
          <a:schemeClr val="accent2"/>
        </a:buClr>
        <a:buSzPct val="75000"/>
        <a:buFont typeface="Wingdings" panose="05000000000000000000" pitchFamily="2" charset="2"/>
        <a:buChar char="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fontAlgn="base">
        <a:spcBef>
          <a:spcPts val="400"/>
        </a:spcBef>
        <a:spcAft>
          <a:spcPct val="0"/>
        </a:spcAft>
        <a:buClr>
          <a:srgbClr val="A5AB81"/>
        </a:buClr>
        <a:buSzPct val="75000"/>
        <a:buFont typeface="Wingdings" panose="05000000000000000000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fontAlgn="base">
        <a:spcBef>
          <a:spcPts val="400"/>
        </a:spcBef>
        <a:spcAft>
          <a:spcPct val="0"/>
        </a:spcAft>
        <a:buClr>
          <a:srgbClr val="D8B25C"/>
        </a:buClr>
        <a:buSzPct val="65000"/>
        <a:buFont typeface="Wingdings" panose="05000000000000000000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49600" y="2109788"/>
            <a:ext cx="6477000" cy="1828800"/>
          </a:xfrm>
        </p:spPr>
        <p:txBody>
          <a:bodyPr>
            <a:normAutofit fontScale="90000"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dirty="0"/>
              <a:t>FNSC WORK PLAN  </a:t>
            </a:r>
            <a:br>
              <a:rPr lang="en-US" dirty="0"/>
            </a:b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JANUARY- DECEmber 2025</a:t>
            </a:r>
          </a:p>
        </p:txBody>
      </p:sp>
      <p:sp>
        <p:nvSpPr>
          <p:cNvPr id="12291" name="Subtitle 2"/>
          <p:cNvSpPr>
            <a:spLocks noGrp="1"/>
          </p:cNvSpPr>
          <p:nvPr>
            <p:ph type="subTitle" idx="1"/>
          </p:nvPr>
        </p:nvSpPr>
        <p:spPr>
          <a:xfrm>
            <a:off x="3149600" y="6049963"/>
            <a:ext cx="8940800" cy="685800"/>
          </a:xfrm>
        </p:spPr>
        <p:txBody>
          <a:bodyPr/>
          <a:lstStyle/>
          <a:p>
            <a:r>
              <a:rPr lang="en-US" altLang="en-US" dirty="0" err="1" smtClean="0"/>
              <a:t>Mashonaland</a:t>
            </a:r>
            <a:r>
              <a:rPr lang="en-US" altLang="en-US" dirty="0" smtClean="0"/>
              <a:t> </a:t>
            </a:r>
            <a:r>
              <a:rPr lang="en-US" altLang="en-US" dirty="0"/>
              <a:t>Central</a:t>
            </a:r>
          </a:p>
        </p:txBody>
      </p:sp>
      <p:sp>
        <p:nvSpPr>
          <p:cNvPr id="4" name="Rectangle 3"/>
          <p:cNvSpPr/>
          <p:nvPr/>
        </p:nvSpPr>
        <p:spPr>
          <a:xfrm>
            <a:off x="-68263" y="5840413"/>
            <a:ext cx="3663951" cy="646112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/>
                <a:ea typeface="+mn-ea"/>
                <a:cs typeface="Arial" panose="020B0604020202020204" pitchFamily="34" charset="0"/>
              </a:rPr>
              <a:t>NAME OF DISTRICT/ PROVINCE</a:t>
            </a:r>
          </a:p>
        </p:txBody>
      </p:sp>
    </p:spTree>
    <p:extLst>
      <p:ext uri="{BB962C8B-B14F-4D97-AF65-F5344CB8AC3E}">
        <p14:creationId xmlns:p14="http://schemas.microsoft.com/office/powerpoint/2010/main" val="3418132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="" xmlns:a16="http://schemas.microsoft.com/office/drawing/2014/main" id="{43EF36D3-E5B4-4636-02D5-76D2B2D867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85536620"/>
              </p:ext>
            </p:extLst>
          </p:nvPr>
        </p:nvGraphicFramePr>
        <p:xfrm>
          <a:off x="130629" y="-8343"/>
          <a:ext cx="11820965" cy="68732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0150">
                  <a:extLst>
                    <a:ext uri="{9D8B030D-6E8A-4147-A177-3AD203B41FA5}">
                      <a16:colId xmlns="" xmlns:a16="http://schemas.microsoft.com/office/drawing/2014/main" val="3360934282"/>
                    </a:ext>
                  </a:extLst>
                </a:gridCol>
                <a:gridCol w="1956346">
                  <a:extLst>
                    <a:ext uri="{9D8B030D-6E8A-4147-A177-3AD203B41FA5}">
                      <a16:colId xmlns="" xmlns:a16="http://schemas.microsoft.com/office/drawing/2014/main" val="1251581781"/>
                    </a:ext>
                  </a:extLst>
                </a:gridCol>
                <a:gridCol w="1278557">
                  <a:extLst>
                    <a:ext uri="{9D8B030D-6E8A-4147-A177-3AD203B41FA5}">
                      <a16:colId xmlns="" xmlns:a16="http://schemas.microsoft.com/office/drawing/2014/main" val="3579880041"/>
                    </a:ext>
                  </a:extLst>
                </a:gridCol>
                <a:gridCol w="3040302">
                  <a:extLst>
                    <a:ext uri="{9D8B030D-6E8A-4147-A177-3AD203B41FA5}">
                      <a16:colId xmlns="" xmlns:a16="http://schemas.microsoft.com/office/drawing/2014/main" val="938181305"/>
                    </a:ext>
                  </a:extLst>
                </a:gridCol>
                <a:gridCol w="1471870">
                  <a:extLst>
                    <a:ext uri="{9D8B030D-6E8A-4147-A177-3AD203B41FA5}">
                      <a16:colId xmlns="" xmlns:a16="http://schemas.microsoft.com/office/drawing/2014/main" val="2501488113"/>
                    </a:ext>
                  </a:extLst>
                </a:gridCol>
                <a:gridCol w="1471870">
                  <a:extLst>
                    <a:ext uri="{9D8B030D-6E8A-4147-A177-3AD203B41FA5}">
                      <a16:colId xmlns="" xmlns:a16="http://schemas.microsoft.com/office/drawing/2014/main" val="1938311817"/>
                    </a:ext>
                  </a:extLst>
                </a:gridCol>
                <a:gridCol w="1471870">
                  <a:extLst>
                    <a:ext uri="{9D8B030D-6E8A-4147-A177-3AD203B41FA5}">
                      <a16:colId xmlns="" xmlns:a16="http://schemas.microsoft.com/office/drawing/2014/main" val="3472435495"/>
                    </a:ext>
                  </a:extLst>
                </a:gridCol>
              </a:tblGrid>
              <a:tr h="426404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Key Result Area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Activity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Target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Process Indicator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Resources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Timeline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Lead Agency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extLst>
                  <a:ext uri="{0D108BD9-81ED-4DB2-BD59-A6C34878D82A}">
                    <a16:rowId xmlns="" xmlns:a16="http://schemas.microsoft.com/office/drawing/2014/main" val="2437075653"/>
                  </a:ext>
                </a:extLst>
              </a:tr>
              <a:tr h="2023460">
                <a:tc row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Sensitise</a:t>
                      </a:r>
                      <a:r>
                        <a:rPr lang="en-US" sz="1400" kern="1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District Health Executives  on Statutory Instrument 192 of 2024 on breast milk substitutes, Infant and young child feeding regulations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 smtClean="0"/>
                        <a:t>Sensitise</a:t>
                      </a:r>
                      <a:r>
                        <a:rPr lang="en-US" sz="1400" dirty="0" smtClean="0"/>
                        <a:t> 8 DHEs 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Number of</a:t>
                      </a:r>
                      <a:r>
                        <a:rPr lang="en-US" sz="1400" kern="1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DHEs implementing the new SI 192 of 2024.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Vehicle, lunch allowances, airtime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31</a:t>
                      </a:r>
                      <a:r>
                        <a:rPr lang="en-US" sz="1400" baseline="0" dirty="0" smtClean="0"/>
                        <a:t> March 2025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Ministry</a:t>
                      </a:r>
                      <a:r>
                        <a:rPr lang="en-US" sz="14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of Health-Nutrition/Environmental health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</a:tr>
              <a:tr h="2282837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Participation</a:t>
                      </a:r>
                      <a:r>
                        <a:rPr lang="en-US" sz="1400" baseline="0" dirty="0" smtClean="0"/>
                        <a:t> of PFNSC in Provincial development Activities</a:t>
                      </a:r>
                      <a:endParaRPr lang="en-US" sz="1400" dirty="0"/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r>
                        <a:rPr lang="en-US" sz="1400" baseline="0" dirty="0" smtClean="0"/>
                        <a:t>PFNSC to attend and present on food and nutrition security achievements at 4 PDC</a:t>
                      </a:r>
                      <a:r>
                        <a:rPr lang="en-US" sz="1400" dirty="0" smtClean="0"/>
                        <a:t> meetings (1</a:t>
                      </a:r>
                      <a:r>
                        <a:rPr lang="en-US" sz="1400" baseline="0" dirty="0" smtClean="0"/>
                        <a:t> per quarter)</a:t>
                      </a:r>
                      <a:endParaRPr lang="en-US" sz="1400" dirty="0"/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Number</a:t>
                      </a:r>
                      <a:r>
                        <a:rPr lang="en-US" sz="1400" baseline="0" dirty="0" smtClean="0"/>
                        <a:t> of PDC meetings attended by PFNSC</a:t>
                      </a:r>
                      <a:endParaRPr lang="en-US" sz="1400" dirty="0"/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Lunches</a:t>
                      </a:r>
                      <a:r>
                        <a:rPr lang="en-US" sz="1400" baseline="0" dirty="0" smtClean="0"/>
                        <a:t> and refreshments</a:t>
                      </a:r>
                      <a:endParaRPr lang="en-US" sz="1400" dirty="0"/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1</a:t>
                      </a:r>
                      <a:r>
                        <a:rPr lang="en-US" sz="1400" baseline="0" dirty="0" smtClean="0"/>
                        <a:t> Jan to 31 December 2025</a:t>
                      </a:r>
                      <a:endParaRPr lang="en-US" sz="1400" dirty="0"/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OPC</a:t>
                      </a:r>
                      <a:endParaRPr lang="en-US" sz="1400" dirty="0"/>
                    </a:p>
                  </a:txBody>
                  <a:tcPr marL="6593" marR="6593" marT="6593" marB="0" anchor="b"/>
                </a:tc>
                <a:extLst>
                  <a:ext uri="{0D108BD9-81ED-4DB2-BD59-A6C34878D82A}">
                    <a16:rowId xmlns="" xmlns:a16="http://schemas.microsoft.com/office/drawing/2014/main" val="1446368338"/>
                  </a:ext>
                </a:extLst>
              </a:tr>
              <a:tr h="719785">
                <a:tc rowSpan="3">
                  <a:txBody>
                    <a:bodyPr/>
                    <a:lstStyle/>
                    <a:p>
                      <a:endParaRPr lang="en-US" dirty="0"/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Indigenous chickens distributed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3" marR="8703" marT="870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40 000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3" marR="8703" marT="870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Number of indegenous chickens distributed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3" marR="8703" marT="870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Chicks, stress packs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3" marR="8703" marT="870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1 Jan 25 to 31 Dec 25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3" marR="8703" marT="870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ARDAS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3" marR="8703" marT="8703" marB="0" anchor="b"/>
                </a:tc>
              </a:tr>
              <a:tr h="719785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Fish Ponds Stocked with Fish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3" marR="8703" marT="870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16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3" marR="8703" marT="870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Number of fish ponds stocked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3" marR="8703" marT="870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Fingerlings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3" marR="8703" marT="870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1 Jan 25 to 31 Dec 25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3" marR="8703" marT="870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ARDAS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3" marR="8703" marT="8703" marB="0" anchor="b"/>
                </a:tc>
              </a:tr>
              <a:tr h="694072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Dams Stocked with fish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3" marR="8703" marT="870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8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3" marR="8703" marT="870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Number of dams stocked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3" marR="8703" marT="870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Fingerlings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3" marR="8703" marT="870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1 Jan 25 to 31 Dec 25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3" marR="8703" marT="870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ARDAS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3" marR="8703" marT="8703" marB="0" anchor="b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63639" y="5100034"/>
            <a:ext cx="732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KRA 2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63640" y="1828800"/>
            <a:ext cx="934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KRA 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6206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="" xmlns:a16="http://schemas.microsoft.com/office/drawing/2014/main" id="{43EF36D3-E5B4-4636-02D5-76D2B2D867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1535505"/>
              </p:ext>
            </p:extLst>
          </p:nvPr>
        </p:nvGraphicFramePr>
        <p:xfrm>
          <a:off x="270455" y="240580"/>
          <a:ext cx="11681139" cy="63383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6782">
                  <a:extLst>
                    <a:ext uri="{9D8B030D-6E8A-4147-A177-3AD203B41FA5}">
                      <a16:colId xmlns="" xmlns:a16="http://schemas.microsoft.com/office/drawing/2014/main" val="3360934282"/>
                    </a:ext>
                  </a:extLst>
                </a:gridCol>
                <a:gridCol w="1933205">
                  <a:extLst>
                    <a:ext uri="{9D8B030D-6E8A-4147-A177-3AD203B41FA5}">
                      <a16:colId xmlns="" xmlns:a16="http://schemas.microsoft.com/office/drawing/2014/main" val="1251581781"/>
                    </a:ext>
                  </a:extLst>
                </a:gridCol>
                <a:gridCol w="1245115">
                  <a:extLst>
                    <a:ext uri="{9D8B030D-6E8A-4147-A177-3AD203B41FA5}">
                      <a16:colId xmlns="" xmlns:a16="http://schemas.microsoft.com/office/drawing/2014/main" val="3579880041"/>
                    </a:ext>
                  </a:extLst>
                </a:gridCol>
                <a:gridCol w="3022657">
                  <a:extLst>
                    <a:ext uri="{9D8B030D-6E8A-4147-A177-3AD203B41FA5}">
                      <a16:colId xmlns="" xmlns:a16="http://schemas.microsoft.com/office/drawing/2014/main" val="938181305"/>
                    </a:ext>
                  </a:extLst>
                </a:gridCol>
                <a:gridCol w="1454460">
                  <a:extLst>
                    <a:ext uri="{9D8B030D-6E8A-4147-A177-3AD203B41FA5}">
                      <a16:colId xmlns="" xmlns:a16="http://schemas.microsoft.com/office/drawing/2014/main" val="2501488113"/>
                    </a:ext>
                  </a:extLst>
                </a:gridCol>
                <a:gridCol w="1454460">
                  <a:extLst>
                    <a:ext uri="{9D8B030D-6E8A-4147-A177-3AD203B41FA5}">
                      <a16:colId xmlns="" xmlns:a16="http://schemas.microsoft.com/office/drawing/2014/main" val="1938311817"/>
                    </a:ext>
                  </a:extLst>
                </a:gridCol>
                <a:gridCol w="1454460">
                  <a:extLst>
                    <a:ext uri="{9D8B030D-6E8A-4147-A177-3AD203B41FA5}">
                      <a16:colId xmlns="" xmlns:a16="http://schemas.microsoft.com/office/drawing/2014/main" val="3472435495"/>
                    </a:ext>
                  </a:extLst>
                </a:gridCol>
              </a:tblGrid>
              <a:tr h="636741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Key Result Area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Activity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Target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Process Indicator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Resources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Timeline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Lead Agency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extLst>
                  <a:ext uri="{0D108BD9-81ED-4DB2-BD59-A6C34878D82A}">
                    <a16:rowId xmlns="" xmlns:a16="http://schemas.microsoft.com/office/drawing/2014/main" val="2437075653"/>
                  </a:ext>
                </a:extLst>
              </a:tr>
              <a:tr h="950268">
                <a:tc rowSpan="6">
                  <a:txBody>
                    <a:bodyPr/>
                    <a:lstStyle/>
                    <a:p>
                      <a:endParaRPr lang="en-US" dirty="0"/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Farmers Trained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440 000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Number of farmers trained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Training material, fuel, airtime and T&amp;S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1 Jan 25 to 31 Dec 25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ARDAS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extLst>
                  <a:ext uri="{0D108BD9-81ED-4DB2-BD59-A6C34878D82A}">
                    <a16:rowId xmlns="" xmlns:a16="http://schemas.microsoft.com/office/drawing/2014/main" val="1446368338"/>
                  </a:ext>
                </a:extLst>
              </a:tr>
              <a:tr h="950268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 Staff Capacitated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722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Number of staff capacitated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Training material, fuel, airtime and T&amp;S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1 Jan 25 to 31 Dec 25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ARDAS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extLst>
                  <a:ext uri="{0D108BD9-81ED-4DB2-BD59-A6C34878D82A}">
                    <a16:rowId xmlns="" xmlns:a16="http://schemas.microsoft.com/office/drawing/2014/main" val="1873587570"/>
                  </a:ext>
                </a:extLst>
              </a:tr>
              <a:tr h="950268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Maize planted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235 000 ha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Area planted 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Training material, fuel, airtime and T&amp;S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1 Jan 25 to 31 Dec 25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ARDAS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extLst>
                  <a:ext uri="{0D108BD9-81ED-4DB2-BD59-A6C34878D82A}">
                    <a16:rowId xmlns="" xmlns:a16="http://schemas.microsoft.com/office/drawing/2014/main" val="1624644180"/>
                  </a:ext>
                </a:extLst>
              </a:tr>
              <a:tr h="950268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Winter Wheat planted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25 000ha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Area planted 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Training material, fuel, airtime and T&amp;S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1 Jan 25 to 31 Dec 25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ARDAS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extLst>
                  <a:ext uri="{0D108BD9-81ED-4DB2-BD59-A6C34878D82A}">
                    <a16:rowId xmlns="" xmlns:a16="http://schemas.microsoft.com/office/drawing/2014/main" val="1957382621"/>
                  </a:ext>
                </a:extLst>
              </a:tr>
              <a:tr h="950268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Small grains planted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55 000ha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Area planted 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Training material, fuel, airtime and T&amp;S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1 Jan 25 to 31 Dec 25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ARDAS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extLst>
                  <a:ext uri="{0D108BD9-81ED-4DB2-BD59-A6C34878D82A}">
                    <a16:rowId xmlns="" xmlns:a16="http://schemas.microsoft.com/office/drawing/2014/main" val="809500126"/>
                  </a:ext>
                </a:extLst>
              </a:tr>
              <a:tr h="950268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Crop, Livestock and Fisheries Assessment conducted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Number of crop and livestock assessments conducted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Training material, fuel, airtime and T&amp;S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1 Jan 25 to 31 Dec 25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ARDAS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extLst>
                  <a:ext uri="{0D108BD9-81ED-4DB2-BD59-A6C34878D82A}">
                    <a16:rowId xmlns="" xmlns:a16="http://schemas.microsoft.com/office/drawing/2014/main" val="1007152048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321973" y="3863662"/>
            <a:ext cx="978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KRA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07370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="" xmlns:a16="http://schemas.microsoft.com/office/drawing/2014/main" id="{6A32B807-36CE-BDD6-18D9-A5D7980C5B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0378715"/>
              </p:ext>
            </p:extLst>
          </p:nvPr>
        </p:nvGraphicFramePr>
        <p:xfrm>
          <a:off x="232756" y="215767"/>
          <a:ext cx="11671068" cy="6642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3207">
                  <a:extLst>
                    <a:ext uri="{9D8B030D-6E8A-4147-A177-3AD203B41FA5}">
                      <a16:colId xmlns="" xmlns:a16="http://schemas.microsoft.com/office/drawing/2014/main" val="352542513"/>
                    </a:ext>
                  </a:extLst>
                </a:gridCol>
                <a:gridCol w="2157104">
                  <a:extLst>
                    <a:ext uri="{9D8B030D-6E8A-4147-A177-3AD203B41FA5}">
                      <a16:colId xmlns="" xmlns:a16="http://schemas.microsoft.com/office/drawing/2014/main" val="1231917169"/>
                    </a:ext>
                  </a:extLst>
                </a:gridCol>
                <a:gridCol w="1453207">
                  <a:extLst>
                    <a:ext uri="{9D8B030D-6E8A-4147-A177-3AD203B41FA5}">
                      <a16:colId xmlns="" xmlns:a16="http://schemas.microsoft.com/office/drawing/2014/main" val="1048618676"/>
                    </a:ext>
                  </a:extLst>
                </a:gridCol>
                <a:gridCol w="2247929">
                  <a:extLst>
                    <a:ext uri="{9D8B030D-6E8A-4147-A177-3AD203B41FA5}">
                      <a16:colId xmlns="" xmlns:a16="http://schemas.microsoft.com/office/drawing/2014/main" val="4162001244"/>
                    </a:ext>
                  </a:extLst>
                </a:gridCol>
                <a:gridCol w="1453207">
                  <a:extLst>
                    <a:ext uri="{9D8B030D-6E8A-4147-A177-3AD203B41FA5}">
                      <a16:colId xmlns="" xmlns:a16="http://schemas.microsoft.com/office/drawing/2014/main" val="1774726205"/>
                    </a:ext>
                  </a:extLst>
                </a:gridCol>
                <a:gridCol w="1453207">
                  <a:extLst>
                    <a:ext uri="{9D8B030D-6E8A-4147-A177-3AD203B41FA5}">
                      <a16:colId xmlns="" xmlns:a16="http://schemas.microsoft.com/office/drawing/2014/main" val="883293203"/>
                    </a:ext>
                  </a:extLst>
                </a:gridCol>
                <a:gridCol w="1453207">
                  <a:extLst>
                    <a:ext uri="{9D8B030D-6E8A-4147-A177-3AD203B41FA5}">
                      <a16:colId xmlns="" xmlns:a16="http://schemas.microsoft.com/office/drawing/2014/main" val="1420154954"/>
                    </a:ext>
                  </a:extLst>
                </a:gridCol>
              </a:tblGrid>
              <a:tr h="874773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</a:rPr>
                        <a:t>Key Result Area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3" marR="8703" marT="870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Activity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3" marR="8703" marT="870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Target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3" marR="8703" marT="870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</a:rPr>
                        <a:t>Process Indicator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3" marR="8703" marT="870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Resources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3" marR="8703" marT="870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Timeline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3" marR="8703" marT="870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Lead Agency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3" marR="8703" marT="8703" marB="0" anchor="b"/>
                </a:tc>
                <a:extLst>
                  <a:ext uri="{0D108BD9-81ED-4DB2-BD59-A6C34878D82A}">
                    <a16:rowId xmlns="" xmlns:a16="http://schemas.microsoft.com/office/drawing/2014/main" val="3317888053"/>
                  </a:ext>
                </a:extLst>
              </a:tr>
              <a:tr h="874773">
                <a:tc rowSpan="5">
                  <a:txBody>
                    <a:bodyPr/>
                    <a:lstStyle/>
                    <a:p>
                      <a:endParaRPr lang="en-US" dirty="0"/>
                    </a:p>
                  </a:txBody>
                  <a:tcPr marL="8703" marR="8703" marT="870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Sweet potato vines distributed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3" marR="8703" marT="870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200 000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3" marR="8703" marT="870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Number of vines distributed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3" marR="8703" marT="870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Vines, Vehicle, fuel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3" marR="8703" marT="870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1 Jan 25 to 31 Dec 25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3" marR="8703" marT="870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ARDAS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3" marR="8703" marT="8703" marB="0" anchor="b"/>
                </a:tc>
                <a:extLst>
                  <a:ext uri="{0D108BD9-81ED-4DB2-BD59-A6C34878D82A}">
                    <a16:rowId xmlns="" xmlns:a16="http://schemas.microsoft.com/office/drawing/2014/main" val="1429997148"/>
                  </a:ext>
                </a:extLst>
              </a:tr>
              <a:tr h="874773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 marL="8703" marR="8703" marT="870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Business units monitored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3" marR="8703" marT="870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3" marR="8703" marT="870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Number of business units monitored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3" marR="8703" marT="870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Vehicle, fuel, T&amp;S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3" marR="8703" marT="870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1 Jan 25 to 31 Dec 25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3" marR="8703" marT="870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ARDAS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3" marR="8703" marT="8703" marB="0" anchor="b"/>
                </a:tc>
                <a:extLst>
                  <a:ext uri="{0D108BD9-81ED-4DB2-BD59-A6C34878D82A}">
                    <a16:rowId xmlns="" xmlns:a16="http://schemas.microsoft.com/office/drawing/2014/main" val="2367198280"/>
                  </a:ext>
                </a:extLst>
              </a:tr>
              <a:tr h="874773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 marL="8703" marR="8703" marT="870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 smtClean="0">
                          <a:effectLst/>
                        </a:rPr>
                        <a:t>Field days </a:t>
                      </a:r>
                      <a:r>
                        <a:rPr lang="en-US" sz="1600" u="none" strike="noStrike" dirty="0">
                          <a:effectLst/>
                        </a:rPr>
                        <a:t>Conducted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3" marR="8703" marT="870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220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3" marR="8703" marT="870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Number of field days conducted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3" marR="8703" marT="870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Vehicle, fuel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3" marR="8703" marT="870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1 Jan 25 to 31 Dec 25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3" marR="8703" marT="870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ARDAS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3" marR="8703" marT="8703" marB="0" anchor="b"/>
                </a:tc>
                <a:extLst>
                  <a:ext uri="{0D108BD9-81ED-4DB2-BD59-A6C34878D82A}">
                    <a16:rowId xmlns="" xmlns:a16="http://schemas.microsoft.com/office/drawing/2014/main" val="2924471610"/>
                  </a:ext>
                </a:extLst>
              </a:tr>
              <a:tr h="874773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 marL="8703" marR="8703" marT="870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Famers assisted with PIP inputs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3" marR="8703" marT="870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440 000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3" marR="8703" marT="870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Number of farmers assisted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3" marR="8703" marT="870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Input packs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3" marR="8703" marT="870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1 Jan 25 to 31 Dec 25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3" marR="8703" marT="870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ARDAS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3" marR="8703" marT="8703" marB="0" anchor="b"/>
                </a:tc>
                <a:extLst>
                  <a:ext uri="{0D108BD9-81ED-4DB2-BD59-A6C34878D82A}">
                    <a16:rowId xmlns="" xmlns:a16="http://schemas.microsoft.com/office/drawing/2014/main" val="134468664"/>
                  </a:ext>
                </a:extLst>
              </a:tr>
              <a:tr h="2268367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 marL="8703" marR="8703" marT="8703" marB="0" anchor="b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Tillage. Land</a:t>
                      </a:r>
                      <a:r>
                        <a:rPr lang="en-US" sz="1600" kern="1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preparation, ploughing, Discing, Ripping, Boom spraying.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125 hectares of land prepared</a:t>
                      </a:r>
                      <a:r>
                        <a:rPr lang="en-US" sz="1600" baseline="0" dirty="0" smtClean="0"/>
                        <a:t> </a:t>
                      </a:r>
                      <a:r>
                        <a:rPr lang="en-US" sz="1600" dirty="0" smtClean="0"/>
                        <a:t>per quarter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Area of land</a:t>
                      </a:r>
                      <a:r>
                        <a:rPr lang="en-US" sz="1600" kern="1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prepared per District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Lubricants,grease,bearings.Fuels</a:t>
                      </a:r>
                      <a:r>
                        <a:rPr lang="en-US" sz="1600" baseline="0" dirty="0" smtClean="0"/>
                        <a:t> 3000 litres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January</a:t>
                      </a:r>
                      <a:r>
                        <a:rPr lang="en-US" sz="1600" baseline="0" dirty="0" smtClean="0"/>
                        <a:t> 1 to march 31 2025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RIDA</a:t>
                      </a:r>
                      <a:endParaRPr lang="en-US" sz="16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262130" y="1262130"/>
            <a:ext cx="732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KRA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900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5805962"/>
              </p:ext>
            </p:extLst>
          </p:nvPr>
        </p:nvGraphicFramePr>
        <p:xfrm>
          <a:off x="0" y="241523"/>
          <a:ext cx="12191998" cy="6454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1714"/>
                <a:gridCol w="1741714"/>
                <a:gridCol w="1741714"/>
                <a:gridCol w="1741714"/>
                <a:gridCol w="1741714"/>
                <a:gridCol w="1741714"/>
                <a:gridCol w="1741714"/>
              </a:tblGrid>
              <a:tr h="405478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kern="1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Key</a:t>
                      </a:r>
                      <a:r>
                        <a:rPr lang="en-US" sz="1100" b="1" kern="1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Result Area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Activity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Target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Process Indicator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Resources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Timeline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Lead Agency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2497703">
                <a:tc rowSpan="4"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latin typeface="+mj-lt"/>
                        </a:rPr>
                        <a:t>KRA</a:t>
                      </a:r>
                      <a:r>
                        <a:rPr lang="en-US" sz="1600" b="1" baseline="0" dirty="0" smtClean="0">
                          <a:latin typeface="+mj-lt"/>
                        </a:rPr>
                        <a:t> 2</a:t>
                      </a:r>
                      <a:endParaRPr lang="en-US" sz="1600" b="1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Train </a:t>
                      </a:r>
                      <a:r>
                        <a:rPr lang="en-US" sz="1600" kern="10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community </a:t>
                      </a:r>
                      <a:r>
                        <a:rPr lang="en-US" sz="1600" kern="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on </a:t>
                      </a:r>
                      <a:r>
                        <a:rPr lang="en-US" sz="1600" kern="10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Climate SMART Agricultural Practices </a:t>
                      </a:r>
                      <a:r>
                        <a:rPr lang="en-US" sz="1600" kern="100" dirty="0" err="1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eg</a:t>
                      </a:r>
                      <a:r>
                        <a:rPr lang="en-US" sz="1600" kern="10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kern="100" dirty="0" err="1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Pfumudza</a:t>
                      </a:r>
                      <a:endParaRPr lang="en-US" sz="16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+mn-lt"/>
                        </a:rPr>
                        <a:t>5000 community members</a:t>
                      </a:r>
                      <a:r>
                        <a:rPr lang="en-US" sz="1600" baseline="0" dirty="0" smtClean="0">
                          <a:latin typeface="+mn-lt"/>
                        </a:rPr>
                        <a:t> trained on </a:t>
                      </a:r>
                      <a:r>
                        <a:rPr lang="en-US" sz="1600" baseline="0" dirty="0" err="1" smtClean="0">
                          <a:latin typeface="+mn-lt"/>
                        </a:rPr>
                        <a:t>pfumvudza</a:t>
                      </a:r>
                      <a:endParaRPr lang="en-US" sz="16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Number of </a:t>
                      </a:r>
                      <a:r>
                        <a:rPr lang="en-US" sz="1600" kern="10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community</a:t>
                      </a:r>
                      <a:r>
                        <a:rPr lang="en-US" sz="1600" kern="100" baseline="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members </a:t>
                      </a:r>
                      <a:r>
                        <a:rPr lang="en-US" sz="1600" kern="10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trained on</a:t>
                      </a:r>
                      <a:r>
                        <a:rPr lang="en-US" sz="1600" kern="100" baseline="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SMART Agriculture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0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Proportion of HH adopting climate</a:t>
                      </a:r>
                      <a:endParaRPr lang="en-US" sz="16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+mn-lt"/>
                        </a:rPr>
                        <a:t>Training materials </a:t>
                      </a:r>
                    </a:p>
                    <a:p>
                      <a:r>
                        <a:rPr lang="en-US" sz="1600" baseline="0" dirty="0" smtClean="0">
                          <a:latin typeface="+mn-lt"/>
                        </a:rPr>
                        <a:t>T&amp;S</a:t>
                      </a:r>
                    </a:p>
                    <a:p>
                      <a:r>
                        <a:rPr lang="en-US" sz="1600" baseline="0" dirty="0" smtClean="0">
                          <a:latin typeface="+mn-lt"/>
                        </a:rPr>
                        <a:t>Vehicle</a:t>
                      </a:r>
                    </a:p>
                    <a:p>
                      <a:r>
                        <a:rPr lang="en-US" sz="1600" baseline="0" dirty="0" smtClean="0">
                          <a:latin typeface="+mn-lt"/>
                        </a:rPr>
                        <a:t>Fuel </a:t>
                      </a:r>
                      <a:endParaRPr lang="en-US" sz="1600" dirty="0" smtClean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+mn-lt"/>
                        </a:rPr>
                        <a:t>APRIL TO NOV 2025</a:t>
                      </a:r>
                      <a:endParaRPr lang="en-US" sz="16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+mn-lt"/>
                        </a:rPr>
                        <a:t>AGRITEX, EMA</a:t>
                      </a:r>
                      <a:r>
                        <a:rPr lang="en-US" sz="1600" baseline="0" dirty="0" smtClean="0">
                          <a:latin typeface="+mn-lt"/>
                        </a:rPr>
                        <a:t>, </a:t>
                      </a:r>
                      <a:r>
                        <a:rPr lang="en-US" sz="1600" dirty="0" smtClean="0">
                          <a:latin typeface="+mn-lt"/>
                        </a:rPr>
                        <a:t>Women</a:t>
                      </a:r>
                      <a:r>
                        <a:rPr lang="en-US" sz="1600" baseline="0" dirty="0" smtClean="0">
                          <a:latin typeface="+mn-lt"/>
                        </a:rPr>
                        <a:t> Affairs </a:t>
                      </a:r>
                      <a:endParaRPr lang="en-US" sz="1600" dirty="0">
                        <a:latin typeface="+mn-lt"/>
                      </a:endParaRPr>
                    </a:p>
                  </a:txBody>
                  <a:tcPr/>
                </a:tc>
              </a:tr>
              <a:tr h="1183848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Ward Extension staff capacity building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+mn-lt"/>
                        </a:rPr>
                        <a:t>176 CDCs</a:t>
                      </a:r>
                      <a:endParaRPr lang="en-US" sz="16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600" kern="10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number of Ward extension staff (CDC) trained on FNS issues</a:t>
                      </a:r>
                      <a:endParaRPr lang="en-US" sz="16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+mn-lt"/>
                        </a:rPr>
                        <a:t>Training materials </a:t>
                      </a:r>
                    </a:p>
                    <a:p>
                      <a:r>
                        <a:rPr lang="en-US" sz="1600" baseline="0" dirty="0" smtClean="0">
                          <a:latin typeface="+mn-lt"/>
                        </a:rPr>
                        <a:t>T&amp;S</a:t>
                      </a:r>
                    </a:p>
                    <a:p>
                      <a:r>
                        <a:rPr lang="en-US" sz="1600" baseline="0" dirty="0" smtClean="0">
                          <a:latin typeface="+mn-lt"/>
                        </a:rPr>
                        <a:t>Vehicle</a:t>
                      </a:r>
                    </a:p>
                    <a:p>
                      <a:r>
                        <a:rPr lang="en-US" sz="1600" baseline="0" dirty="0" smtClean="0">
                          <a:latin typeface="+mn-lt"/>
                        </a:rPr>
                        <a:t>Fuel </a:t>
                      </a:r>
                      <a:endParaRPr lang="en-US" sz="1600" dirty="0" smtClean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+mn-lt"/>
                        </a:rPr>
                        <a:t>APRIL TO NOV 2025</a:t>
                      </a:r>
                      <a:endParaRPr lang="en-US" sz="16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+mn-lt"/>
                        </a:rPr>
                        <a:t>AGRITEX, EMA, Healt</a:t>
                      </a:r>
                      <a:r>
                        <a:rPr lang="en-US" sz="1600" baseline="0" dirty="0" smtClean="0">
                          <a:latin typeface="+mn-lt"/>
                        </a:rPr>
                        <a:t>h, </a:t>
                      </a:r>
                      <a:r>
                        <a:rPr lang="en-US" sz="1600" dirty="0" smtClean="0">
                          <a:latin typeface="+mn-lt"/>
                        </a:rPr>
                        <a:t>Women</a:t>
                      </a:r>
                      <a:r>
                        <a:rPr lang="en-US" sz="1600" baseline="0" dirty="0" smtClean="0">
                          <a:latin typeface="+mn-lt"/>
                        </a:rPr>
                        <a:t> Affairs </a:t>
                      </a:r>
                      <a:endParaRPr lang="en-US" sz="1600" dirty="0">
                        <a:latin typeface="+mn-lt"/>
                      </a:endParaRPr>
                    </a:p>
                  </a:txBody>
                  <a:tcPr/>
                </a:tc>
              </a:tr>
              <a:tr h="1183848">
                <a:tc vMerge="1">
                  <a:txBody>
                    <a:bodyPr/>
                    <a:lstStyle/>
                    <a:p>
                      <a:pPr algn="ctr"/>
                      <a:endParaRPr lang="en-US" sz="1600" b="1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Village</a:t>
                      </a:r>
                      <a:r>
                        <a:rPr lang="en-US" sz="14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Business Units 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Market linkages created</a:t>
                      </a: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Markets created</a:t>
                      </a: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Fuels, T&amp;S, air time</a:t>
                      </a: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1 Jan 25 to 31 Dec 25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AMA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</a:tr>
              <a:tr h="1183848">
                <a:tc vMerge="1">
                  <a:txBody>
                    <a:bodyPr/>
                    <a:lstStyle/>
                    <a:p>
                      <a:pPr algn="ctr"/>
                      <a:endParaRPr lang="en-US" sz="1600" b="1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IBUs Market linkages created</a:t>
                      </a: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Markets created</a:t>
                      </a: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Fuels, T&amp;S, air time</a:t>
                      </a: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1 Jan 25 to 31 Dec 25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AMA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83067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6466202"/>
              </p:ext>
            </p:extLst>
          </p:nvPr>
        </p:nvGraphicFramePr>
        <p:xfrm>
          <a:off x="166255" y="163080"/>
          <a:ext cx="11661569" cy="6570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4912"/>
                <a:gridCol w="1929967"/>
                <a:gridCol w="1243028"/>
                <a:gridCol w="3017593"/>
                <a:gridCol w="1452023"/>
                <a:gridCol w="1452023"/>
                <a:gridCol w="1452023"/>
              </a:tblGrid>
              <a:tr h="956989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Key Result Area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Activity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Target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Process Indicator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Resources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Timeline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Lead Agency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</a:tr>
              <a:tr h="1428202">
                <a:tc rowSpan="4">
                  <a:txBody>
                    <a:bodyPr/>
                    <a:lstStyle/>
                    <a:p>
                      <a:endParaRPr lang="en-US" dirty="0"/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Capacity</a:t>
                      </a:r>
                      <a:r>
                        <a:rPr lang="en-US" sz="14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building</a:t>
                      </a:r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 </a:t>
                      </a:r>
                    </a:p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Contract farming and </a:t>
                      </a:r>
                    </a:p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Marketing</a:t>
                      </a: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200 farmers trained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Farmers </a:t>
                      </a:r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trained on contract farming and marketing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Training material, fuel, airtime and T&amp;S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1 Jan 25 to 31 Dec 25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AMA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</a:tr>
              <a:tr h="1328635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Farmer registration</a:t>
                      </a: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5000</a:t>
                      </a: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Farmers registered</a:t>
                      </a: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Fuel</a:t>
                      </a: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AMA</a:t>
                      </a:r>
                    </a:p>
                  </a:txBody>
                  <a:tcPr marL="6593" marR="6593" marT="6593" marB="0" anchor="b"/>
                </a:tc>
              </a:tr>
              <a:tr h="1428202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Merchants registered</a:t>
                      </a: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Merchants registered</a:t>
                      </a: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Training material, fuel, airtime and T&amp;S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1 Jan 25 to 31 Dec 25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AMA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</a:tr>
              <a:tr h="1428202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Cluster registration</a:t>
                      </a: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5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Number of farmer clusters registered</a:t>
                      </a: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Training material, fuel, airtime and T&amp;S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1 Jan 25 to 31 Dec 25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AMA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91887" y="2802577"/>
            <a:ext cx="771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KRA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5581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6221977"/>
              </p:ext>
            </p:extLst>
          </p:nvPr>
        </p:nvGraphicFramePr>
        <p:xfrm>
          <a:off x="308755" y="198706"/>
          <a:ext cx="11614070" cy="64633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3468"/>
                <a:gridCol w="1886770"/>
                <a:gridCol w="1215207"/>
                <a:gridCol w="2950053"/>
                <a:gridCol w="1419524"/>
                <a:gridCol w="1419524"/>
                <a:gridCol w="1419524"/>
              </a:tblGrid>
              <a:tr h="58052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Key Result Area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>
                          <a:effectLst/>
                        </a:rPr>
                        <a:t>Activity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Target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Process Indicator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Resources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Timeline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Lead Agency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</a:tr>
              <a:tr h="1040040">
                <a:tc rowSpan="3">
                  <a:txBody>
                    <a:bodyPr/>
                    <a:lstStyle/>
                    <a:p>
                      <a:endParaRPr lang="en-US" dirty="0"/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baseline="0" dirty="0"/>
                        <a:t> Weekly commodity bulletins </a:t>
                      </a:r>
                      <a:r>
                        <a:rPr lang="en-US" sz="1400" b="0" baseline="0" dirty="0" smtClean="0"/>
                        <a:t>production</a:t>
                      </a:r>
                      <a:endParaRPr lang="en-US" sz="1400" b="0" dirty="0"/>
                    </a:p>
                    <a:p>
                      <a:pPr algn="l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</a:t>
                      </a: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Weekly commodity reports produced</a:t>
                      </a: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1 Jan 25 to 31 Dec 25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AMA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</a:tr>
              <a:tr h="967533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Reporting</a:t>
                      </a:r>
                      <a:r>
                        <a:rPr lang="en-US" sz="14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on m</a:t>
                      </a:r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onthly 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Agro-input </a:t>
                      </a:r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monitoring 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Monthly reports produced</a:t>
                      </a:r>
                    </a:p>
                    <a:p>
                      <a:pPr algn="l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1 Jan 25 to 31 Dec 25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AMA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</a:tr>
              <a:tr h="1383185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baseline="0" dirty="0"/>
                        <a:t>CIDPs/CBPs established</a:t>
                      </a:r>
                    </a:p>
                    <a:p>
                      <a:pPr algn="l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</a:t>
                      </a: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Number of CBPS/CIDPs established</a:t>
                      </a: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Training material, fuel, airtime and T&amp;S and clerk </a:t>
                      </a:r>
                      <a:r>
                        <a:rPr lang="en-US" sz="1400" u="none" strike="noStrike" dirty="0" err="1">
                          <a:effectLst/>
                        </a:rPr>
                        <a:t>salries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1 Jan 25 to 31 Dec 25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AMA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</a:tr>
              <a:tr h="2492073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latin typeface="+mj-lt"/>
                        </a:rPr>
                        <a:t>KRA 3</a:t>
                      </a:r>
                      <a:endParaRPr lang="en-US" sz="1600" b="1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Mobilize communities to Implement </a:t>
                      </a:r>
                      <a:r>
                        <a:rPr lang="en-US" sz="1600" kern="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livelihood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projects that use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labour saving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technologies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+mn-lt"/>
                        </a:rPr>
                        <a:t>400 farmer women </a:t>
                      </a:r>
                      <a:endParaRPr lang="en-US" sz="16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Proportion of farmer women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accessing labour saving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technologies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+mn-lt"/>
                        </a:rPr>
                        <a:t>Training materials </a:t>
                      </a:r>
                    </a:p>
                    <a:p>
                      <a:r>
                        <a:rPr lang="en-US" sz="1600" baseline="0" dirty="0" smtClean="0">
                          <a:latin typeface="+mn-lt"/>
                        </a:rPr>
                        <a:t>Samples of machines </a:t>
                      </a:r>
                    </a:p>
                    <a:p>
                      <a:r>
                        <a:rPr lang="en-US" sz="1600" baseline="0" dirty="0" smtClean="0">
                          <a:latin typeface="+mn-lt"/>
                        </a:rPr>
                        <a:t>Vehicle</a:t>
                      </a:r>
                    </a:p>
                    <a:p>
                      <a:r>
                        <a:rPr lang="en-US" sz="1600" baseline="0" dirty="0" smtClean="0">
                          <a:latin typeface="+mn-lt"/>
                        </a:rPr>
                        <a:t>Fuel </a:t>
                      </a:r>
                      <a:endParaRPr lang="en-US" sz="1600" dirty="0" smtClean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+mn-lt"/>
                        </a:rPr>
                        <a:t>January</a:t>
                      </a:r>
                      <a:r>
                        <a:rPr lang="en-US" sz="1600" baseline="0" dirty="0" smtClean="0">
                          <a:latin typeface="+mn-lt"/>
                        </a:rPr>
                        <a:t> to December </a:t>
                      </a:r>
                      <a:endParaRPr lang="en-US" sz="16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+mn-lt"/>
                        </a:rPr>
                        <a:t>Mechanization Department</a:t>
                      </a:r>
                      <a:r>
                        <a:rPr lang="en-US" sz="1600" baseline="0" dirty="0" smtClean="0">
                          <a:latin typeface="+mn-lt"/>
                        </a:rPr>
                        <a:t>, AGRITEX, Irrigation, Women Affairs </a:t>
                      </a:r>
                      <a:endParaRPr lang="en-US" sz="1600" dirty="0">
                        <a:latin typeface="+mn-lt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81892" y="1615044"/>
            <a:ext cx="950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KRA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79654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912465"/>
              </p:ext>
            </p:extLst>
          </p:nvPr>
        </p:nvGraphicFramePr>
        <p:xfrm>
          <a:off x="296214" y="408949"/>
          <a:ext cx="11346287" cy="64490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4769"/>
                <a:gridCol w="1877788"/>
                <a:gridCol w="1209422"/>
                <a:gridCol w="2936010"/>
                <a:gridCol w="1412766"/>
                <a:gridCol w="1412766"/>
                <a:gridCol w="1412766"/>
              </a:tblGrid>
              <a:tr h="60046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Key Result Area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Activity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Target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Process Indicator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Resources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Timeline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Lead Agency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</a:tr>
              <a:tr h="2216155">
                <a:tc rowSpan="3">
                  <a:txBody>
                    <a:bodyPr/>
                    <a:lstStyle/>
                    <a:p>
                      <a:endParaRPr lang="en-US" dirty="0"/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Rolling out food mitigation program to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food insecure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population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762290 people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Proportion of households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receiving SP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  <a:p>
                      <a:r>
                        <a:rPr lang="en-US" sz="1600" dirty="0"/>
                        <a:t>Grain, Fuel and T &amp;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Monthly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Department of Social Development, </a:t>
                      </a:r>
                      <a:r>
                        <a:rPr lang="en-US" sz="1600" dirty="0" err="1"/>
                        <a:t>Agritex</a:t>
                      </a:r>
                      <a:r>
                        <a:rPr lang="en-US" sz="1600" dirty="0"/>
                        <a:t>, OPC and  Local Government. </a:t>
                      </a:r>
                    </a:p>
                  </a:txBody>
                  <a:tcPr/>
                </a:tc>
              </a:tr>
              <a:tr h="1478316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Vulnerable people receiving Cash Transfer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+mn-lt"/>
                        </a:rPr>
                        <a:t>17800 people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Number of vulnerable people receiving cash transfer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+mn-lt"/>
                        </a:rPr>
                        <a:t>Finance, </a:t>
                      </a:r>
                      <a:r>
                        <a:rPr lang="en-US" sz="1600" dirty="0" err="1">
                          <a:latin typeface="+mn-lt"/>
                        </a:rPr>
                        <a:t>Netone</a:t>
                      </a:r>
                      <a:r>
                        <a:rPr lang="en-US" sz="1600" dirty="0">
                          <a:latin typeface="+mn-lt"/>
                        </a:rPr>
                        <a:t> Lines, Fuel, Vehicles, T &amp;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Quarterly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Department of Social Development</a:t>
                      </a:r>
                    </a:p>
                  </a:txBody>
                  <a:tcPr/>
                </a:tc>
              </a:tr>
              <a:tr h="2154117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People assisted to access medical services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Number of  people assisted to access medical services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AMTO Books, Finance for hospital bills, Fuel and T &amp;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Quarterly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Department of Social Development and Ministry of Health and Child Care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89398" y="3670479"/>
            <a:ext cx="824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KRA 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44444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1954258"/>
              </p:ext>
            </p:extLst>
          </p:nvPr>
        </p:nvGraphicFramePr>
        <p:xfrm>
          <a:off x="567743" y="344555"/>
          <a:ext cx="11242183" cy="6300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4816"/>
                <a:gridCol w="1860559"/>
                <a:gridCol w="1198325"/>
                <a:gridCol w="2909071"/>
                <a:gridCol w="1399804"/>
                <a:gridCol w="1399804"/>
                <a:gridCol w="1399804"/>
              </a:tblGrid>
              <a:tr h="497048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Key Result Area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Activity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Target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Process Indicator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Resources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Timeline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Lead Agency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</a:tr>
              <a:tr h="1503419">
                <a:tc rowSpan="3">
                  <a:txBody>
                    <a:bodyPr/>
                    <a:lstStyle/>
                    <a:p>
                      <a:endParaRPr lang="en-US" dirty="0"/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Piggery project for Mazowe River Bridge Old Peoples Home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20 people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Proportion of people benefiting from income generation and  consumption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Pigpen, Piglets, piglets feed and servicing sows.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Quarterly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Department of Social Development. Mazowe Old Peoples Home</a:t>
                      </a:r>
                    </a:p>
                  </a:txBody>
                  <a:tcPr/>
                </a:tc>
              </a:tr>
              <a:tr h="1992904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Chicken project for Mazowe River Bridge Old Peoples Home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20 people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Number of people benefiting from income generation and  consumption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Chicks, poultry feed and vaccine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Quarterly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Department of Social Development. Mazowe Old Peoples Home. VET</a:t>
                      </a:r>
                    </a:p>
                  </a:txBody>
                  <a:tcPr/>
                </a:tc>
              </a:tr>
              <a:tr h="2307573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Egg Production project for Kutenda Children’s Home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30 people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Number of people benefiting from income generation and  consumption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  <a:p>
                      <a:r>
                        <a:rPr lang="en-US" sz="1800" dirty="0"/>
                        <a:t>Layers,  Layers feed and vaccines.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Quarterly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Department of Social Development, VET and Kutenda Children’s Home.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69701" y="2459865"/>
            <a:ext cx="862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KRA 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67646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3592639"/>
              </p:ext>
            </p:extLst>
          </p:nvPr>
        </p:nvGraphicFramePr>
        <p:xfrm>
          <a:off x="580623" y="318797"/>
          <a:ext cx="10515596" cy="61940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350"/>
                <a:gridCol w="1740310"/>
                <a:gridCol w="1120877"/>
                <a:gridCol w="2721057"/>
                <a:gridCol w="1309334"/>
                <a:gridCol w="1309334"/>
                <a:gridCol w="1309334"/>
              </a:tblGrid>
              <a:tr h="36095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Key Result Area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Activity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Target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Process Indicator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Resources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Timeline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Lead Agency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</a:tr>
              <a:tr h="601590">
                <a:tc rowSpan="3">
                  <a:txBody>
                    <a:bodyPr/>
                    <a:lstStyle/>
                    <a:p>
                      <a:endParaRPr lang="en-US" dirty="0"/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Goat Breeding project for Kutenda Children’s Home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30 people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Number of people benefiting from income generation and  consumption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  <a:p>
                      <a:r>
                        <a:rPr lang="en-US" sz="1800" dirty="0"/>
                        <a:t>Goat feed, vaccines.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Quarterly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Department of Social Development, VET and Kutenda Children’s Home.</a:t>
                      </a:r>
                    </a:p>
                  </a:txBody>
                  <a:tcPr/>
                </a:tc>
              </a:tr>
              <a:tr h="60159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Horticulture project for Kutenda Children’s Home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30 people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Number of people benefiting from income generation and  consumption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  <a:p>
                      <a:r>
                        <a:rPr lang="en-US" sz="1800" dirty="0"/>
                        <a:t>Seeds, herbicides and fertilizers.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Quarterly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Department of Social Development, VET and Kutenda Children’s Home.</a:t>
                      </a:r>
                    </a:p>
                  </a:txBody>
                  <a:tcPr/>
                </a:tc>
              </a:tr>
              <a:tr h="60159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Piggery project for Mazowe River Bridge Old Peoples Home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20 people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Proportion of people benefiting from income generation and  consumption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Pigpen, Piglets, piglets feed and servicing sows.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Quarterly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Department of Social Development. Mazowe Old Peoples Home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08338" y="3103808"/>
            <a:ext cx="811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KRA 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65617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7018002"/>
              </p:ext>
            </p:extLst>
          </p:nvPr>
        </p:nvGraphicFramePr>
        <p:xfrm>
          <a:off x="232893" y="293039"/>
          <a:ext cx="11572876" cy="63655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3268"/>
                <a:gridCol w="1653268"/>
                <a:gridCol w="1653268"/>
                <a:gridCol w="1653268"/>
                <a:gridCol w="1653268"/>
                <a:gridCol w="1653268"/>
                <a:gridCol w="1653268"/>
              </a:tblGrid>
              <a:tr h="330483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Key</a:t>
                      </a:r>
                      <a:r>
                        <a:rPr lang="en-US" sz="1100" b="1" kern="1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Result Area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Activity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Target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Process Indicator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Resources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Timeline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Lead Agency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1792756">
                <a:tc rowSpan="3"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KRA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Poultry project for </a:t>
                      </a:r>
                      <a:r>
                        <a:rPr lang="en-US" sz="18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Ponesai</a:t>
                      </a:r>
                      <a:r>
                        <a:rPr lang="en-US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Vanhu</a:t>
                      </a:r>
                      <a:r>
                        <a:rPr lang="en-US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Childrens</a:t>
                      </a:r>
                      <a:r>
                        <a:rPr lang="en-US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Home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70 people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Number of people benefiting from income generation and  consumption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Chicks, poultry feed and vaccine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Quarterly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Department of Social Development. Mazowe </a:t>
                      </a:r>
                      <a:r>
                        <a:rPr lang="en-US" sz="1800" dirty="0" err="1"/>
                        <a:t>Ponesai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Vanhu</a:t>
                      </a:r>
                      <a:r>
                        <a:rPr lang="en-US" sz="1800" dirty="0"/>
                        <a:t> Children’s Home and VET.</a:t>
                      </a:r>
                    </a:p>
                  </a:txBody>
                  <a:tcPr/>
                </a:tc>
              </a:tr>
              <a:tr h="1792756">
                <a:tc vMerge="1"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Rabbit project for </a:t>
                      </a:r>
                      <a:r>
                        <a:rPr lang="en-US" sz="18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Ponesai</a:t>
                      </a:r>
                      <a:r>
                        <a:rPr lang="en-US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Vanhu</a:t>
                      </a:r>
                      <a:r>
                        <a:rPr lang="en-US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Childrens</a:t>
                      </a:r>
                      <a:r>
                        <a:rPr lang="en-US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Home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70 people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Number of people benefiting from income generation and  consumption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Rabbits, Rabbits pellet and vaccines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Quarterly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Department of Social Development. Mazowe </a:t>
                      </a:r>
                      <a:r>
                        <a:rPr lang="en-US" sz="1800" dirty="0" err="1"/>
                        <a:t>Ponesai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Vanhu</a:t>
                      </a:r>
                      <a:r>
                        <a:rPr lang="en-US" sz="1800" dirty="0"/>
                        <a:t> Children’s Home and VET.</a:t>
                      </a:r>
                    </a:p>
                  </a:txBody>
                  <a:tcPr/>
                </a:tc>
              </a:tr>
              <a:tr h="1792756">
                <a:tc vMerge="1"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Poultry project for </a:t>
                      </a:r>
                      <a:r>
                        <a:rPr lang="en-US" sz="18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Ponesai</a:t>
                      </a:r>
                      <a:r>
                        <a:rPr lang="en-US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Vanhu</a:t>
                      </a:r>
                      <a:r>
                        <a:rPr lang="en-US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Childrens</a:t>
                      </a:r>
                      <a:r>
                        <a:rPr lang="en-US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Home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70 people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Number of people benefiting from income generation and  consumption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Chicks, poultry feed and vaccine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Quarterly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Department of Social Development. Mazowe </a:t>
                      </a:r>
                      <a:r>
                        <a:rPr lang="en-US" sz="1800" dirty="0" err="1"/>
                        <a:t>Ponesai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Vanhu</a:t>
                      </a:r>
                      <a:r>
                        <a:rPr lang="en-US" sz="1800" dirty="0"/>
                        <a:t> Children’s Home and VET.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45717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0770117"/>
              </p:ext>
            </p:extLst>
          </p:nvPr>
        </p:nvGraphicFramePr>
        <p:xfrm>
          <a:off x="257576" y="318796"/>
          <a:ext cx="11552352" cy="63524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4470"/>
                <a:gridCol w="1911891"/>
                <a:gridCol w="1231387"/>
                <a:gridCol w="2989332"/>
                <a:gridCol w="1438424"/>
                <a:gridCol w="1438424"/>
                <a:gridCol w="1438424"/>
              </a:tblGrid>
              <a:tr h="57433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Key Result Area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Activity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Target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Process Indicator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Resources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Timeline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Lead Agency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</a:tr>
              <a:tr h="1926043">
                <a:tc rowSpan="3">
                  <a:txBody>
                    <a:bodyPr/>
                    <a:lstStyle/>
                    <a:p>
                      <a:endParaRPr lang="en-US" dirty="0"/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Horticulture project for </a:t>
                      </a:r>
                      <a:r>
                        <a:rPr lang="en-US" sz="16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Ponesai</a:t>
                      </a:r>
                      <a:r>
                        <a:rPr lang="en-US" sz="1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Vanhu</a:t>
                      </a:r>
                      <a:r>
                        <a:rPr lang="en-US" sz="1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Children’s Home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70 people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Number of people benefiting from income generation and  consumption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  <a:p>
                      <a:r>
                        <a:rPr lang="en-US" sz="1600" dirty="0"/>
                        <a:t>Seeds, herbicides and fertilizers.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Quarterly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Department of Social Development, VET and </a:t>
                      </a:r>
                      <a:r>
                        <a:rPr lang="en-US" sz="1600" dirty="0" err="1"/>
                        <a:t>Ponesai</a:t>
                      </a:r>
                      <a:r>
                        <a:rPr lang="en-US" sz="1600" dirty="0"/>
                        <a:t> Children’s Home.</a:t>
                      </a:r>
                    </a:p>
                  </a:txBody>
                  <a:tcPr/>
                </a:tc>
              </a:tr>
              <a:tr h="1926043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Piggery project for </a:t>
                      </a:r>
                      <a:r>
                        <a:rPr lang="en-US" sz="16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Ponesai</a:t>
                      </a:r>
                      <a:r>
                        <a:rPr lang="en-US" sz="1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Children’s Home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70 people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Number of people benefiting from income generation and  consumption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Pigpen, Piglets, piglets feed and servicing sows.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Quarterly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Department of Social Development, VET and </a:t>
                      </a:r>
                      <a:r>
                        <a:rPr lang="en-US" sz="1600" dirty="0" err="1"/>
                        <a:t>Ponesai</a:t>
                      </a:r>
                      <a:r>
                        <a:rPr lang="en-US" sz="1600" dirty="0"/>
                        <a:t> Children’s Home</a:t>
                      </a:r>
                    </a:p>
                  </a:txBody>
                  <a:tcPr/>
                </a:tc>
              </a:tr>
              <a:tr h="1926043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Identify</a:t>
                      </a:r>
                      <a:r>
                        <a:rPr lang="en-US" sz="1600" kern="1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and establish production units in VTCs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4</a:t>
                      </a:r>
                      <a:r>
                        <a:rPr lang="en-US" sz="1600" baseline="0" dirty="0" smtClean="0"/>
                        <a:t> production units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Number of </a:t>
                      </a:r>
                      <a:r>
                        <a:rPr lang="en-US" sz="1600" kern="1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production</a:t>
                      </a:r>
                      <a:r>
                        <a:rPr lang="en-US" sz="1600" kern="1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units and direct beneficiaries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Transport, fencing, Livestock, seeds for agriculture</a:t>
                      </a:r>
                      <a:endParaRPr kumimoji="0" lang="en-US" sz="1600" b="0" i="0" u="none" strike="noStrike" kern="1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On going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</a:rPr>
                        <a:t>MYEDVT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</a:rPr>
                        <a:t>-ZYC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</a:rPr>
                        <a:t>DSD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</a:rPr>
                        <a:t>ARDAS</a:t>
                      </a:r>
                      <a:endParaRPr kumimoji="0" lang="en-US" sz="16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670" y="2562896"/>
            <a:ext cx="798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KRA 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34679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7368634"/>
              </p:ext>
            </p:extLst>
          </p:nvPr>
        </p:nvGraphicFramePr>
        <p:xfrm>
          <a:off x="0" y="231819"/>
          <a:ext cx="12191998" cy="71245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1714"/>
                <a:gridCol w="1861768"/>
                <a:gridCol w="1753163"/>
                <a:gridCol w="1610211"/>
                <a:gridCol w="1741714"/>
                <a:gridCol w="1741714"/>
                <a:gridCol w="1741714"/>
              </a:tblGrid>
              <a:tr h="207397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Key</a:t>
                      </a:r>
                      <a:r>
                        <a:rPr lang="en-US" sz="1100" b="1" kern="1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Result Area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Activity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Target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Process Indicator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Resources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Timeline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Lead Agency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1046855">
                <a:tc rowSpan="4">
                  <a:txBody>
                    <a:bodyPr/>
                    <a:lstStyle/>
                    <a:p>
                      <a:pPr algn="ctr"/>
                      <a:endParaRPr lang="en-US" sz="11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Capacitation of health staff on food inspection. </a:t>
                      </a: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All public health officers in the province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% coverage of health staff capacitated by district.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Food and allowances for the cluster meetings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31 December 2025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Ministry of Health-environmental health</a:t>
                      </a:r>
                      <a:endParaRPr lang="en-US" sz="1600" dirty="0"/>
                    </a:p>
                  </a:txBody>
                  <a:tcPr/>
                </a:tc>
              </a:tr>
              <a:tr h="1960666">
                <a:tc vMerge="1">
                  <a:txBody>
                    <a:bodyPr/>
                    <a:lstStyle/>
                    <a:p>
                      <a:pPr algn="ctr"/>
                      <a:endParaRPr lang="en-US" sz="11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Engagement of sector ministries on food safety for a health nation. 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Law enforcement agents, policy markers, AREX, Vert. officers, and Public health officers (Collaboration or integration)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Number of ministries reached.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Refreshments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31</a:t>
                      </a:r>
                      <a:r>
                        <a:rPr lang="en-US" sz="1600" baseline="0" dirty="0" smtClean="0"/>
                        <a:t> March </a:t>
                      </a:r>
                      <a:r>
                        <a:rPr lang="en-US" sz="1600" dirty="0" smtClean="0"/>
                        <a:t> </a:t>
                      </a:r>
                      <a:r>
                        <a:rPr lang="en-US" sz="1600" dirty="0"/>
                        <a:t>2025.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Ministry of Health(Environmental</a:t>
                      </a:r>
                      <a:r>
                        <a:rPr lang="en-US" sz="1600" baseline="0" dirty="0" smtClean="0"/>
                        <a:t> health), ZRP</a:t>
                      </a:r>
                      <a:endParaRPr lang="en-US" sz="1600" dirty="0"/>
                    </a:p>
                  </a:txBody>
                  <a:tcPr/>
                </a:tc>
              </a:tr>
              <a:tr h="1408597">
                <a:tc vMerge="1">
                  <a:txBody>
                    <a:bodyPr/>
                    <a:lstStyle/>
                    <a:p>
                      <a:pPr algn="ctr"/>
                      <a:endParaRPr lang="en-US" sz="11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Coordinate the training of food handlers in all the 8 districts.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8 districts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Number of </a:t>
                      </a:r>
                      <a:r>
                        <a:rPr lang="en-US" sz="1600" kern="1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districts</a:t>
                      </a:r>
                      <a:r>
                        <a:rPr lang="en-US" sz="1600" kern="1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with </a:t>
                      </a:r>
                      <a:r>
                        <a:rPr lang="en-US" sz="1600" kern="1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food </a:t>
                      </a:r>
                      <a:r>
                        <a:rPr lang="en-US" sz="1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handlers trained with approved certificates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Stationery, allowances and teaching aids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31 December 2025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Ministry of health-environmental</a:t>
                      </a:r>
                      <a:r>
                        <a:rPr lang="en-US" sz="1600" baseline="0" dirty="0" smtClean="0"/>
                        <a:t> health</a:t>
                      </a:r>
                      <a:endParaRPr lang="en-US" sz="1600" dirty="0"/>
                    </a:p>
                  </a:txBody>
                  <a:tcPr/>
                </a:tc>
              </a:tr>
              <a:tr h="1408597">
                <a:tc vMerge="1">
                  <a:txBody>
                    <a:bodyPr/>
                    <a:lstStyle/>
                    <a:p>
                      <a:pPr algn="ctr"/>
                      <a:endParaRPr lang="en-US" sz="11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Facilitate food inspection on trading and non trading premises to control food contamination and poisoning.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All food processing and </a:t>
                      </a:r>
                      <a:r>
                        <a:rPr lang="en-US" sz="1600" dirty="0" err="1"/>
                        <a:t>and</a:t>
                      </a:r>
                      <a:r>
                        <a:rPr lang="en-US" sz="1600" dirty="0"/>
                        <a:t> food outlets for public consumption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Number of food outlets inspected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Stationery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Quarterly food mop up.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Ministry of Health- Environmental</a:t>
                      </a:r>
                      <a:r>
                        <a:rPr lang="en-US" sz="1600" baseline="0" dirty="0" smtClean="0"/>
                        <a:t> health</a:t>
                      </a:r>
                      <a:endParaRPr lang="en-US" sz="16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59854" y="2884868"/>
            <a:ext cx="732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KRA 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89759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7240696"/>
              </p:ext>
            </p:extLst>
          </p:nvPr>
        </p:nvGraphicFramePr>
        <p:xfrm>
          <a:off x="193183" y="267283"/>
          <a:ext cx="11809928" cy="69073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9095"/>
                <a:gridCol w="1954519"/>
                <a:gridCol w="1258843"/>
                <a:gridCol w="3055983"/>
                <a:gridCol w="1470496"/>
                <a:gridCol w="1470496"/>
                <a:gridCol w="1470496"/>
              </a:tblGrid>
              <a:tr h="409684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Key Result </a:t>
                      </a:r>
                      <a:r>
                        <a:rPr lang="en-US" sz="1400" u="none" strike="noStrike" dirty="0" smtClean="0">
                          <a:effectLst/>
                        </a:rPr>
                        <a:t>Area`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Activity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Target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Process Indicator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Resources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Timeline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Lead Agency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</a:tr>
              <a:tr h="1469713">
                <a:tc rowSpan="4">
                  <a:txBody>
                    <a:bodyPr/>
                    <a:lstStyle/>
                    <a:p>
                      <a:endParaRPr lang="en-US" dirty="0"/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Investigation of </a:t>
                      </a:r>
                      <a:r>
                        <a:rPr lang="en-US" sz="16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rumours</a:t>
                      </a:r>
                      <a:r>
                        <a:rPr lang="en-US" sz="1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and any food poisoning report.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100%</a:t>
                      </a:r>
                      <a:r>
                        <a:rPr lang="en-US" sz="1600" baseline="0" dirty="0" smtClean="0"/>
                        <a:t> </a:t>
                      </a:r>
                      <a:r>
                        <a:rPr lang="en-US" sz="1600" dirty="0" smtClean="0"/>
                        <a:t>reports </a:t>
                      </a:r>
                      <a:r>
                        <a:rPr lang="en-US" sz="1600" dirty="0"/>
                        <a:t>of food poisoning to be investigated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% of reported cases of poisoning adequately investigated with written reports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Fuel and allowance for staff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31 December 2025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/>
                        <a:t>Ministry of health-environmental</a:t>
                      </a:r>
                      <a:r>
                        <a:rPr lang="en-US" sz="1600" baseline="0" dirty="0" smtClean="0"/>
                        <a:t> health</a:t>
                      </a:r>
                      <a:endParaRPr lang="en-US" sz="1600" dirty="0" smtClean="0"/>
                    </a:p>
                    <a:p>
                      <a:endParaRPr lang="en-US" sz="1600" dirty="0"/>
                    </a:p>
                  </a:txBody>
                  <a:tcPr/>
                </a:tc>
              </a:tr>
              <a:tr h="130893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Prosecution of offenders and destroying unwholesome food stuffs.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100%</a:t>
                      </a:r>
                      <a:r>
                        <a:rPr lang="en-US" sz="1600" baseline="0" dirty="0" smtClean="0"/>
                        <a:t> of all prosecutions with</a:t>
                      </a:r>
                      <a:r>
                        <a:rPr lang="en-US" sz="1600" dirty="0" smtClean="0"/>
                        <a:t> </a:t>
                      </a:r>
                      <a:r>
                        <a:rPr lang="en-US" sz="1600" dirty="0"/>
                        <a:t>written reports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Proportion of reports with prosecution reports made.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Prosecution forms.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31 March 2025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Ministry</a:t>
                      </a:r>
                      <a:r>
                        <a:rPr lang="en-US" sz="1600" baseline="0" dirty="0" smtClean="0"/>
                        <a:t> of health-environmental health, ZRP</a:t>
                      </a:r>
                      <a:endParaRPr lang="en-US" sz="1600" dirty="0"/>
                    </a:p>
                  </a:txBody>
                  <a:tcPr/>
                </a:tc>
              </a:tr>
              <a:tr h="1898379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Introduce food security screening at borders to prevent food related risks, ensure compliance with regulations.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  border posts</a:t>
                      </a:r>
                      <a:r>
                        <a:rPr lang="en-US" sz="1600" kern="1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US" sz="1600" kern="100" baseline="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Kanyemba</a:t>
                      </a:r>
                      <a:r>
                        <a:rPr lang="en-US" sz="1600" kern="1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and </a:t>
                      </a:r>
                      <a:r>
                        <a:rPr lang="en-US" sz="1600" kern="100" baseline="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Mukumbura</a:t>
                      </a:r>
                      <a:r>
                        <a:rPr lang="en-US" sz="1600" kern="1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600" kern="10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Number of border posts with food security screening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Prosecution and detention forms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30 June 2025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Ministry</a:t>
                      </a:r>
                      <a:r>
                        <a:rPr lang="en-US" sz="1600" baseline="0" dirty="0" smtClean="0"/>
                        <a:t> of health-environmental health and ZIMRA</a:t>
                      </a:r>
                      <a:endParaRPr lang="en-US" sz="1600" dirty="0"/>
                    </a:p>
                  </a:txBody>
                  <a:tcPr/>
                </a:tc>
              </a:tr>
              <a:tr h="150401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b="0" kern="100" dirty="0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Train households to build tippy taps (hand washing facilities)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latin typeface="+mj-lt"/>
                        </a:rPr>
                        <a:t>5000 households</a:t>
                      </a:r>
                      <a:endParaRPr lang="en-US" sz="1400" b="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b="0" kern="100" dirty="0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Proportion of households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b="0" kern="100" dirty="0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with hygiene enabling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b="0" kern="100" dirty="0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facilities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 err="1" smtClean="0">
                          <a:latin typeface="+mj-lt"/>
                        </a:rPr>
                        <a:t>Chigubhu</a:t>
                      </a:r>
                      <a:r>
                        <a:rPr lang="en-US" sz="1400" b="0" dirty="0" smtClean="0">
                          <a:latin typeface="+mj-lt"/>
                        </a:rPr>
                        <a:t> gear</a:t>
                      </a:r>
                    </a:p>
                    <a:p>
                      <a:r>
                        <a:rPr lang="en-US" sz="1400" b="0" dirty="0" smtClean="0">
                          <a:latin typeface="+mj-lt"/>
                        </a:rPr>
                        <a:t>Cement, builders</a:t>
                      </a:r>
                      <a:endParaRPr lang="en-US" sz="1400" b="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January</a:t>
                      </a:r>
                      <a:r>
                        <a:rPr lang="en-US" sz="1400" b="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to December </a:t>
                      </a:r>
                      <a:endParaRPr lang="en-US" sz="1400" b="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latin typeface="+mj-lt"/>
                        </a:rPr>
                        <a:t>Health and Child Care,</a:t>
                      </a:r>
                      <a:r>
                        <a:rPr lang="en-US" sz="1400" b="0" baseline="0" dirty="0" smtClean="0">
                          <a:latin typeface="+mj-lt"/>
                        </a:rPr>
                        <a:t> RIDA, Women Affairs</a:t>
                      </a:r>
                      <a:endParaRPr lang="en-US" sz="1400" b="0" dirty="0">
                        <a:latin typeface="+mj-lt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3944" y="2884868"/>
            <a:ext cx="732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KRA 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2001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76412556"/>
              </p:ext>
            </p:extLst>
          </p:nvPr>
        </p:nvGraphicFramePr>
        <p:xfrm>
          <a:off x="-1" y="-194310"/>
          <a:ext cx="12191998" cy="75491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1714">
                  <a:extLst>
                    <a:ext uri="{9D8B030D-6E8A-4147-A177-3AD203B41FA5}">
                      <a16:colId xmlns="" xmlns:a16="http://schemas.microsoft.com/office/drawing/2014/main" val="2670346407"/>
                    </a:ext>
                  </a:extLst>
                </a:gridCol>
                <a:gridCol w="1741714">
                  <a:extLst>
                    <a:ext uri="{9D8B030D-6E8A-4147-A177-3AD203B41FA5}">
                      <a16:colId xmlns="" xmlns:a16="http://schemas.microsoft.com/office/drawing/2014/main" val="1596582535"/>
                    </a:ext>
                  </a:extLst>
                </a:gridCol>
                <a:gridCol w="1741714">
                  <a:extLst>
                    <a:ext uri="{9D8B030D-6E8A-4147-A177-3AD203B41FA5}">
                      <a16:colId xmlns="" xmlns:a16="http://schemas.microsoft.com/office/drawing/2014/main" val="876091955"/>
                    </a:ext>
                  </a:extLst>
                </a:gridCol>
                <a:gridCol w="1741714">
                  <a:extLst>
                    <a:ext uri="{9D8B030D-6E8A-4147-A177-3AD203B41FA5}">
                      <a16:colId xmlns="" xmlns:a16="http://schemas.microsoft.com/office/drawing/2014/main" val="1609790451"/>
                    </a:ext>
                  </a:extLst>
                </a:gridCol>
                <a:gridCol w="1741714">
                  <a:extLst>
                    <a:ext uri="{9D8B030D-6E8A-4147-A177-3AD203B41FA5}">
                      <a16:colId xmlns="" xmlns:a16="http://schemas.microsoft.com/office/drawing/2014/main" val="3265929029"/>
                    </a:ext>
                  </a:extLst>
                </a:gridCol>
                <a:gridCol w="1741714">
                  <a:extLst>
                    <a:ext uri="{9D8B030D-6E8A-4147-A177-3AD203B41FA5}">
                      <a16:colId xmlns="" xmlns:a16="http://schemas.microsoft.com/office/drawing/2014/main" val="1937709157"/>
                    </a:ext>
                  </a:extLst>
                </a:gridCol>
                <a:gridCol w="1741714">
                  <a:extLst>
                    <a:ext uri="{9D8B030D-6E8A-4147-A177-3AD203B41FA5}">
                      <a16:colId xmlns="" xmlns:a16="http://schemas.microsoft.com/office/drawing/2014/main" val="80740070"/>
                    </a:ext>
                  </a:extLst>
                </a:gridCol>
              </a:tblGrid>
              <a:tr h="396374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Key</a:t>
                      </a:r>
                      <a:r>
                        <a:rPr lang="en-US" sz="1600" b="1" kern="1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Result Area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Activity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Target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Process Indicator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Resources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Timeline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Lead Agency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060167577"/>
                  </a:ext>
                </a:extLst>
              </a:tr>
              <a:tr h="2072131">
                <a:tc rowSpan="3"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KRA</a:t>
                      </a:r>
                      <a:r>
                        <a:rPr lang="en-US" sz="1400" b="1" baseline="0" dirty="0"/>
                        <a:t> </a:t>
                      </a:r>
                      <a:r>
                        <a:rPr lang="en-US" sz="1400" b="1" baseline="0" dirty="0" smtClean="0"/>
                        <a:t>5</a:t>
                      </a:r>
                      <a:endParaRPr 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Capacitate</a:t>
                      </a:r>
                      <a:r>
                        <a:rPr lang="en-US" sz="1400" kern="1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health workers on Integrated Management of Acute Malnutrition(IMAM)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Train 15 nurses</a:t>
                      </a:r>
                      <a:r>
                        <a:rPr lang="en-US" sz="1400" baseline="0" dirty="0" smtClean="0"/>
                        <a:t> in Centenary on IMAM Outpatient Therapeutic program.</a:t>
                      </a:r>
                    </a:p>
                    <a:p>
                      <a:endParaRPr lang="en-US" sz="1400" baseline="0" dirty="0" smtClean="0"/>
                    </a:p>
                    <a:p>
                      <a:r>
                        <a:rPr lang="en-US" sz="1400" baseline="0" dirty="0" smtClean="0"/>
                        <a:t>Train 20 nurses on IMAM OTP program in </a:t>
                      </a:r>
                      <a:r>
                        <a:rPr lang="en-US" sz="1400" baseline="0" dirty="0" err="1" smtClean="0"/>
                        <a:t>Mbire</a:t>
                      </a:r>
                      <a:r>
                        <a:rPr lang="en-US" sz="1400" baseline="0" dirty="0" smtClean="0"/>
                        <a:t>.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Number of </a:t>
                      </a:r>
                      <a:r>
                        <a:rPr lang="en-US" sz="1400" kern="1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health</a:t>
                      </a:r>
                      <a:r>
                        <a:rPr lang="en-US" sz="1400" kern="1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workers trained on IMAM  OTP program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Cure rate for acute malnutrition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IMAM</a:t>
                      </a:r>
                      <a:r>
                        <a:rPr lang="en-US" sz="1400" baseline="0" dirty="0" smtClean="0"/>
                        <a:t> guidelines, training material, DSA for trainers, vehicle and fuel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31 March 2025 for Centenary district and 31 October for </a:t>
                      </a:r>
                      <a:r>
                        <a:rPr lang="en-US" sz="1400" dirty="0" err="1" smtClean="0"/>
                        <a:t>Mbire</a:t>
                      </a:r>
                      <a:r>
                        <a:rPr lang="en-US" sz="1400" dirty="0" smtClean="0"/>
                        <a:t> district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Ministry of Health,</a:t>
                      </a:r>
                      <a:r>
                        <a:rPr lang="en-US" sz="1400" baseline="0" dirty="0" smtClean="0"/>
                        <a:t> World Vision </a:t>
                      </a:r>
                      <a:r>
                        <a:rPr lang="en-US" sz="1400" baseline="0" dirty="0" err="1" smtClean="0"/>
                        <a:t>Muzarabani</a:t>
                      </a:r>
                      <a:r>
                        <a:rPr lang="en-US" sz="1400" baseline="0" dirty="0" smtClean="0"/>
                        <a:t> AP, ACF/NAZ/IMC consortium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114878847"/>
                  </a:ext>
                </a:extLst>
              </a:tr>
              <a:tr h="185236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Improve quality of care in stabilization </a:t>
                      </a:r>
                      <a:r>
                        <a:rPr lang="en-US" sz="1400" kern="1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centres</a:t>
                      </a:r>
                      <a:r>
                        <a:rPr lang="en-US" sz="1400" kern="1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(SC) for IMAM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Refurbish </a:t>
                      </a:r>
                      <a:r>
                        <a:rPr lang="en-US" sz="1400" dirty="0" err="1" smtClean="0"/>
                        <a:t>Chitsungo</a:t>
                      </a:r>
                      <a:r>
                        <a:rPr lang="en-US" sz="1400" dirty="0" smtClean="0"/>
                        <a:t> mission</a:t>
                      </a:r>
                      <a:r>
                        <a:rPr lang="en-US" sz="1400" baseline="0" dirty="0" smtClean="0"/>
                        <a:t> hospital stabilization Centre</a:t>
                      </a:r>
                    </a:p>
                    <a:p>
                      <a:endParaRPr lang="en-US" sz="1400" baseline="0" dirty="0" smtClean="0"/>
                    </a:p>
                    <a:p>
                      <a:r>
                        <a:rPr lang="en-US" sz="1400" baseline="0" dirty="0" smtClean="0"/>
                        <a:t>Train 5 stabilization </a:t>
                      </a:r>
                      <a:r>
                        <a:rPr lang="en-US" sz="1400" baseline="0" dirty="0" err="1" smtClean="0"/>
                        <a:t>centre</a:t>
                      </a:r>
                      <a:r>
                        <a:rPr lang="en-US" sz="1400" baseline="0" dirty="0" smtClean="0"/>
                        <a:t> staff (doctors and nurses on IMAM SC)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Number of</a:t>
                      </a:r>
                      <a:r>
                        <a:rPr lang="en-US" sz="1400" kern="1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IMAM stabilization </a:t>
                      </a:r>
                      <a:r>
                        <a:rPr lang="en-US" sz="1400" kern="100" baseline="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centres</a:t>
                      </a:r>
                      <a:r>
                        <a:rPr lang="en-US" sz="1400" kern="1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refurbished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Number of SC staff trained on IMAM OTP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Number of children successfully stabilized/cured in 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SC </a:t>
                      </a:r>
                      <a:r>
                        <a:rPr lang="en-US" sz="1400" dirty="0" err="1" smtClean="0"/>
                        <a:t>centre</a:t>
                      </a:r>
                      <a:r>
                        <a:rPr lang="en-US" sz="1400" dirty="0" smtClean="0"/>
                        <a:t> requirements( equipment, medicines and supplies, utensils </a:t>
                      </a:r>
                      <a:r>
                        <a:rPr lang="en-US" sz="1400" dirty="0" err="1" smtClean="0"/>
                        <a:t>etc</a:t>
                      </a:r>
                      <a:r>
                        <a:rPr lang="en-US" sz="1400" dirty="0" smtClean="0"/>
                        <a:t>)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31</a:t>
                      </a:r>
                      <a:r>
                        <a:rPr lang="en-US" sz="1400" baseline="0" dirty="0" smtClean="0"/>
                        <a:t> October 2025</a:t>
                      </a:r>
                    </a:p>
                    <a:p>
                      <a:endParaRPr lang="en-US" sz="1400" baseline="0" dirty="0" smtClean="0"/>
                    </a:p>
                    <a:p>
                      <a:endParaRPr lang="en-US" sz="1400" baseline="0" dirty="0" smtClean="0"/>
                    </a:p>
                    <a:p>
                      <a:endParaRPr lang="en-US" sz="1400" baseline="0" dirty="0" smtClean="0"/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Ministry of Health</a:t>
                      </a:r>
                    </a:p>
                    <a:p>
                      <a:r>
                        <a:rPr lang="en-US" sz="1400" dirty="0" smtClean="0"/>
                        <a:t>ACF/NAZ/IMC</a:t>
                      </a:r>
                      <a:r>
                        <a:rPr lang="en-US" sz="1400" baseline="0" dirty="0" smtClean="0"/>
                        <a:t> consortium</a:t>
                      </a:r>
                      <a:endParaRPr lang="en-US" sz="1400" dirty="0"/>
                    </a:p>
                  </a:txBody>
                  <a:tcPr/>
                </a:tc>
              </a:tr>
              <a:tr h="2731445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Strengthen</a:t>
                      </a:r>
                      <a:r>
                        <a:rPr lang="en-US" sz="1400" kern="1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capacity of community health workers to identify and refer malnutrition cases in the community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Support</a:t>
                      </a:r>
                      <a:r>
                        <a:rPr lang="en-US" sz="1400" baseline="0" dirty="0" smtClean="0"/>
                        <a:t> 296 Village health workers in </a:t>
                      </a:r>
                      <a:r>
                        <a:rPr lang="en-US" sz="1400" baseline="0" dirty="0" err="1" smtClean="0"/>
                        <a:t>Shamva</a:t>
                      </a:r>
                      <a:r>
                        <a:rPr lang="en-US" sz="1400" baseline="0" dirty="0" smtClean="0"/>
                        <a:t> and 266 Village Health workers in </a:t>
                      </a:r>
                      <a:r>
                        <a:rPr lang="en-US" sz="1400" baseline="0" dirty="0" err="1" smtClean="0"/>
                        <a:t>Rushinga</a:t>
                      </a:r>
                      <a:r>
                        <a:rPr lang="en-US" sz="1400" baseline="0" dirty="0" smtClean="0"/>
                        <a:t> on Mid-Upper Arm Circumference screening program.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Number of Village Health</a:t>
                      </a:r>
                      <a:r>
                        <a:rPr lang="en-US" sz="1400" kern="1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Workers received supported on MUAC screening program.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Number of children reached with active screening 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2</a:t>
                      </a:r>
                      <a:r>
                        <a:rPr lang="en-US" sz="1400" baseline="0" dirty="0" smtClean="0"/>
                        <a:t> vehicles( 1 provincial and 1 district vehicle), DSA for 3 provincial cadres for 5 days per month, DSA for 4 district cadres for 10 days per month, 2100 </a:t>
                      </a:r>
                      <a:r>
                        <a:rPr lang="en-US" sz="1400" baseline="0" dirty="0" err="1" smtClean="0"/>
                        <a:t>Litres</a:t>
                      </a:r>
                      <a:r>
                        <a:rPr lang="en-US" sz="1400" baseline="0" dirty="0" smtClean="0"/>
                        <a:t> of Diesel ,MUAC tapes, $10 airtime for 7 people per month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31 March 2025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Ministry of Health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5821463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27045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4797249"/>
              </p:ext>
            </p:extLst>
          </p:nvPr>
        </p:nvGraphicFramePr>
        <p:xfrm>
          <a:off x="116983" y="190008"/>
          <a:ext cx="11809928" cy="77789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9095"/>
                <a:gridCol w="1954519"/>
                <a:gridCol w="1258843"/>
                <a:gridCol w="3055983"/>
                <a:gridCol w="1470496"/>
                <a:gridCol w="1470496"/>
                <a:gridCol w="1470496"/>
              </a:tblGrid>
              <a:tr h="36095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Key Result Area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Activity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Target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Process Indicator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Resources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Timeline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Lead Agency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</a:tr>
              <a:tr h="601590">
                <a:tc rowSpan="3">
                  <a:txBody>
                    <a:bodyPr/>
                    <a:lstStyle/>
                    <a:p>
                      <a:endParaRPr lang="en-US" dirty="0"/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b="0" kern="1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Support</a:t>
                      </a:r>
                      <a:r>
                        <a:rPr lang="en-US" sz="1600" b="0" kern="100" baseline="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and supervise districts on implementation of care groups and Infant and Young Child Feeding support groups</a:t>
                      </a:r>
                      <a:endParaRPr lang="en-US" sz="16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US" sz="1600" b="0" baseline="0" dirty="0" smtClean="0">
                          <a:solidFill>
                            <a:schemeClr val="tx1"/>
                          </a:solidFill>
                        </a:rPr>
                        <a:t> districts visited and supported on care groups and IYCF support groups per quarter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Number of </a:t>
                      </a:r>
                      <a:r>
                        <a:rPr lang="en-US" sz="1600" b="0" kern="1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districts</a:t>
                      </a:r>
                      <a:r>
                        <a:rPr lang="en-US" sz="1600" b="0" kern="100" baseline="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implementing care groups and IYCF support groups</a:t>
                      </a:r>
                      <a:endParaRPr lang="en-US" sz="16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 smtClean="0">
                          <a:solidFill>
                            <a:schemeClr val="tx1"/>
                          </a:solidFill>
                        </a:rPr>
                        <a:t>Vehicle</a:t>
                      </a:r>
                      <a:r>
                        <a:rPr lang="en-US" sz="1600" b="0" baseline="0" dirty="0" smtClean="0">
                          <a:solidFill>
                            <a:schemeClr val="tx1"/>
                          </a:solidFill>
                        </a:rPr>
                        <a:t> and fuel (800litres of diesel), DSA for supervisors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 smtClean="0">
                          <a:solidFill>
                            <a:schemeClr val="tx1"/>
                          </a:solidFill>
                        </a:rPr>
                        <a:t>Quarterly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 smtClean="0">
                          <a:solidFill>
                            <a:schemeClr val="tx1"/>
                          </a:solidFill>
                        </a:rPr>
                        <a:t>Ministry</a:t>
                      </a:r>
                      <a:r>
                        <a:rPr lang="en-US" sz="1600" b="0" baseline="0" dirty="0" smtClean="0">
                          <a:solidFill>
                            <a:schemeClr val="tx1"/>
                          </a:solidFill>
                        </a:rPr>
                        <a:t> of Health-Nutrition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60159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Support districts on nutrition supply chain management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3 districts visited quarterly to check on availability, quantity and expiry dates of nutrition commodities at district level.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Number of </a:t>
                      </a:r>
                      <a:r>
                        <a:rPr lang="en-US" sz="1600" kern="1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districts</a:t>
                      </a:r>
                      <a:r>
                        <a:rPr lang="en-US" sz="1600" kern="1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supported on nutrition supply chain management.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Number of districts reporting no stock outs or expiries of nutrition commodities.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Vehicle, lunch allowance and fuel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Quarterly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Ministry</a:t>
                      </a:r>
                      <a:r>
                        <a:rPr lang="en-US" sz="1600" baseline="0" dirty="0" smtClean="0"/>
                        <a:t> of Health-Nutrition</a:t>
                      </a:r>
                      <a:endParaRPr lang="en-US" sz="1600" dirty="0"/>
                    </a:p>
                  </a:txBody>
                  <a:tcPr/>
                </a:tc>
              </a:tr>
              <a:tr h="60159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600" kern="10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Support implementation</a:t>
                      </a:r>
                      <a:r>
                        <a:rPr lang="en-US" sz="1600" kern="1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of school nutrition program</a:t>
                      </a:r>
                      <a:endParaRPr lang="en-US" sz="1600" kern="10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600" kern="10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 1 district</a:t>
                      </a:r>
                      <a:r>
                        <a:rPr lang="en-US" sz="1600" baseline="0" dirty="0" smtClean="0"/>
                        <a:t> (</a:t>
                      </a:r>
                      <a:r>
                        <a:rPr lang="en-US" sz="1600" dirty="0" err="1" smtClean="0"/>
                        <a:t>Rushinga</a:t>
                      </a:r>
                      <a:r>
                        <a:rPr lang="en-US" sz="1600" dirty="0" smtClean="0"/>
                        <a:t>,  </a:t>
                      </a:r>
                      <a:r>
                        <a:rPr lang="en-US" sz="1600" dirty="0" err="1" smtClean="0"/>
                        <a:t>Bindura</a:t>
                      </a:r>
                      <a:r>
                        <a:rPr lang="en-US" sz="1600" baseline="0" dirty="0" smtClean="0"/>
                        <a:t> or Mt Darwin ) visited and supported on school nutrition program per quarter.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Number of districts visited</a:t>
                      </a:r>
                      <a:r>
                        <a:rPr lang="en-US" sz="1600" kern="1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and supported on </a:t>
                      </a:r>
                      <a:r>
                        <a:rPr lang="en-US" sz="1600" kern="1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school nutrition program.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Number of schools</a:t>
                      </a:r>
                      <a:r>
                        <a:rPr lang="en-US" sz="1600" kern="1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providing 4 star diet meals.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Number of schools with </a:t>
                      </a:r>
                      <a:r>
                        <a:rPr lang="en-US" sz="1600" kern="100" baseline="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tuckshops</a:t>
                      </a:r>
                      <a:r>
                        <a:rPr lang="en-US" sz="1600" kern="1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selling healthy foods and snacks.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Vehicle, lunch allowance, fuel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Quarterly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Ministry</a:t>
                      </a:r>
                      <a:r>
                        <a:rPr lang="en-US" sz="1600" baseline="0" dirty="0" smtClean="0"/>
                        <a:t> of Health-Nutrition/environmental health/nursing</a:t>
                      </a:r>
                    </a:p>
                    <a:p>
                      <a:r>
                        <a:rPr lang="en-US" sz="1600" baseline="0" dirty="0" err="1" smtClean="0"/>
                        <a:t>MoPSE</a:t>
                      </a:r>
                      <a:endParaRPr lang="en-US" sz="16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0608" y="2949262"/>
            <a:ext cx="862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KRA 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08515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3800516"/>
              </p:ext>
            </p:extLst>
          </p:nvPr>
        </p:nvGraphicFramePr>
        <p:xfrm>
          <a:off x="0" y="151372"/>
          <a:ext cx="11809928" cy="67066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9095"/>
                <a:gridCol w="1954519"/>
                <a:gridCol w="1258843"/>
                <a:gridCol w="3055983"/>
                <a:gridCol w="1470496"/>
                <a:gridCol w="1470496"/>
                <a:gridCol w="1470496"/>
              </a:tblGrid>
              <a:tr h="452912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Key Result Area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Activity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Target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Process Indicator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Resources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Timeline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Lead Agency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</a:tr>
              <a:tr h="2389397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Strengthen integrated outreach activities including nutrition activities (Screening for malnutrition, Vitamin</a:t>
                      </a:r>
                      <a:r>
                        <a:rPr lang="en-US" sz="1400" b="0" baseline="0" dirty="0" smtClean="0">
                          <a:solidFill>
                            <a:schemeClr val="tx1"/>
                          </a:solidFill>
                        </a:rPr>
                        <a:t> A supplementation </a:t>
                      </a:r>
                      <a:r>
                        <a:rPr lang="en-US" sz="1400" b="0" baseline="0" dirty="0" err="1" smtClean="0">
                          <a:solidFill>
                            <a:schemeClr val="tx1"/>
                          </a:solidFill>
                        </a:rPr>
                        <a:t>etc</a:t>
                      </a:r>
                      <a:r>
                        <a:rPr lang="en-US" sz="1400" b="0" baseline="0" dirty="0" smtClean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 for</a:t>
                      </a:r>
                      <a:r>
                        <a:rPr lang="en-US" sz="1400" b="0" baseline="0" dirty="0" smtClean="0">
                          <a:solidFill>
                            <a:schemeClr val="tx1"/>
                          </a:solidFill>
                        </a:rPr>
                        <a:t> hard to reach areas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At least 1 district conducting integrated outreach services to hard to reach communities per quarter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Number of children</a:t>
                      </a:r>
                      <a:r>
                        <a:rPr lang="en-US" sz="1400" b="0" baseline="0" dirty="0" smtClean="0">
                          <a:solidFill>
                            <a:schemeClr val="tx1"/>
                          </a:solidFill>
                        </a:rPr>
                        <a:t> receiving nutrition services during</a:t>
                      </a:r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 integrated outreach activities.</a:t>
                      </a:r>
                    </a:p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Number of integrated outreaches</a:t>
                      </a:r>
                      <a:r>
                        <a:rPr lang="en-US" sz="1400" b="0" baseline="0" dirty="0" smtClean="0">
                          <a:solidFill>
                            <a:schemeClr val="tx1"/>
                          </a:solidFill>
                        </a:rPr>
                        <a:t> conducted.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Vehicles, DSAs</a:t>
                      </a:r>
                      <a:r>
                        <a:rPr lang="en-US" sz="1400" b="0" baseline="0" dirty="0" smtClean="0">
                          <a:solidFill>
                            <a:schemeClr val="tx1"/>
                          </a:solidFill>
                        </a:rPr>
                        <a:t> for outreach teams, fuel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Quarterly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Ministry of Health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2689997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KRA 6</a:t>
                      </a:r>
                      <a:endParaRPr 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Participate in  food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and nutrition security data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collection, timely information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dissemination, </a:t>
                      </a:r>
                      <a:r>
                        <a:rPr lang="en-US" sz="1400" kern="1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utilization </a:t>
                      </a: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and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feedback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kumimoji="0" lang="en-US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uLnTx/>
                          <a:uFillTx/>
                          <a:latin typeface="+mn-lt"/>
                        </a:rPr>
                        <a:t>Extension workers from 8 districts collecting, analyzing , reporting and utilizing information on food and </a:t>
                      </a:r>
                      <a:r>
                        <a:rPr kumimoji="0" lang="en-US" sz="14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uLnTx/>
                          <a:uFillTx/>
                          <a:latin typeface="+mn-lt"/>
                        </a:rPr>
                        <a:t>nutrition security</a:t>
                      </a:r>
                      <a:endParaRPr kumimoji="0" lang="en-US" sz="1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Number of sectors  participating in data collection, analysis,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reporting and timely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information dissemination,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utilization </a:t>
                      </a: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and feedback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Vehicles, DSAs, </a:t>
                      </a:r>
                      <a:r>
                        <a:rPr lang="en-US" sz="1400" dirty="0" smtClean="0"/>
                        <a:t>Fuel, </a:t>
                      </a:r>
                      <a:r>
                        <a:rPr lang="en-US" sz="1400" dirty="0" err="1" smtClean="0"/>
                        <a:t>stationery,allowances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Quarterly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aseline="0" dirty="0" smtClean="0"/>
                        <a:t>,</a:t>
                      </a:r>
                      <a:r>
                        <a:rPr lang="en-US" sz="1400" dirty="0" smtClean="0"/>
                        <a:t> Women affairs,</a:t>
                      </a:r>
                      <a:r>
                        <a:rPr lang="en-US" sz="1400" baseline="0" dirty="0" smtClean="0"/>
                        <a:t> ministry of youth </a:t>
                      </a:r>
                      <a:r>
                        <a:rPr lang="en-US" sz="1400" dirty="0" smtClean="0"/>
                        <a:t>Local</a:t>
                      </a:r>
                      <a:r>
                        <a:rPr lang="en-US" sz="1400" baseline="0" dirty="0" smtClean="0"/>
                        <a:t> government, Ministry of health, DSD,AGRITEX</a:t>
                      </a:r>
                      <a:endParaRPr lang="en-US" sz="1400" dirty="0"/>
                    </a:p>
                  </a:txBody>
                  <a:tcPr/>
                </a:tc>
              </a:tr>
              <a:tr h="1174323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KRA 7</a:t>
                      </a:r>
                      <a:endParaRPr 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Joint</a:t>
                      </a:r>
                      <a:r>
                        <a:rPr lang="en-US" sz="1400" kern="1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water quality monitoring visits</a:t>
                      </a:r>
                      <a:r>
                        <a:rPr lang="en-US" sz="1400" kern="1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One water point per District/quater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Number </a:t>
                      </a:r>
                      <a:r>
                        <a:rPr lang="en-US" sz="1400" kern="1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of Districts visited to assess water quality 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 algn="l"/>
                      <a:r>
                        <a:rPr lang="en-US" sz="1400" b="0" strike="noStrike" dirty="0" smtClean="0">
                          <a:effectLst/>
                        </a:rPr>
                        <a:t>Vehicles and fuels,200 litres</a:t>
                      </a:r>
                      <a:endParaRPr lang="en-US" sz="1400" b="0" strike="noStrike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Quarterly</a:t>
                      </a:r>
                    </a:p>
                    <a:p>
                      <a:r>
                        <a:rPr lang="en-US" sz="1400" dirty="0" smtClean="0"/>
                        <a:t>January</a:t>
                      </a:r>
                      <a:r>
                        <a:rPr lang="en-US" sz="1400" baseline="0" dirty="0" smtClean="0"/>
                        <a:t> 1 to March 31 2025.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RIDA,</a:t>
                      </a:r>
                    </a:p>
                    <a:p>
                      <a:r>
                        <a:rPr lang="en-US" sz="1400" dirty="0" smtClean="0"/>
                        <a:t>HEALTH</a:t>
                      </a:r>
                      <a:endParaRPr lang="en-US" sz="1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96214" y="1571223"/>
            <a:ext cx="785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KRA 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5476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8193039"/>
              </p:ext>
            </p:extLst>
          </p:nvPr>
        </p:nvGraphicFramePr>
        <p:xfrm>
          <a:off x="142741" y="280160"/>
          <a:ext cx="11728174" cy="64351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3172"/>
                <a:gridCol w="1653268"/>
                <a:gridCol w="1653268"/>
                <a:gridCol w="1653268"/>
                <a:gridCol w="1444250"/>
                <a:gridCol w="1311965"/>
                <a:gridCol w="1798983"/>
              </a:tblGrid>
              <a:tr h="530397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kern="1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Key</a:t>
                      </a:r>
                      <a:r>
                        <a:rPr lang="en-US" sz="1100" b="1" kern="1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Result Area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Activity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Target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Process Indicator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Resources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Timeline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Lead Agency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en-US" sz="1800" b="1" dirty="0" smtClean="0"/>
                        <a:t>KRA 7</a:t>
                      </a:r>
                      <a:endParaRPr lang="en-US" sz="1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0" dirty="0" smtClean="0">
                          <a:solidFill>
                            <a:schemeClr val="tx1"/>
                          </a:solidFill>
                        </a:rPr>
                        <a:t>Strengthen Provincial Food</a:t>
                      </a:r>
                      <a:r>
                        <a:rPr lang="en-US" sz="1600" b="0" baseline="0" dirty="0" smtClean="0">
                          <a:solidFill>
                            <a:schemeClr val="tx1"/>
                          </a:solidFill>
                        </a:rPr>
                        <a:t> and Nutrition Security committee coordination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 smtClean="0">
                          <a:solidFill>
                            <a:schemeClr val="tx1"/>
                          </a:solidFill>
                        </a:rPr>
                        <a:t>Provincial food</a:t>
                      </a:r>
                      <a:r>
                        <a:rPr lang="en-US" sz="1600" b="0" baseline="0" dirty="0" smtClean="0">
                          <a:solidFill>
                            <a:schemeClr val="tx1"/>
                          </a:solidFill>
                        </a:rPr>
                        <a:t> and nutrition security committee quarterly meetings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 smtClean="0">
                          <a:solidFill>
                            <a:schemeClr val="tx1"/>
                          </a:solidFill>
                        </a:rPr>
                        <a:t>Number of PFNSC meetings conducted.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 smtClean="0">
                          <a:solidFill>
                            <a:schemeClr val="tx1"/>
                          </a:solidFill>
                        </a:rPr>
                        <a:t>Lunches</a:t>
                      </a:r>
                      <a:r>
                        <a:rPr lang="en-US" sz="1600" b="0" baseline="0" dirty="0" smtClean="0">
                          <a:solidFill>
                            <a:schemeClr val="tx1"/>
                          </a:solidFill>
                        </a:rPr>
                        <a:t> and refreshments, projector, Stationery, printer and laptop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 smtClean="0">
                          <a:solidFill>
                            <a:schemeClr val="tx1"/>
                          </a:solidFill>
                        </a:rPr>
                        <a:t>Quarterly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 smtClean="0">
                          <a:solidFill>
                            <a:schemeClr val="tx1"/>
                          </a:solidFill>
                        </a:rPr>
                        <a:t>All PFNSC members,</a:t>
                      </a:r>
                      <a:r>
                        <a:rPr lang="en-US" sz="1600" b="0" baseline="0" dirty="0" smtClean="0">
                          <a:solidFill>
                            <a:schemeClr val="tx1"/>
                          </a:solidFill>
                        </a:rPr>
                        <a:t> ACF consortium, CTDO and other partners in the province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sz="11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b="0" kern="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Conduct Monitoring Visits to </a:t>
                      </a:r>
                      <a:r>
                        <a:rPr lang="en-US" sz="1600" b="0" kern="10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Community</a:t>
                      </a:r>
                      <a:r>
                        <a:rPr lang="en-US" sz="1600" b="0" kern="100" baseline="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and nutritional gardens/ projects </a:t>
                      </a:r>
                      <a:endParaRPr lang="en-US" sz="1600" b="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b="0" kern="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 smtClean="0">
                          <a:latin typeface="+mn-lt"/>
                        </a:rPr>
                        <a:t>8</a:t>
                      </a:r>
                      <a:r>
                        <a:rPr lang="en-US" sz="1600" b="0" baseline="0" dirty="0" smtClean="0">
                          <a:latin typeface="+mn-lt"/>
                        </a:rPr>
                        <a:t> community gardens per quarter</a:t>
                      </a:r>
                      <a:endParaRPr lang="en-US" sz="1600" b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b="0" kern="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Proportion of  Joint monitoring of FNS projects at </a:t>
                      </a:r>
                      <a:r>
                        <a:rPr lang="en-US" sz="1600" b="0" kern="10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provincial </a:t>
                      </a:r>
                      <a:r>
                        <a:rPr lang="en-US" sz="1600" b="0" kern="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baseline="0" dirty="0" smtClean="0">
                          <a:latin typeface="+mn-lt"/>
                        </a:rPr>
                        <a:t> T&amp;S</a:t>
                      </a:r>
                    </a:p>
                    <a:p>
                      <a:r>
                        <a:rPr lang="en-US" sz="1600" b="0" baseline="0" dirty="0" smtClean="0">
                          <a:latin typeface="+mn-lt"/>
                        </a:rPr>
                        <a:t>Vehicle</a:t>
                      </a:r>
                    </a:p>
                    <a:p>
                      <a:r>
                        <a:rPr lang="en-US" sz="1600" b="0" baseline="0" dirty="0" smtClean="0">
                          <a:latin typeface="+mn-lt"/>
                        </a:rPr>
                        <a:t>Fuel </a:t>
                      </a:r>
                      <a:endParaRPr lang="en-US" sz="1600" b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 smtClean="0">
                          <a:latin typeface="+mn-lt"/>
                        </a:rPr>
                        <a:t>1</a:t>
                      </a:r>
                      <a:r>
                        <a:rPr lang="en-US" sz="1600" b="0" baseline="0" dirty="0" smtClean="0">
                          <a:latin typeface="+mn-lt"/>
                        </a:rPr>
                        <a:t> December to 31 December 2025.</a:t>
                      </a:r>
                      <a:endParaRPr lang="en-US" sz="1600" b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 err="1" smtClean="0">
                          <a:latin typeface="+mn-lt"/>
                        </a:rPr>
                        <a:t>Agritex</a:t>
                      </a:r>
                      <a:r>
                        <a:rPr lang="en-US" sz="1600" b="0" baseline="0" dirty="0" smtClean="0">
                          <a:latin typeface="+mn-lt"/>
                        </a:rPr>
                        <a:t> , women affairs, ministry of health</a:t>
                      </a:r>
                      <a:endParaRPr lang="en-US" sz="1600" b="0" dirty="0">
                        <a:latin typeface="+mn-lt"/>
                      </a:endParaRPr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sz="1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</a:t>
                      </a:r>
                      <a:r>
                        <a:rPr kumimoji="0" lang="en-US" sz="1600" b="0" i="0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Ward Extension staff capacity building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2.Capacity building on Citizen Journalism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</a:rPr>
                        <a:t>-119 Ward Youth Coordinators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</a:rPr>
                        <a:t>- 34 Jnr MPs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</a:rPr>
                        <a:t>- 232 Jnr Councilors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kumimoji="0" lang="en-US" sz="1600" b="0" i="0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Number of </a:t>
                      </a: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</a:rPr>
                        <a:t>Ward Youth Coordinators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kumimoji="0" lang="en-US" sz="1600" b="0" i="0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Number of </a:t>
                      </a: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</a:rPr>
                        <a:t>Jnr MPs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</a:rPr>
                        <a:t>-</a:t>
                      </a:r>
                      <a:r>
                        <a:rPr kumimoji="0" lang="en-US" sz="1600" b="0" i="0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Number of </a:t>
                      </a: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</a:rPr>
                        <a:t>Jnr Councilors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</a:endParaRP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kumimoji="0" lang="en-US" sz="1600" b="0" i="0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</a:rPr>
                        <a:t>Food and refreshments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</a:rPr>
                        <a:t>-Stationary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</a:rPr>
                        <a:t>-Allowance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</a:rPr>
                        <a:t>-Transport</a:t>
                      </a:r>
                    </a:p>
                    <a:p>
                      <a:r>
                        <a:rPr lang="en-US" sz="1600" dirty="0" smtClean="0"/>
                        <a:t>-Bus fares </a:t>
                      </a:r>
                    </a:p>
                    <a:p>
                      <a:r>
                        <a:rPr lang="en-US" sz="1600" dirty="0" smtClean="0"/>
                        <a:t>-Accommodation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March to August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</a:rPr>
                        <a:t>Ministry of youth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</a:rPr>
                        <a:t>-Zimbabwe Youth Council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</a:rPr>
                        <a:t>-Vocational Training </a:t>
                      </a:r>
                      <a:r>
                        <a:rPr kumimoji="0" lang="en-US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</a:rPr>
                        <a:t>centres</a:t>
                      </a:r>
                      <a:endParaRPr kumimoji="0" lang="en-US" sz="16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</a:rPr>
                        <a:t>-ARDAS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</a:rPr>
                        <a:t>-MOPSE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76474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6813069"/>
              </p:ext>
            </p:extLst>
          </p:nvPr>
        </p:nvGraphicFramePr>
        <p:xfrm>
          <a:off x="256309" y="0"/>
          <a:ext cx="11728174" cy="29698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3172"/>
                <a:gridCol w="1653268"/>
                <a:gridCol w="1653268"/>
                <a:gridCol w="1653268"/>
                <a:gridCol w="1444250"/>
                <a:gridCol w="1311965"/>
                <a:gridCol w="1798983"/>
              </a:tblGrid>
              <a:tr h="530397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kern="1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Key</a:t>
                      </a:r>
                      <a:r>
                        <a:rPr lang="en-US" sz="1100" b="1" kern="1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Result Area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Activity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Target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Process Indicator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Resources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Timeline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Lead Agency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/>
                        <a:t>KRA 7</a:t>
                      </a:r>
                      <a:endParaRPr lang="en-US" sz="1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Promote production, preservation and utilization of locally available nutritious foods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</a:rPr>
                        <a:t>Conduct 1 cooking contest or food fair per quarter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Number of cooking competitions and food  fairs conducted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Food</a:t>
                      </a:r>
                      <a:r>
                        <a:rPr lang="en-US" sz="1800" baseline="0" dirty="0" smtClean="0"/>
                        <a:t> items, utensils, prices, fuel for cooking, venues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On going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</a:rPr>
                        <a:t>-MYEDVT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</a:rPr>
                        <a:t>-ZYC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</a:rPr>
                        <a:t>-ARDAS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</a:rPr>
                        <a:t>-MOHCC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</a:rPr>
                        <a:t>-MOWACD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</a:rPr>
                        <a:t>-MOPSE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</a:rPr>
                        <a:t>-VTCs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0068109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Median">
    <a:dk1>
      <a:sysClr val="windowText" lastClr="000000"/>
    </a:dk1>
    <a:lt1>
      <a:sysClr val="window" lastClr="FFFFFF"/>
    </a:lt1>
    <a:dk2>
      <a:srgbClr val="775F55"/>
    </a:dk2>
    <a:lt2>
      <a:srgbClr val="EBDDC3"/>
    </a:lt2>
    <a:accent1>
      <a:srgbClr val="94B6D2"/>
    </a:accent1>
    <a:accent2>
      <a:srgbClr val="DD8047"/>
    </a:accent2>
    <a:accent3>
      <a:srgbClr val="A5AB81"/>
    </a:accent3>
    <a:accent4>
      <a:srgbClr val="D8B25C"/>
    </a:accent4>
    <a:accent5>
      <a:srgbClr val="7BA79D"/>
    </a:accent5>
    <a:accent6>
      <a:srgbClr val="968C8C"/>
    </a:accent6>
    <a:hlink>
      <a:srgbClr val="F7B615"/>
    </a:hlink>
    <a:folHlink>
      <a:srgbClr val="704404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1896</TotalTime>
  <Words>2676</Words>
  <Application>Microsoft Office PowerPoint</Application>
  <PresentationFormat>Widescreen</PresentationFormat>
  <Paragraphs>623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Arial</vt:lpstr>
      <vt:lpstr>Calibri</vt:lpstr>
      <vt:lpstr>Calibri Light</vt:lpstr>
      <vt:lpstr>Times New Roman</vt:lpstr>
      <vt:lpstr>Tw Cen MT</vt:lpstr>
      <vt:lpstr>Wingdings</vt:lpstr>
      <vt:lpstr>Wingdings 2</vt:lpstr>
      <vt:lpstr>Office Theme</vt:lpstr>
      <vt:lpstr>Median</vt:lpstr>
      <vt:lpstr>FNSC WORK PLAN     JANUARY- DECEmber 2025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Microsoft account</cp:lastModifiedBy>
  <cp:revision>47</cp:revision>
  <dcterms:created xsi:type="dcterms:W3CDTF">2025-01-22T07:48:32Z</dcterms:created>
  <dcterms:modified xsi:type="dcterms:W3CDTF">2025-02-12T14:02:20Z</dcterms:modified>
</cp:coreProperties>
</file>